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2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TECHNOPRO GROUP ｜ AI CENTER OF EXCELLENCE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AIネイティブ統合システム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開発計画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5つの開発プロジェクト ― 全体構成・進め方・体制・期間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416052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343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IT審査会議 資料 ｜ 2026年9月 ｜ 社内限定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989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4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提出：AI CoE室　齋藤 廣達 ／ 高瀬 健一郎 ／ 嶋野 孝彦 ／ 守屋 文雄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92440" y="1234440"/>
            <a:ext cx="3520440" cy="713232"/>
          </a:xfrm>
          <a:prstGeom prst="roundRect">
            <a:avLst>
              <a:gd name="adj" fmla="val 7692"/>
            </a:avLst>
          </a:prstGeom>
          <a:solidFill>
            <a:srgbClr val="2A3575"/>
          </a:solidFill>
          <a:ln w="9525">
            <a:solidFill>
              <a:srgbClr val="3A46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75320" y="1435608"/>
            <a:ext cx="310896" cy="31089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0456" y="141732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123444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AIネイティブ教育システム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2440" y="2130552"/>
            <a:ext cx="3520440" cy="713232"/>
          </a:xfrm>
          <a:prstGeom prst="roundRect">
            <a:avLst>
              <a:gd name="adj" fmla="val 7692"/>
            </a:avLst>
          </a:prstGeom>
          <a:solidFill>
            <a:srgbClr val="2A3575"/>
          </a:solidFill>
          <a:ln w="9525">
            <a:solidFill>
              <a:srgbClr val="3A46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233172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0456" y="231343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213055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AIネイティブ基盤システム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3026664"/>
            <a:ext cx="3520440" cy="713232"/>
          </a:xfrm>
          <a:prstGeom prst="roundRect">
            <a:avLst>
              <a:gd name="adj" fmla="val 7692"/>
            </a:avLst>
          </a:prstGeom>
          <a:solidFill>
            <a:srgbClr val="2A3575"/>
          </a:solidFill>
          <a:ln w="9525">
            <a:solidFill>
              <a:srgbClr val="3A46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3227832"/>
            <a:ext cx="310896" cy="310896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0456" y="320954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732520" y="302666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AI-Ops 基盤システム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3922776"/>
            <a:ext cx="3520440" cy="713232"/>
          </a:xfrm>
          <a:prstGeom prst="roundRect">
            <a:avLst>
              <a:gd name="adj" fmla="val 7692"/>
            </a:avLst>
          </a:prstGeom>
          <a:solidFill>
            <a:srgbClr val="2A3575"/>
          </a:solidFill>
          <a:ln w="9525">
            <a:solidFill>
              <a:srgbClr val="3A46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4123944"/>
            <a:ext cx="310896" cy="310896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0456" y="410565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732520" y="3922776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暗黙知・技術継承システム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92440" y="4818888"/>
            <a:ext cx="3520440" cy="713232"/>
          </a:xfrm>
          <a:prstGeom prst="roundRect">
            <a:avLst>
              <a:gd name="adj" fmla="val 7692"/>
            </a:avLst>
          </a:prstGeom>
          <a:solidFill>
            <a:srgbClr val="2A3575"/>
          </a:solidFill>
          <a:ln w="9525">
            <a:solidFill>
              <a:srgbClr val="3A46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5020056"/>
            <a:ext cx="310896" cy="310896"/>
          </a:xfrm>
          <a:prstGeom prst="ellipse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0456" y="500176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732520" y="481888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顧客・営業・技術者データベース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エグゼクティブサマリー ― AI CoEのエージェント基盤を社内展開し、実物を商品に変える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5つは別々のシステムではない。一つの基盤（P2）の上で全員が使い、社内で実測した実物を、そのまま顧客への商品・提案に変える計画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157984" cy="3749040"/>
          </a:xfrm>
          <a:prstGeom prst="roundRect">
            <a:avLst>
              <a:gd name="adj" fmla="val 2542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353312"/>
            <a:ext cx="310896" cy="31089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3502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25296" y="1783080"/>
            <a:ext cx="621792" cy="621792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pic>
        <p:nvPicPr>
          <p:cNvPr id="8" name="Image 0" descr="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1938528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0352" y="2514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AIネイティブ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教育システム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320040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AIが先生役を担い、教育から試験・認定までをひとつに。実力を「証拠」で示す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1792" y="44348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6F2F2"/>
          </a:solidFill>
          <a:ln w="12700">
            <a:solidFill>
              <a:srgbClr val="E6F2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2名 × 1〜2か月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34056" y="1188720"/>
            <a:ext cx="2157984" cy="3749040"/>
          </a:xfrm>
          <a:prstGeom prst="roundRect">
            <a:avLst>
              <a:gd name="adj" fmla="val 2542"/>
            </a:avLst>
          </a:prstGeom>
          <a:solidFill>
            <a:srgbClr val="EEF3FC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80360" y="135331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25496" y="133502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502152" y="1783080"/>
            <a:ext cx="621792" cy="6217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1" descr="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938528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807208" y="2514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AIネイティブ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基盤システム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2880360" y="320040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全プロジェクト共通の「AIの頭脳」と「会社の知識」の土台。5つの層で構成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898648" y="44348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9EDF9"/>
          </a:solidFill>
          <a:ln w="12700">
            <a:solidFill>
              <a:srgbClr val="E9EDF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898648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2〜3名 × 2〜3か月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010912" y="1188720"/>
            <a:ext cx="2157984" cy="3749040"/>
          </a:xfrm>
          <a:prstGeom prst="roundRect">
            <a:avLst>
              <a:gd name="adj" fmla="val 2542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157216" y="1353312"/>
            <a:ext cx="310896" cy="310896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102352" y="133502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779008" y="1783080"/>
            <a:ext cx="621792" cy="621792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pic>
        <p:nvPicPr>
          <p:cNvPr id="26" name="Image 2" descr="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1938528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084064" y="2514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AI-Ops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基盤システム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5157216" y="320040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日報・チケット・進捗・報告・QAを一つに。質問からFAQを自動作成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175504" y="44348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175504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1名 × 0.5〜1か月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7287768" y="1188720"/>
            <a:ext cx="2157984" cy="3749040"/>
          </a:xfrm>
          <a:prstGeom prst="roundRect">
            <a:avLst>
              <a:gd name="adj" fmla="val 2542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434072" y="1353312"/>
            <a:ext cx="310896" cy="310896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79208" y="133502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8055864" y="1783080"/>
            <a:ext cx="621792" cy="621792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pic>
        <p:nvPicPr>
          <p:cNvPr id="35" name="Image 3" descr="icons/mi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1938528"/>
            <a:ext cx="310896" cy="310896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360920" y="2514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暗黙知・技術継承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</a:t>
            </a:r>
            <a:endParaRPr lang="en-US" sz="1250" dirty="0"/>
          </a:p>
        </p:txBody>
      </p:sp>
      <p:sp>
        <p:nvSpPr>
          <p:cNvPr id="37" name="Text 31"/>
          <p:cNvSpPr txBox="1"/>
          <p:nvPr/>
        </p:nvSpPr>
        <p:spPr>
          <a:xfrm>
            <a:off x="7434072" y="320040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ベテランの判断根拠を会社の財産に。顧客に販売するセット（商品）として開発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452360" y="44348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FE9FA"/>
          </a:solidFill>
          <a:ln w="12700">
            <a:solidFill>
              <a:srgbClr val="EFE9FA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45236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2〜3名 × 2〜3か月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564624" y="1188720"/>
            <a:ext cx="2157984" cy="3749040"/>
          </a:xfrm>
          <a:prstGeom prst="roundRect">
            <a:avLst>
              <a:gd name="adj" fmla="val 2542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9710928" y="1353312"/>
            <a:ext cx="310896" cy="310896"/>
          </a:xfrm>
          <a:prstGeom prst="ellipse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9656064" y="133502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10332720" y="1783080"/>
            <a:ext cx="621792" cy="621792"/>
          </a:xfrm>
          <a:prstGeom prst="ellipse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pic>
        <p:nvPicPr>
          <p:cNvPr id="44" name="Image 4" descr="icons/databa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168" y="1938528"/>
            <a:ext cx="310896" cy="310896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9637776" y="2514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顧客・営業・技術者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データベース</a:t>
            </a:r>
            <a:endParaRPr lang="en-US" sz="1250" dirty="0"/>
          </a:p>
        </p:txBody>
      </p:sp>
      <p:sp>
        <p:nvSpPr>
          <p:cNvPr id="46" name="Text 39"/>
          <p:cNvSpPr txBox="1"/>
          <p:nvPr/>
        </p:nvSpPr>
        <p:spPr>
          <a:xfrm>
            <a:off x="9710928" y="320040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教育データと組み合わせ、顧客・案件・体制の「今」をリアルタイムに見える化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9729216" y="44348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9E9E9"/>
          </a:solidFill>
          <a:ln w="12700">
            <a:solidFill>
              <a:srgbClr val="F9E9E9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9729216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2C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2〜3名 × 2〜3か月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457200" y="5212080"/>
            <a:ext cx="11274552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777240" y="52120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最大の売り：現場から経営まで「同じデータ」で、同じ方向に、リアルタイムに動ける会社になる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約3万人規模の当社グループが標準採用し、実測しながら展開するその環境自体が、顧客への最強の営業トークになる。規模：ピーク3名・約12か月・開発工数のべ15〜32人月（LayerX含む）｜Anthropic「Claude Code」・Factory「Droid」× Mphasis「Ontosphere」× AWS（Amazon Web Services）× Microsoft 365（Teams・Outlook・SharePoint）× 協力企業LayerX</a:t>
            </a:r>
            <a:endParaRPr lang="en-US" sz="1350" dirty="0"/>
          </a:p>
        </p:txBody>
      </p:sp>
      <p:sp>
        <p:nvSpPr>
          <p:cNvPr id="51" name="Text 4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テクノプログループ AI CoE ｜ IT審査会議資料 ｜ 社内限定</a:t>
            </a:r>
            <a:endParaRPr lang="en-US" sz="850" dirty="0"/>
          </a:p>
        </p:txBody>
      </p:sp>
      <p:sp>
        <p:nvSpPr>
          <p:cNvPr id="52" name="Text 45"/>
          <p:cNvSpPr txBox="1"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なぜ必要か ― 「時間を売る」だけでは、守れなくなるから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経営会議で決まった大方針「時間売りから成果売りへ」を、現場で動く仕組みに変えるのが本計画。5つのプロジェクトは、その実行装置である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0" cy="3291840"/>
          </a:xfrm>
          <a:prstGeom prst="roundRect">
            <a:avLst>
              <a:gd name="adj" fmla="val 1667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441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いま起きていること（全社試算より）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1719072"/>
            <a:ext cx="508406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人月の売上は構造的に細る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0574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顧客のAI活用が進むほど、同じ仕事に必要な時間は減る。全社試算では5年後に年170〜630億円の毀損シナリオ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58368" y="2633472"/>
            <a:ext cx="508406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2697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「証明できる会社」には新しい対価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9718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実測で成果を示せれば、単価加算・成果売り・環境ごとの販売で年130〜280億円を守れる試算（全社計画）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58368" y="3547872"/>
            <a:ext cx="508406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3611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転換には装置が要る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38862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実力の証明（教育・認定）、成果の実測（AI基盤）、知識の資産化（継承）、データでの即断（DB）― 本計画の5つがそれ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053328" y="2697480"/>
            <a:ext cx="365760" cy="237744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1207008"/>
            <a:ext cx="5193792" cy="3291840"/>
          </a:xfrm>
          <a:prstGeom prst="roundRect">
            <a:avLst>
              <a:gd name="adj" fmla="val 1667"/>
            </a:avLst>
          </a:prstGeom>
          <a:solidFill>
            <a:srgbClr val="EEF3FC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39128" y="13441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本計画の位置づけ ― 承認済みの方針を「実物」にする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39128" y="1719072"/>
            <a:ext cx="4791456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67144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決裁済みの延長線上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867144" y="2057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経営会議で承認された方針と、決裁済みのAI基盤（試行）を土台に、その「実行部分」を12か月で作る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739128" y="2633472"/>
            <a:ext cx="4791456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67144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社内が第1号ユーザー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67144" y="29718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CoEのエージェント基盤を社内に展開し、自らの業務で実測。数字の出た実物だけを外へ持ち出す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739128" y="3547872"/>
            <a:ext cx="4791456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67144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実物がそのまま商品になる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67144" y="38862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「約3万人規模の企業が標準採用・展開中」という事実が営業トークに ― 同じ環境がデモ・提案・販売セット（P4）を兼ねる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11274552" cy="1536192"/>
          </a:xfrm>
          <a:prstGeom prst="roundRect">
            <a:avLst>
              <a:gd name="adj" fmla="val 3571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901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作る理由は、3つ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08960" y="4901184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08960" y="490118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108960" y="5431536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人月毀損への備え ― 単価加算と成果売りの「根拠」を先に作る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4901184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0" y="490118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稼ぐ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5431536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継承セット（P4）と基盤（P2）を、実測データ付きの商品として外販する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778240" y="4901184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778240" y="490118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速くなる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5431536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自社の開発・報告・教育がまず速くなる ― 効果は社内で即、現れる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テクノプログループ AI CoE ｜ IT審査会議資料 ｜ 社内限定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全体構成図 ― AI CoEのエージェント基盤を社内展開。この構成で全てが繋がる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現場から経営まで「同じデータ・同じ意味」を見る、リアルタイムのデータドリブン経営の土台。約3万人規模の当社グループでの採用・実測が、そのまま顧客への実証になる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0" y="1078992"/>
            <a:ext cx="2130552" cy="5285232"/>
          </a:xfrm>
          <a:prstGeom prst="roundRect">
            <a:avLst>
              <a:gd name="adj" fmla="val 2575"/>
            </a:avLst>
          </a:prstGeom>
          <a:solidFill>
            <a:srgbClr val="EEF3FC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0" y="117043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作る環境と作り手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765792" y="157276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icon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0092" y="1687068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96144" y="1572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AWS（Amazon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 Services）</a:t>
            </a:r>
            <a:endParaRPr lang="en-US" sz="880" dirty="0"/>
          </a:p>
        </p:txBody>
      </p:sp>
      <p:sp>
        <p:nvSpPr>
          <p:cNvPr id="9" name="Text 6"/>
          <p:cNvSpPr txBox="1"/>
          <p:nvPr/>
        </p:nvSpPr>
        <p:spPr>
          <a:xfrm>
            <a:off x="9747504" y="212140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7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会社専用の閉じた区画に構築。データを外部の学習に使わせず、全操作を記録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9765792" y="3127248"/>
            <a:ext cx="1801368" cy="0"/>
          </a:xfrm>
          <a:prstGeom prst="line">
            <a:avLst/>
          </a:prstGeom>
          <a:noFill/>
          <a:ln w="9525">
            <a:solidFill>
              <a:srgbClr val="D5DD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765792" y="3291840"/>
            <a:ext cx="457200" cy="457200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pic>
        <p:nvPicPr>
          <p:cNvPr id="12" name="Image 1" descr="icons/z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0092" y="340614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296144" y="33192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AIエージェント開発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9747504" y="384048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Anthropic「Claude Code」・Factory「Droid」がコードを書き、テストし、人が確認して反映</a:t>
            </a:r>
            <a:endParaRPr lang="en-US" sz="840" dirty="0"/>
          </a:p>
        </p:txBody>
      </p:sp>
      <p:sp>
        <p:nvSpPr>
          <p:cNvPr id="15" name="Shape 11"/>
          <p:cNvSpPr/>
          <p:nvPr/>
        </p:nvSpPr>
        <p:spPr>
          <a:xfrm>
            <a:off x="9765792" y="5010912"/>
            <a:ext cx="1801368" cy="0"/>
          </a:xfrm>
          <a:prstGeom prst="line">
            <a:avLst/>
          </a:prstGeom>
          <a:noFill/>
          <a:ln w="9525">
            <a:solidFill>
              <a:srgbClr val="D5DD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765792" y="5120640"/>
            <a:ext cx="402336" cy="40233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pic>
        <p:nvPicPr>
          <p:cNvPr id="17" name="Image 2" descr="icons/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376" y="522122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241280" y="508406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4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知識基盤：Mphasis</a:t>
            </a:r>
            <a:endParaRPr lang="en-US" sz="84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4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Ontosphere（決定済）</a:t>
            </a:r>
            <a:endParaRPr lang="en-US" sz="840" dirty="0"/>
          </a:p>
        </p:txBody>
      </p:sp>
      <p:sp>
        <p:nvSpPr>
          <p:cNvPr id="19" name="Text 14"/>
          <p:cNvSpPr txBox="1"/>
          <p:nvPr/>
        </p:nvSpPr>
        <p:spPr>
          <a:xfrm>
            <a:off x="9747504" y="563270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正本データの自社保有・一括持ち出し可能が採用条件</a:t>
            </a:r>
            <a:endParaRPr lang="en-US" sz="780" dirty="0"/>
          </a:p>
        </p:txBody>
      </p:sp>
      <p:sp>
        <p:nvSpPr>
          <p:cNvPr id="20" name="Text 15"/>
          <p:cNvSpPr txBox="1"/>
          <p:nvPr/>
        </p:nvSpPr>
        <p:spPr>
          <a:xfrm>
            <a:off x="9692640" y="6053328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5プロジェクト共通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384048" y="111556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03504" y="1389888"/>
            <a:ext cx="237744" cy="1600200"/>
          </a:xfrm>
          <a:prstGeom prst="down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47472" y="523036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根拠つき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の答え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03504" y="3566160"/>
            <a:ext cx="237744" cy="1600200"/>
          </a:xfrm>
          <a:prstGeom prst="up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70432" y="1078992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280160" y="1188720"/>
            <a:ext cx="1170432" cy="694944"/>
          </a:xfrm>
          <a:prstGeom prst="roundRect">
            <a:avLst>
              <a:gd name="adj" fmla="val 657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280160" y="1188720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使う人と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2587752" y="1207008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2642616" y="12527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経営ダッシュボード</a:t>
            </a:r>
            <a:endParaRPr lang="en-US" sz="930" dirty="0"/>
          </a:p>
        </p:txBody>
      </p:sp>
      <p:sp>
        <p:nvSpPr>
          <p:cNvPr id="30" name="Text 25"/>
          <p:cNvSpPr txBox="1"/>
          <p:nvPr/>
        </p:nvSpPr>
        <p:spPr>
          <a:xfrm>
            <a:off x="2642616" y="1499616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人材・案件・費用を一目で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3904488" y="1252728"/>
            <a:ext cx="237744" cy="237744"/>
          </a:xfrm>
          <a:prstGeom prst="ellipse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3849624" y="12344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297680" y="1207008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352544" y="12527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</a:t>
            </a:r>
            <a:endParaRPr lang="en-US" sz="930" dirty="0"/>
          </a:p>
        </p:txBody>
      </p:sp>
      <p:sp>
        <p:nvSpPr>
          <p:cNvPr id="35" name="Text 30"/>
          <p:cNvSpPr txBox="1"/>
          <p:nvPr/>
        </p:nvSpPr>
        <p:spPr>
          <a:xfrm>
            <a:off x="4352544" y="1499616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Microsoft Teams等 ― 依頼・質問・承認の入口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6007608" y="1207008"/>
            <a:ext cx="16276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062472" y="12527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学習ポータル</a:t>
            </a:r>
            <a:endParaRPr lang="en-US" sz="930" dirty="0"/>
          </a:p>
        </p:txBody>
      </p:sp>
      <p:sp>
        <p:nvSpPr>
          <p:cNvPr id="38" name="Text 33"/>
          <p:cNvSpPr txBox="1"/>
          <p:nvPr/>
        </p:nvSpPr>
        <p:spPr>
          <a:xfrm>
            <a:off x="6062472" y="1499616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学ぶ・試験・認定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7324344" y="1252728"/>
            <a:ext cx="237744" cy="23774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7269480" y="12344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7717536" y="1207008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7772400" y="125272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業務画面</a:t>
            </a:r>
            <a:endParaRPr lang="en-US" sz="930" dirty="0"/>
          </a:p>
        </p:txBody>
      </p:sp>
      <p:sp>
        <p:nvSpPr>
          <p:cNvPr id="43" name="Text 38"/>
          <p:cNvSpPr txBox="1"/>
          <p:nvPr/>
        </p:nvSpPr>
        <p:spPr>
          <a:xfrm>
            <a:off x="7772400" y="149961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日報・チケット・QA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8961120" y="1252728"/>
            <a:ext cx="237744" cy="237744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8906256" y="12344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1170432" y="2139696"/>
            <a:ext cx="8229600" cy="1170432"/>
          </a:xfrm>
          <a:prstGeom prst="roundRect">
            <a:avLst>
              <a:gd name="adj" fmla="val 4688"/>
            </a:avLst>
          </a:prstGeom>
          <a:solidFill>
            <a:srgbClr val="EEF3FC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1280160" y="2249424"/>
            <a:ext cx="1170432" cy="950976"/>
          </a:xfrm>
          <a:prstGeom prst="roundRect">
            <a:avLst>
              <a:gd name="adj" fmla="val 48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1280160" y="2249424"/>
            <a:ext cx="11704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AIの頭脳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（エージェント）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2587752" y="2286000"/>
            <a:ext cx="219456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2642616" y="23317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指揮役のAI</a:t>
            </a:r>
            <a:endParaRPr lang="en-US" sz="930" dirty="0"/>
          </a:p>
        </p:txBody>
      </p:sp>
      <p:sp>
        <p:nvSpPr>
          <p:cNvPr id="51" name="Text 46"/>
          <p:cNvSpPr txBox="1"/>
          <p:nvPr/>
        </p:nvSpPr>
        <p:spPr>
          <a:xfrm>
            <a:off x="2642616" y="257860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依頼を仕事に分解し、専門AIへ割り振る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4471416" y="2331720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4416552" y="23134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4864608" y="2286000"/>
            <a:ext cx="219456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4919472" y="23317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専門のAIたち</a:t>
            </a:r>
            <a:endParaRPr lang="en-US" sz="930" dirty="0"/>
          </a:p>
        </p:txBody>
      </p:sp>
      <p:sp>
        <p:nvSpPr>
          <p:cNvPr id="56" name="Text 51"/>
          <p:cNvSpPr txBox="1"/>
          <p:nvPr/>
        </p:nvSpPr>
        <p:spPr>
          <a:xfrm>
            <a:off x="4919472" y="257860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実装・検査・調査・要約などの仕事を分担</a:t>
            </a:r>
            <a:endParaRPr lang="en-US" sz="800" dirty="0"/>
          </a:p>
        </p:txBody>
      </p:sp>
      <p:sp>
        <p:nvSpPr>
          <p:cNvPr id="57" name="Shape 52"/>
          <p:cNvSpPr/>
          <p:nvPr/>
        </p:nvSpPr>
        <p:spPr>
          <a:xfrm>
            <a:off x="6748272" y="2331720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6693408" y="23134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7141464" y="2286000"/>
            <a:ext cx="2130552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7196328" y="233172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運転ルール一式</a:t>
            </a:r>
            <a:endParaRPr lang="en-US" sz="930" dirty="0"/>
          </a:p>
        </p:txBody>
      </p:sp>
      <p:sp>
        <p:nvSpPr>
          <p:cNvPr id="61" name="Text 56"/>
          <p:cNvSpPr txBox="1"/>
          <p:nvPr/>
        </p:nvSpPr>
        <p:spPr>
          <a:xfrm>
            <a:off x="7196328" y="2578608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自動チェックと人の承認。勝手な動きを止める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8961120" y="2331720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8906256" y="23134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1170432" y="3456432"/>
            <a:ext cx="8229600" cy="1024128"/>
          </a:xfrm>
          <a:prstGeom prst="roundRect">
            <a:avLst>
              <a:gd name="adj" fmla="val 5357"/>
            </a:avLst>
          </a:prstGeom>
          <a:solidFill>
            <a:srgbClr val="E3EBF9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1280160" y="3566160"/>
            <a:ext cx="1170432" cy="804672"/>
          </a:xfrm>
          <a:prstGeom prst="roundRect">
            <a:avLst>
              <a:gd name="adj" fmla="val 56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1280160" y="3566160"/>
            <a:ext cx="1170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会社の知識</a:t>
            </a:r>
            <a:endParaRPr lang="en-US" sz="1050" dirty="0"/>
          </a:p>
        </p:txBody>
      </p:sp>
      <p:sp>
        <p:nvSpPr>
          <p:cNvPr id="67" name="Shape 62"/>
          <p:cNvSpPr/>
          <p:nvPr/>
        </p:nvSpPr>
        <p:spPr>
          <a:xfrm>
            <a:off x="2587752" y="3602736"/>
            <a:ext cx="3291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2642616" y="3648456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用語の共通辞書</a:t>
            </a:r>
            <a:endParaRPr lang="en-US" sz="930" dirty="0"/>
          </a:p>
        </p:txBody>
      </p:sp>
      <p:sp>
        <p:nvSpPr>
          <p:cNvPr id="69" name="Text 64"/>
          <p:cNvSpPr txBox="1"/>
          <p:nvPr/>
        </p:nvSpPr>
        <p:spPr>
          <a:xfrm>
            <a:off x="2642616" y="3895344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言い方の違いを同じ意味に揃える ― Mphasis製品「Ontosphere」を採用（決定済）</a:t>
            </a:r>
            <a:endParaRPr lang="en-US" sz="800" dirty="0"/>
          </a:p>
        </p:txBody>
      </p:sp>
      <p:sp>
        <p:nvSpPr>
          <p:cNvPr id="70" name="Shape 65"/>
          <p:cNvSpPr/>
          <p:nvPr/>
        </p:nvSpPr>
        <p:spPr>
          <a:xfrm>
            <a:off x="5568696" y="3648456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5513832" y="363016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72" name="Shape 67"/>
          <p:cNvSpPr/>
          <p:nvPr/>
        </p:nvSpPr>
        <p:spPr>
          <a:xfrm>
            <a:off x="5961888" y="3602736"/>
            <a:ext cx="331012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6016752" y="3648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知識のつながりの地図</a:t>
            </a:r>
            <a:endParaRPr lang="en-US" sz="930" dirty="0"/>
          </a:p>
        </p:txBody>
      </p:sp>
      <p:sp>
        <p:nvSpPr>
          <p:cNvPr id="74" name="Text 69"/>
          <p:cNvSpPr txBox="1"/>
          <p:nvPr/>
        </p:nvSpPr>
        <p:spPr>
          <a:xfrm>
            <a:off x="6016752" y="38953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人・案件・技術・判断の関係を保存し、意味で検索（同・Ontosphere上に構築）</a:t>
            </a:r>
            <a:endParaRPr lang="en-US" sz="800" dirty="0"/>
          </a:p>
        </p:txBody>
      </p:sp>
      <p:sp>
        <p:nvSpPr>
          <p:cNvPr id="75" name="Shape 70"/>
          <p:cNvSpPr/>
          <p:nvPr/>
        </p:nvSpPr>
        <p:spPr>
          <a:xfrm>
            <a:off x="8961120" y="3648456"/>
            <a:ext cx="237744" cy="237744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76" name="Text 71"/>
          <p:cNvSpPr txBox="1"/>
          <p:nvPr/>
        </p:nvSpPr>
        <p:spPr>
          <a:xfrm>
            <a:off x="8906256" y="363016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77" name="Shape 72"/>
          <p:cNvSpPr/>
          <p:nvPr/>
        </p:nvSpPr>
        <p:spPr>
          <a:xfrm>
            <a:off x="1170432" y="4626864"/>
            <a:ext cx="8229600" cy="1060704"/>
          </a:xfrm>
          <a:prstGeom prst="roundRect">
            <a:avLst>
              <a:gd name="adj" fmla="val 5172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1280160" y="4736592"/>
            <a:ext cx="1170432" cy="841248"/>
          </a:xfrm>
          <a:prstGeom prst="roundRect">
            <a:avLst>
              <a:gd name="adj" fmla="val 543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9" name="Text 74"/>
          <p:cNvSpPr txBox="1"/>
          <p:nvPr/>
        </p:nvSpPr>
        <p:spPr>
          <a:xfrm>
            <a:off x="1280160" y="4736592"/>
            <a:ext cx="1170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記録・データ</a:t>
            </a:r>
            <a:endParaRPr lang="en-US" sz="1050" dirty="0"/>
          </a:p>
        </p:txBody>
      </p:sp>
      <p:sp>
        <p:nvSpPr>
          <p:cNvPr id="80" name="Shape 75"/>
          <p:cNvSpPr/>
          <p:nvPr/>
        </p:nvSpPr>
        <p:spPr>
          <a:xfrm>
            <a:off x="2587752" y="4773168"/>
            <a:ext cx="128930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81" name="Text 76"/>
          <p:cNvSpPr txBox="1"/>
          <p:nvPr/>
        </p:nvSpPr>
        <p:spPr>
          <a:xfrm>
            <a:off x="2642616" y="4818888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6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基幹システム</a:t>
            </a:r>
            <a:endParaRPr lang="en-US" sz="860" dirty="0"/>
          </a:p>
        </p:txBody>
      </p:sp>
      <p:sp>
        <p:nvSpPr>
          <p:cNvPr id="82" name="Text 77"/>
          <p:cNvSpPr txBox="1"/>
          <p:nvPr/>
        </p:nvSpPr>
        <p:spPr>
          <a:xfrm>
            <a:off x="2642616" y="5175504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案件・勤怠・契約・会計</a:t>
            </a:r>
            <a:endParaRPr lang="en-US" sz="740" dirty="0"/>
          </a:p>
        </p:txBody>
      </p:sp>
      <p:sp>
        <p:nvSpPr>
          <p:cNvPr id="83" name="Shape 78"/>
          <p:cNvSpPr/>
          <p:nvPr/>
        </p:nvSpPr>
        <p:spPr>
          <a:xfrm>
            <a:off x="3950208" y="4773168"/>
            <a:ext cx="128930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84" name="Text 79"/>
          <p:cNvSpPr txBox="1"/>
          <p:nvPr/>
        </p:nvSpPr>
        <p:spPr>
          <a:xfrm>
            <a:off x="4005072" y="4818888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6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文書・メール・会議</a:t>
            </a:r>
            <a:endParaRPr lang="en-US" sz="860" dirty="0"/>
          </a:p>
        </p:txBody>
      </p:sp>
      <p:sp>
        <p:nvSpPr>
          <p:cNvPr id="85" name="Text 80"/>
          <p:cNvSpPr txBox="1"/>
          <p:nvPr/>
        </p:nvSpPr>
        <p:spPr>
          <a:xfrm>
            <a:off x="4005072" y="5175504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Microsoft SharePoint・Outlook 等</a:t>
            </a:r>
            <a:endParaRPr lang="en-US" sz="740" dirty="0"/>
          </a:p>
        </p:txBody>
      </p:sp>
      <p:sp>
        <p:nvSpPr>
          <p:cNvPr id="86" name="Shape 81"/>
          <p:cNvSpPr/>
          <p:nvPr/>
        </p:nvSpPr>
        <p:spPr>
          <a:xfrm>
            <a:off x="5312664" y="4773168"/>
            <a:ext cx="128930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87" name="Text 82"/>
          <p:cNvSpPr txBox="1"/>
          <p:nvPr/>
        </p:nvSpPr>
        <p:spPr>
          <a:xfrm>
            <a:off x="5367528" y="481888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教育・認定の記録</a:t>
            </a:r>
            <a:endParaRPr lang="en-US" sz="800" dirty="0"/>
          </a:p>
        </p:txBody>
      </p:sp>
      <p:sp>
        <p:nvSpPr>
          <p:cNvPr id="88" name="Text 83"/>
          <p:cNvSpPr txBox="1"/>
          <p:nvPr/>
        </p:nvSpPr>
        <p:spPr>
          <a:xfrm>
            <a:off x="5367528" y="5175504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成果物・審査・段位</a:t>
            </a:r>
            <a:endParaRPr lang="en-US" sz="740" dirty="0"/>
          </a:p>
        </p:txBody>
      </p:sp>
      <p:sp>
        <p:nvSpPr>
          <p:cNvPr id="89" name="Shape 84"/>
          <p:cNvSpPr/>
          <p:nvPr/>
        </p:nvSpPr>
        <p:spPr>
          <a:xfrm>
            <a:off x="6309360" y="4818888"/>
            <a:ext cx="219456" cy="21945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0" name="Text 85"/>
          <p:cNvSpPr txBox="1"/>
          <p:nvPr/>
        </p:nvSpPr>
        <p:spPr>
          <a:xfrm>
            <a:off x="6254496" y="480060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91" name="Shape 86"/>
          <p:cNvSpPr/>
          <p:nvPr/>
        </p:nvSpPr>
        <p:spPr>
          <a:xfrm>
            <a:off x="6675120" y="4773168"/>
            <a:ext cx="128930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92" name="Text 87"/>
          <p:cNvSpPr txBox="1"/>
          <p:nvPr/>
        </p:nvSpPr>
        <p:spPr>
          <a:xfrm>
            <a:off x="6729984" y="481888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日報・チケット</a:t>
            </a:r>
            <a:endParaRPr lang="en-US" sz="800" dirty="0"/>
          </a:p>
        </p:txBody>
      </p:sp>
      <p:sp>
        <p:nvSpPr>
          <p:cNvPr id="93" name="Text 88"/>
          <p:cNvSpPr txBox="1"/>
          <p:nvPr/>
        </p:nvSpPr>
        <p:spPr>
          <a:xfrm>
            <a:off x="6729984" y="5175504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進捗・QA・作業の記録</a:t>
            </a:r>
            <a:endParaRPr lang="en-US" sz="740" dirty="0"/>
          </a:p>
        </p:txBody>
      </p:sp>
      <p:sp>
        <p:nvSpPr>
          <p:cNvPr id="94" name="Shape 89"/>
          <p:cNvSpPr/>
          <p:nvPr/>
        </p:nvSpPr>
        <p:spPr>
          <a:xfrm>
            <a:off x="7671816" y="4818888"/>
            <a:ext cx="219456" cy="219456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sp>
        <p:nvSpPr>
          <p:cNvPr id="95" name="Text 90"/>
          <p:cNvSpPr txBox="1"/>
          <p:nvPr/>
        </p:nvSpPr>
        <p:spPr>
          <a:xfrm>
            <a:off x="7616952" y="480060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96" name="Shape 91"/>
          <p:cNvSpPr/>
          <p:nvPr/>
        </p:nvSpPr>
        <p:spPr>
          <a:xfrm>
            <a:off x="8037576" y="4773168"/>
            <a:ext cx="128930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8092440" y="481888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顧客・営業・技術者</a:t>
            </a:r>
            <a:endParaRPr lang="en-US" sz="800" dirty="0"/>
          </a:p>
        </p:txBody>
      </p:sp>
      <p:sp>
        <p:nvSpPr>
          <p:cNvPr id="98" name="Text 93"/>
          <p:cNvSpPr txBox="1"/>
          <p:nvPr/>
        </p:nvSpPr>
        <p:spPr>
          <a:xfrm>
            <a:off x="8092440" y="5175504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実力・実績・単価の台帳</a:t>
            </a:r>
            <a:endParaRPr lang="en-US" sz="740" dirty="0"/>
          </a:p>
        </p:txBody>
      </p:sp>
      <p:sp>
        <p:nvSpPr>
          <p:cNvPr id="99" name="Shape 94"/>
          <p:cNvSpPr/>
          <p:nvPr/>
        </p:nvSpPr>
        <p:spPr>
          <a:xfrm>
            <a:off x="9034272" y="4818888"/>
            <a:ext cx="219456" cy="219456"/>
          </a:xfrm>
          <a:prstGeom prst="ellipse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100" name="Text 95"/>
          <p:cNvSpPr txBox="1"/>
          <p:nvPr/>
        </p:nvSpPr>
        <p:spPr>
          <a:xfrm>
            <a:off x="8979408" y="480060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900" dirty="0"/>
          </a:p>
        </p:txBody>
      </p:sp>
      <p:sp>
        <p:nvSpPr>
          <p:cNvPr id="101" name="Shape 96"/>
          <p:cNvSpPr/>
          <p:nvPr/>
        </p:nvSpPr>
        <p:spPr>
          <a:xfrm>
            <a:off x="1170432" y="5870448"/>
            <a:ext cx="237744" cy="23774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2" name="Text 97"/>
          <p:cNvSpPr txBox="1"/>
          <p:nvPr/>
        </p:nvSpPr>
        <p:spPr>
          <a:xfrm>
            <a:off x="1115568" y="58521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103" name="Text 98"/>
          <p:cNvSpPr txBox="1"/>
          <p:nvPr/>
        </p:nvSpPr>
        <p:spPr>
          <a:xfrm>
            <a:off x="1463040" y="5843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教育システム</a:t>
            </a:r>
            <a:endParaRPr lang="en-US" sz="900" dirty="0"/>
          </a:p>
        </p:txBody>
      </p:sp>
      <p:sp>
        <p:nvSpPr>
          <p:cNvPr id="104" name="Shape 99"/>
          <p:cNvSpPr/>
          <p:nvPr/>
        </p:nvSpPr>
        <p:spPr>
          <a:xfrm>
            <a:off x="2871216" y="5870448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5" name="Text 100"/>
          <p:cNvSpPr txBox="1"/>
          <p:nvPr/>
        </p:nvSpPr>
        <p:spPr>
          <a:xfrm>
            <a:off x="2816352" y="58521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106" name="Text 101"/>
          <p:cNvSpPr txBox="1"/>
          <p:nvPr/>
        </p:nvSpPr>
        <p:spPr>
          <a:xfrm>
            <a:off x="3163824" y="5843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共通の土台</a:t>
            </a:r>
            <a:endParaRPr lang="en-US" sz="900" dirty="0"/>
          </a:p>
        </p:txBody>
      </p:sp>
      <p:sp>
        <p:nvSpPr>
          <p:cNvPr id="107" name="Shape 102"/>
          <p:cNvSpPr/>
          <p:nvPr/>
        </p:nvSpPr>
        <p:spPr>
          <a:xfrm>
            <a:off x="4572000" y="5870448"/>
            <a:ext cx="237744" cy="237744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sp>
        <p:nvSpPr>
          <p:cNvPr id="108" name="Text 103"/>
          <p:cNvSpPr txBox="1"/>
          <p:nvPr/>
        </p:nvSpPr>
        <p:spPr>
          <a:xfrm>
            <a:off x="4517136" y="58521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109" name="Text 104"/>
          <p:cNvSpPr txBox="1"/>
          <p:nvPr/>
        </p:nvSpPr>
        <p:spPr>
          <a:xfrm>
            <a:off x="4864608" y="5843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AI-Ops</a:t>
            </a:r>
            <a:endParaRPr lang="en-US" sz="900" dirty="0"/>
          </a:p>
        </p:txBody>
      </p:sp>
      <p:sp>
        <p:nvSpPr>
          <p:cNvPr id="110" name="Shape 105"/>
          <p:cNvSpPr/>
          <p:nvPr/>
        </p:nvSpPr>
        <p:spPr>
          <a:xfrm>
            <a:off x="6272784" y="5870448"/>
            <a:ext cx="237744" cy="237744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11" name="Text 106"/>
          <p:cNvSpPr txBox="1"/>
          <p:nvPr/>
        </p:nvSpPr>
        <p:spPr>
          <a:xfrm>
            <a:off x="6217920" y="58521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112" name="Text 107"/>
          <p:cNvSpPr txBox="1"/>
          <p:nvPr/>
        </p:nvSpPr>
        <p:spPr>
          <a:xfrm>
            <a:off x="6565392" y="5843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暗黙知の継承</a:t>
            </a:r>
            <a:endParaRPr lang="en-US" sz="900" dirty="0"/>
          </a:p>
        </p:txBody>
      </p:sp>
      <p:sp>
        <p:nvSpPr>
          <p:cNvPr id="113" name="Shape 108"/>
          <p:cNvSpPr/>
          <p:nvPr/>
        </p:nvSpPr>
        <p:spPr>
          <a:xfrm>
            <a:off x="7973568" y="5870448"/>
            <a:ext cx="237744" cy="237744"/>
          </a:xfrm>
          <a:prstGeom prst="ellipse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114" name="Text 109"/>
          <p:cNvSpPr txBox="1"/>
          <p:nvPr/>
        </p:nvSpPr>
        <p:spPr>
          <a:xfrm>
            <a:off x="7918704" y="58521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900" dirty="0"/>
          </a:p>
        </p:txBody>
      </p:sp>
      <p:sp>
        <p:nvSpPr>
          <p:cNvPr id="115" name="Text 110"/>
          <p:cNvSpPr txBox="1"/>
          <p:nvPr/>
        </p:nvSpPr>
        <p:spPr>
          <a:xfrm>
            <a:off x="8266176" y="5843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全社データベース</a:t>
            </a:r>
            <a:endParaRPr lang="en-US" sz="900" dirty="0"/>
          </a:p>
        </p:txBody>
      </p:sp>
      <p:sp>
        <p:nvSpPr>
          <p:cNvPr id="116" name="Text 1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テクノプログループ AI CoE ｜ IT審査会議資料 ｜ 社内限定</a:t>
            </a:r>
            <a:endParaRPr lang="en-US" sz="850" dirty="0"/>
          </a:p>
        </p:txBody>
      </p:sp>
      <p:sp>
        <p:nvSpPr>
          <p:cNvPr id="117" name="Text 112"/>
          <p:cNvSpPr txBox="1"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開発の進め方 ― AIが作り、人が確かめる。だから少人数・短期間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全プロジェクト共通の作り方。AIエージェントが設計・実装・テストを担い、人は「何を作るか」の指示と「正しいか」の確認に集中する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作り方の流れ（全プロジェクト共通）</a:t>
            </a:r>
            <a:pPr indent="0" marL="0">
              <a:buNone/>
            </a:pPr>
            <a:r>
              <a:rPr lang="en-US" sz="100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協力企業：LayerX（P3を除く4PJを共同開発）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5806440" cy="1024128"/>
          </a:xfrm>
          <a:prstGeom prst="roundRect">
            <a:avLst>
              <a:gd name="adj" fmla="val 5357"/>
            </a:avLst>
          </a:prstGeom>
          <a:solidFill>
            <a:srgbClr val="EEF3FC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00784"/>
            <a:ext cx="585216" cy="5852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icons/ed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470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910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人が依頼する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9019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やりたいこと・合格条件を文章で指示。あいまいさをここで無くす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246120" y="2505456"/>
            <a:ext cx="237744" cy="146304"/>
          </a:xfrm>
          <a:prstGeom prst="down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651760"/>
            <a:ext cx="5806440" cy="1024128"/>
          </a:xfrm>
          <a:prstGeom prst="roundRect">
            <a:avLst>
              <a:gd name="adj" fmla="val 5357"/>
            </a:avLst>
          </a:prstGeom>
          <a:solidFill>
            <a:srgbClr val="EEF3FC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871216"/>
            <a:ext cx="585216" cy="5852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1" descr="icons/z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0175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7614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AIが作る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30723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Anthropic「Claude Code」・Factory「Droid」が設計・実装・テストまで実行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3246120" y="3675888"/>
            <a:ext cx="237744" cy="146304"/>
          </a:xfrm>
          <a:prstGeom prst="down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822192"/>
            <a:ext cx="5806440" cy="1024128"/>
          </a:xfrm>
          <a:prstGeom prst="roundRect">
            <a:avLst>
              <a:gd name="adj" fmla="val 5357"/>
            </a:avLst>
          </a:prstGeom>
          <a:solidFill>
            <a:srgbClr val="EEF3FC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8368" y="4041648"/>
            <a:ext cx="585216" cy="5852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9" name="Image 2" descr="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18795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17320" y="39319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別のAIと機械が検査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417320" y="42428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自動チェックと、作った本人とは別のAIによる独立レビューで誤りを発見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3246120" y="4846320"/>
            <a:ext cx="237744" cy="146304"/>
          </a:xfrm>
          <a:prstGeom prst="down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4992624"/>
            <a:ext cx="5806440" cy="1024128"/>
          </a:xfrm>
          <a:prstGeom prst="roundRect">
            <a:avLst>
              <a:gd name="adj" fmla="val 5357"/>
            </a:avLst>
          </a:prstGeom>
          <a:solidFill>
            <a:srgbClr val="FBF1D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8368" y="5212080"/>
            <a:ext cx="585216" cy="585216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pic>
        <p:nvPicPr>
          <p:cNvPr id="25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358384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417320" y="51023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人が承認して反映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417320" y="54132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最終判断は必ず人。承認前の変更は正式な記録に一切反映されない</a:t>
            </a:r>
            <a:endParaRPr lang="en-US" sz="980" dirty="0"/>
          </a:p>
        </p:txBody>
      </p:sp>
      <p:sp>
        <p:nvSpPr>
          <p:cNvPr id="28" name="Text 22"/>
          <p:cNvSpPr txBox="1"/>
          <p:nvPr/>
        </p:nvSpPr>
        <p:spPr>
          <a:xfrm>
            <a:off x="6537960" y="11155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なぜ少人数・短期間で作れるのか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6537960" y="1481328"/>
            <a:ext cx="5193792" cy="804672"/>
          </a:xfrm>
          <a:prstGeom prst="roundRect">
            <a:avLst>
              <a:gd name="adj" fmla="val 6818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693408" y="1636776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pic>
        <p:nvPicPr>
          <p:cNvPr id="31" name="Image 4" descr="icons/z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852" y="1760220"/>
            <a:ext cx="246888" cy="24688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333488" y="1572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AIが手を動かす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7333488" y="183794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人の指示1つで、AIが並行して実装。手作業の量が桁違いに減る</a:t>
            </a:r>
            <a:endParaRPr lang="en-US" sz="930" dirty="0"/>
          </a:p>
        </p:txBody>
      </p:sp>
      <p:sp>
        <p:nvSpPr>
          <p:cNvPr id="34" name="Shape 27"/>
          <p:cNvSpPr/>
          <p:nvPr/>
        </p:nvSpPr>
        <p:spPr>
          <a:xfrm>
            <a:off x="6537960" y="2414016"/>
            <a:ext cx="5193792" cy="804672"/>
          </a:xfrm>
          <a:prstGeom prst="roundRect">
            <a:avLst>
              <a:gd name="adj" fmla="val 6818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693408" y="2569464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pic>
        <p:nvPicPr>
          <p:cNvPr id="36" name="Image 5" descr="icons/lay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6852" y="2692908"/>
            <a:ext cx="246888" cy="24688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333488" y="25054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土台を共有する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7333488" y="27706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共通基盤（P2）とログイン・通知などの既存部品を全員で再利用</a:t>
            </a:r>
            <a:endParaRPr lang="en-US" sz="930" dirty="0"/>
          </a:p>
        </p:txBody>
      </p:sp>
      <p:sp>
        <p:nvSpPr>
          <p:cNvPr id="39" name="Shape 31"/>
          <p:cNvSpPr/>
          <p:nvPr/>
        </p:nvSpPr>
        <p:spPr>
          <a:xfrm>
            <a:off x="6537960" y="3346704"/>
            <a:ext cx="5193792" cy="804672"/>
          </a:xfrm>
          <a:prstGeom prst="roundRect">
            <a:avLst>
              <a:gd name="adj" fmla="val 6818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693408" y="3502152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pic>
        <p:nvPicPr>
          <p:cNvPr id="41" name="Image 6" descr="icons/fi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6852" y="3625596"/>
            <a:ext cx="246888" cy="24688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333488" y="34381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設計図が既にある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7333488" y="37033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各プロジェクトの構成・機能・仕分けは設計済み（別紙）。作業は「組み立て」から始まる</a:t>
            </a:r>
            <a:endParaRPr lang="en-US" sz="930" dirty="0"/>
          </a:p>
        </p:txBody>
      </p:sp>
      <p:sp>
        <p:nvSpPr>
          <p:cNvPr id="44" name="Shape 35"/>
          <p:cNvSpPr/>
          <p:nvPr/>
        </p:nvSpPr>
        <p:spPr>
          <a:xfrm>
            <a:off x="6537960" y="4343400"/>
            <a:ext cx="5193792" cy="18288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6766560" y="44988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実行環境はAWS ― 安全を「設定」で強制する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6812280" y="4864608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会社専用の閉じた区画に構築し、データを外部の学習に使わせない</a:t>
            </a:r>
            <a:endParaRPr lang="en-US" sz="103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全操作を自動で記録。費用には上限を設け、常時見える化</a:t>
            </a:r>
            <a:endParaRPr lang="en-US" sz="103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危険な操作（削除・公開など）は、人の承認が無ければ動かない</a:t>
            </a:r>
            <a:endParaRPr lang="en-US" sz="1030" dirty="0"/>
          </a:p>
        </p:txBody>
      </p:sp>
      <p:sp>
        <p:nvSpPr>
          <p:cNvPr id="47" name="Text 3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テクノプログループ AI CoE ｜ IT審査会議資料 ｜ 社内限定</a:t>
            </a:r>
            <a:endParaRPr lang="en-US" sz="850" dirty="0"/>
          </a:p>
        </p:txBody>
      </p:sp>
      <p:sp>
        <p:nvSpPr>
          <p:cNvPr id="48" name="Text 39"/>
          <p:cNvSpPr txBox="1"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　AIネイティブ教育システム ― 学ぶ・鍛える・確かめる・認めるを、ひとつに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AIが先生役と教材づくりを担い、教育から試験・認定までをクラウド上で一気通貫に。実力を「証拠」で示し、単価の根拠につなげる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430000" y="256032"/>
            <a:ext cx="365760" cy="365760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5136" y="23774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しくみ ― 処理とデータの流れ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078992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ねらい・ポイント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664208" cy="1627632"/>
          </a:xfrm>
          <a:prstGeom prst="roundRect">
            <a:avLst>
              <a:gd name="adj" fmla="val 3371"/>
            </a:avLst>
          </a:prstGeom>
          <a:solidFill>
            <a:srgbClr val="E6F2F2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517904"/>
            <a:ext cx="475488" cy="475488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pic>
        <p:nvPicPr>
          <p:cNvPr id="10" name="Image 0" descr="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636776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204825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学ぶ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322576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AIが教材を下書きし、先生役として24時間対話で指導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2139696" y="2066544"/>
            <a:ext cx="118872" cy="237744"/>
          </a:xfrm>
          <a:prstGeom prst="right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76856" y="1371600"/>
            <a:ext cx="1664208" cy="1627632"/>
          </a:xfrm>
          <a:prstGeom prst="roundRect">
            <a:avLst>
              <a:gd name="adj" fmla="val 3371"/>
            </a:avLst>
          </a:prstGeom>
          <a:solidFill>
            <a:srgbClr val="E6F2F2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71216" y="1517904"/>
            <a:ext cx="475488" cy="475488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pic>
        <p:nvPicPr>
          <p:cNvPr id="16" name="Image 1" descr="icons/too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1636776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276856" y="204825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鍛える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2368296" y="2322576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本物と同じ開発環境で実習。成果物がそのまま証拠に</a:t>
            </a:r>
            <a:endParaRPr lang="en-US" sz="820" dirty="0"/>
          </a:p>
        </p:txBody>
      </p:sp>
      <p:sp>
        <p:nvSpPr>
          <p:cNvPr id="19" name="Shape 15"/>
          <p:cNvSpPr/>
          <p:nvPr/>
        </p:nvSpPr>
        <p:spPr>
          <a:xfrm>
            <a:off x="3959352" y="2066544"/>
            <a:ext cx="118872" cy="237744"/>
          </a:xfrm>
          <a:prstGeom prst="right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096512" y="1371600"/>
            <a:ext cx="1664208" cy="1627632"/>
          </a:xfrm>
          <a:prstGeom prst="roundRect">
            <a:avLst>
              <a:gd name="adj" fmla="val 3371"/>
            </a:avLst>
          </a:prstGeom>
          <a:solidFill>
            <a:srgbClr val="E6F2F2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90872" y="1517904"/>
            <a:ext cx="475488" cy="475488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pic>
        <p:nvPicPr>
          <p:cNvPr id="22" name="Image 2" descr="icons/edi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636776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096512" y="204825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確かめる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4187952" y="2322576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知識テストと実技試験で「わかる」「できる」を確認</a:t>
            </a:r>
            <a:endParaRPr lang="en-US" sz="820" dirty="0"/>
          </a:p>
        </p:txBody>
      </p:sp>
      <p:sp>
        <p:nvSpPr>
          <p:cNvPr id="25" name="Shape 20"/>
          <p:cNvSpPr/>
          <p:nvPr/>
        </p:nvSpPr>
        <p:spPr>
          <a:xfrm>
            <a:off x="5779008" y="2066544"/>
            <a:ext cx="118872" cy="237744"/>
          </a:xfrm>
          <a:prstGeom prst="right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916168" y="1371600"/>
            <a:ext cx="1664208" cy="1627632"/>
          </a:xfrm>
          <a:prstGeom prst="roundRect">
            <a:avLst>
              <a:gd name="adj" fmla="val 3371"/>
            </a:avLst>
          </a:prstGeom>
          <a:solidFill>
            <a:srgbClr val="E6F2F2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510528" y="1517904"/>
            <a:ext cx="475488" cy="475488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pic>
        <p:nvPicPr>
          <p:cNvPr id="28" name="Image 3" descr="icons/aw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636776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916168" y="204825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認める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6007608" y="2322576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成果物と審査記録をもとに、最終判定は必ず人が実施</a:t>
            </a:r>
            <a:endParaRPr lang="en-US" sz="820" dirty="0"/>
          </a:p>
        </p:txBody>
      </p:sp>
      <p:sp>
        <p:nvSpPr>
          <p:cNvPr id="31" name="Shape 25"/>
          <p:cNvSpPr/>
          <p:nvPr/>
        </p:nvSpPr>
        <p:spPr>
          <a:xfrm>
            <a:off x="3931920" y="3035808"/>
            <a:ext cx="237744" cy="128016"/>
          </a:xfrm>
          <a:prstGeom prst="down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57200" y="3200400"/>
            <a:ext cx="71323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58368" y="3200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学習の記録台帳 ― 学び・成果物・審査結果をすべて保存（将来は P5 営業データベースと連携）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57200" y="3803904"/>
            <a:ext cx="226771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548640" y="38679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教材の自動作成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4133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社内資料から講座・テストを下書き</a:t>
            </a:r>
            <a:endParaRPr lang="en-US" sz="780" dirty="0"/>
          </a:p>
        </p:txBody>
      </p:sp>
      <p:sp>
        <p:nvSpPr>
          <p:cNvPr id="37" name="Shape 31"/>
          <p:cNvSpPr/>
          <p:nvPr/>
        </p:nvSpPr>
        <p:spPr>
          <a:xfrm>
            <a:off x="2889504" y="3803904"/>
            <a:ext cx="226771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2980944" y="38679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AI先生との授業</a:t>
            </a:r>
            <a:endParaRPr lang="en-US" sz="950" dirty="0"/>
          </a:p>
        </p:txBody>
      </p:sp>
      <p:sp>
        <p:nvSpPr>
          <p:cNvPr id="39" name="Text 33"/>
          <p:cNvSpPr txBox="1"/>
          <p:nvPr/>
        </p:nvSpPr>
        <p:spPr>
          <a:xfrm>
            <a:off x="2980944" y="4133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説明・質問対応・模擬練習まで対話で</a:t>
            </a:r>
            <a:endParaRPr lang="en-US" sz="780" dirty="0"/>
          </a:p>
        </p:txBody>
      </p:sp>
      <p:sp>
        <p:nvSpPr>
          <p:cNvPr id="40" name="Shape 34"/>
          <p:cNvSpPr/>
          <p:nvPr/>
        </p:nvSpPr>
        <p:spPr>
          <a:xfrm>
            <a:off x="5321808" y="3803904"/>
            <a:ext cx="226771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5413248" y="38679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実習環境</a:t>
            </a:r>
            <a:endParaRPr lang="en-US" sz="950" dirty="0"/>
          </a:p>
        </p:txBody>
      </p:sp>
      <p:sp>
        <p:nvSpPr>
          <p:cNvPr id="42" name="Text 36"/>
          <p:cNvSpPr txBox="1"/>
          <p:nvPr/>
        </p:nvSpPr>
        <p:spPr>
          <a:xfrm>
            <a:off x="5413248" y="4133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課題ごとの使い捨て開発環境</a:t>
            </a:r>
            <a:endParaRPr lang="en-US" sz="780" dirty="0"/>
          </a:p>
        </p:txBody>
      </p:sp>
      <p:sp>
        <p:nvSpPr>
          <p:cNvPr id="43" name="Shape 37"/>
          <p:cNvSpPr/>
          <p:nvPr/>
        </p:nvSpPr>
        <p:spPr>
          <a:xfrm>
            <a:off x="457200" y="4626864"/>
            <a:ext cx="226771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548640" y="4690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知識・実技試験</a:t>
            </a:r>
            <a:endParaRPr lang="en-US" sz="950" dirty="0"/>
          </a:p>
        </p:txBody>
      </p:sp>
      <p:sp>
        <p:nvSpPr>
          <p:cNvPr id="45" name="Text 39"/>
          <p:cNvSpPr txBox="1"/>
          <p:nvPr/>
        </p:nvSpPr>
        <p:spPr>
          <a:xfrm>
            <a:off x="548640" y="4956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自動採点＋実技は二重審査</a:t>
            </a:r>
            <a:endParaRPr lang="en-US" sz="780" dirty="0"/>
          </a:p>
        </p:txBody>
      </p:sp>
      <p:sp>
        <p:nvSpPr>
          <p:cNvPr id="46" name="Shape 40"/>
          <p:cNvSpPr/>
          <p:nvPr/>
        </p:nvSpPr>
        <p:spPr>
          <a:xfrm>
            <a:off x="2889504" y="4626864"/>
            <a:ext cx="226771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2980944" y="4690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人による認定</a:t>
            </a:r>
            <a:endParaRPr lang="en-US" sz="950" dirty="0"/>
          </a:p>
        </p:txBody>
      </p:sp>
      <p:sp>
        <p:nvSpPr>
          <p:cNvPr id="48" name="Text 42"/>
          <p:cNvSpPr txBox="1"/>
          <p:nvPr/>
        </p:nvSpPr>
        <p:spPr>
          <a:xfrm>
            <a:off x="2980944" y="4956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社内共通の「段位」として登録</a:t>
            </a:r>
            <a:endParaRPr lang="en-US" sz="780" dirty="0"/>
          </a:p>
        </p:txBody>
      </p:sp>
      <p:sp>
        <p:nvSpPr>
          <p:cNvPr id="49" name="Shape 43"/>
          <p:cNvSpPr/>
          <p:nvPr/>
        </p:nvSpPr>
        <p:spPr>
          <a:xfrm>
            <a:off x="5321808" y="4626864"/>
            <a:ext cx="226771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5413248" y="4690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スキルの見える化</a:t>
            </a:r>
            <a:endParaRPr lang="en-US" sz="950" dirty="0"/>
          </a:p>
        </p:txBody>
      </p:sp>
      <p:sp>
        <p:nvSpPr>
          <p:cNvPr id="51" name="Text 45"/>
          <p:cNvSpPr txBox="1"/>
          <p:nvPr/>
        </p:nvSpPr>
        <p:spPr>
          <a:xfrm>
            <a:off x="5413248" y="4956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個人・部門・全社の過不足を一目で</a:t>
            </a:r>
            <a:endParaRPr lang="en-US" sz="780" dirty="0"/>
          </a:p>
        </p:txBody>
      </p:sp>
      <p:sp>
        <p:nvSpPr>
          <p:cNvPr id="52" name="Shape 46"/>
          <p:cNvSpPr/>
          <p:nvPr/>
        </p:nvSpPr>
        <p:spPr>
          <a:xfrm>
            <a:off x="7772400" y="1371600"/>
            <a:ext cx="3959352" cy="2011680"/>
          </a:xfrm>
          <a:prstGeom prst="roundRect">
            <a:avLst>
              <a:gd name="adj" fmla="val 2727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79552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業界の「ものさし」と対応づける</a:t>
            </a:r>
            <a:endParaRPr lang="en-US" sz="1100" dirty="0"/>
          </a:p>
        </p:txBody>
      </p:sp>
      <p:sp>
        <p:nvSpPr>
          <p:cNvPr id="54" name="Text 48"/>
          <p:cNvSpPr txBox="1"/>
          <p:nvPr/>
        </p:nvSpPr>
        <p:spPr>
          <a:xfrm>
            <a:off x="8010144" y="1773936"/>
            <a:ext cx="36118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社内スキル規格（488技能・7段位）を、JDLAの資格体系、NEC・日立の役割/スキル定義と対比表で接続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対比があるため、認定の水準を社外にも説明できる ― 単価交渉の材料になる</a:t>
            </a:r>
            <a:endParaRPr lang="en-US" sz="890" dirty="0"/>
          </a:p>
        </p:txBody>
      </p:sp>
      <p:sp>
        <p:nvSpPr>
          <p:cNvPr id="55" name="Shape 49"/>
          <p:cNvSpPr/>
          <p:nvPr/>
        </p:nvSpPr>
        <p:spPr>
          <a:xfrm>
            <a:off x="7772400" y="3520440"/>
            <a:ext cx="3959352" cy="1874520"/>
          </a:xfrm>
          <a:prstGeom prst="roundRect">
            <a:avLst>
              <a:gd name="adj" fmla="val 2927"/>
            </a:avLst>
          </a:prstGeom>
          <a:solidFill>
            <a:srgbClr val="E6F2F2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795528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作り方</a:t>
            </a:r>
            <a:endParaRPr lang="en-US" sz="1100" dirty="0"/>
          </a:p>
        </p:txBody>
      </p:sp>
      <p:sp>
        <p:nvSpPr>
          <p:cNvPr id="57" name="Text 51"/>
          <p:cNvSpPr txBox="1"/>
          <p:nvPr/>
        </p:nvSpPr>
        <p:spPr>
          <a:xfrm>
            <a:off x="8010144" y="3922776"/>
            <a:ext cx="36118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AWS上に4段構成（入口→学習→AI→記録台帳）。設計・部品選定は完了済み（別紙）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公開ソフトの学習エンジンを部品として活用し、開発量を圧縮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b="1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LayerXと共同開発 ― AI面談システムでの協業体制をそのまま活かす</a:t>
            </a:r>
            <a:endParaRPr lang="en-US" sz="890" dirty="0"/>
          </a:p>
        </p:txBody>
      </p:sp>
      <p:sp>
        <p:nvSpPr>
          <p:cNvPr id="58" name="Shape 52"/>
          <p:cNvSpPr/>
          <p:nvPr/>
        </p:nvSpPr>
        <p:spPr>
          <a:xfrm>
            <a:off x="457200" y="5541264"/>
            <a:ext cx="11274552" cy="402336"/>
          </a:xfrm>
          <a:prstGeom prst="roundRect">
            <a:avLst>
              <a:gd name="adj" fmla="val 13636"/>
            </a:avLst>
          </a:prstGeom>
          <a:solidFill>
            <a:srgbClr val="FBF1DF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658368" y="554126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実力を「証拠」で：</a:t>
            </a:r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受講時間ではなく、成果物と審査記録で実力を示す ― 認定と単価交渉の「根拠」が自動でたまっていく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457200" y="603504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457200" y="603504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社内：上級（FDE High）1名（守屋）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｜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期間：1〜2か月（2〜4人月）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｜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LayerX：上級（FDE High）級エンジニア1名</a:t>
            </a:r>
            <a:endParaRPr lang="en-US" sz="1050" dirty="0"/>
          </a:p>
        </p:txBody>
      </p:sp>
      <p:sp>
        <p:nvSpPr>
          <p:cNvPr id="62" name="Text 5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テクノプログループ AI CoE ｜ IT審査会議資料 ｜ 社内限定</a:t>
            </a:r>
            <a:endParaRPr lang="en-US" sz="850" dirty="0"/>
          </a:p>
        </p:txBody>
      </p:sp>
      <p:sp>
        <p:nvSpPr>
          <p:cNvPr id="63" name="Text 57"/>
          <p:cNvSpPr txBox="1"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P2　AIネイティブ基盤システム ― 全プロジェクト共通の「頭脳と知識」の土台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5つの層で役割を分ける。新しく作るのは4点だけで、知識の管理には決定済みの製品を、記録には既存システムをそのまま使う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430000" y="25603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5136" y="23774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しくみ ― 処理とデータの流れ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078992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ねらい・ポイント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132320" cy="731520"/>
          </a:xfrm>
          <a:prstGeom prst="roundRect">
            <a:avLst>
              <a:gd name="adj" fmla="val 7500"/>
            </a:avLst>
          </a:prstGeom>
          <a:solidFill>
            <a:srgbClr val="EEF3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435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画面の層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09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相手（経営・営業・技術者）と業務に合わせ、AIが最適な画面を組み立てて表示する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5760720" y="1444752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14447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新しく作る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886200" y="2084832"/>
            <a:ext cx="237744" cy="128016"/>
          </a:xfrm>
          <a:prstGeom prst="down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94560"/>
            <a:ext cx="7132320" cy="731520"/>
          </a:xfrm>
          <a:prstGeom prst="roundRect">
            <a:avLst>
              <a:gd name="adj" fmla="val 7500"/>
            </a:avLst>
          </a:prstGeom>
          <a:solidFill>
            <a:srgbClr val="EEF3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258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AIエージェントの層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532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指揮役のAIが依頼を分解し、専門のAIが分担して実行。「運転ルール一式」が検証・承認・記録で統制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5760720" y="2267712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2267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新しく作る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886200" y="2907792"/>
            <a:ext cx="237744" cy="128016"/>
          </a:xfrm>
          <a:prstGeom prst="down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17520"/>
            <a:ext cx="7132320" cy="731520"/>
          </a:xfrm>
          <a:prstGeom prst="roundRect">
            <a:avLst>
              <a:gd name="adj" fmla="val 7500"/>
            </a:avLst>
          </a:prstGeom>
          <a:solidFill>
            <a:srgbClr val="EEF3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081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データの層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55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各システムの情報を、AIが検索できる形（意味と関係つき）に整えて保持する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5760720" y="3090672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60720" y="3090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新しく作る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886200" y="3730752"/>
            <a:ext cx="237744" cy="128016"/>
          </a:xfrm>
          <a:prstGeom prst="down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40480"/>
            <a:ext cx="7132320" cy="731520"/>
          </a:xfrm>
          <a:prstGeom prst="roundRect">
            <a:avLst>
              <a:gd name="adj" fmla="val 7500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904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共通辞書・知識の地図の層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178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用語の共通辞書と知識のつながりの地図。Mphasis製品「Ontosphere」を採用し、回答に出典を紐づける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760720" y="3913632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D8DFEA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60720" y="39136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Mphasis製品（決定済）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886200" y="4553712"/>
            <a:ext cx="237744" cy="128016"/>
          </a:xfrm>
          <a:prstGeom prst="down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663440"/>
            <a:ext cx="7132320" cy="731520"/>
          </a:xfrm>
          <a:prstGeom prst="roundRect">
            <a:avLst>
              <a:gd name="adj" fmla="val 7500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727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記録の層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基幹・会計システム、Microsoft SharePoint（正式記録）・Outlook（配信）等。読み取り専用で使い、書き換えない（繋ぎこみのみ新規）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5760720" y="4736592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D8DFEA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60720" y="4736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既存を活用＋繋ぎこみ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7772400" y="1371600"/>
            <a:ext cx="3959352" cy="2011680"/>
          </a:xfrm>
          <a:prstGeom prst="roundRect">
            <a:avLst>
              <a:gd name="adj" fmla="val 2727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9552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新しく作るのは4点だけ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010144" y="1773936"/>
            <a:ext cx="36118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AIの運転ルール一式（検証・承認・記録の仕組み）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画面の層（AIが画面を組み立てる仕組み）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データの層（意味づけと検索）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各種システムとの繋ぎこみ・お客様ごとの調整</a:t>
            </a:r>
            <a:endParaRPr lang="en-US" sz="890" dirty="0"/>
          </a:p>
        </p:txBody>
      </p:sp>
      <p:sp>
        <p:nvSpPr>
          <p:cNvPr id="40" name="Shape 38"/>
          <p:cNvSpPr/>
          <p:nvPr/>
        </p:nvSpPr>
        <p:spPr>
          <a:xfrm>
            <a:off x="7772400" y="3520440"/>
            <a:ext cx="3959352" cy="1874520"/>
          </a:xfrm>
          <a:prstGeom prst="roundRect">
            <a:avLst>
              <a:gd name="adj" fmla="val 2927"/>
            </a:avLst>
          </a:prstGeom>
          <a:solidFill>
            <a:srgbClr val="E9EDF9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95528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安全は、土台で強制する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010144" y="3922776"/>
            <a:ext cx="36118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検証・人の承認・全操作の記録を土台側に作り込む ― 上で動く全プロジェクトに自動で効く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運転ルール一式が、AIの勝手な動きを仕組みで止める</a:t>
            </a:r>
            <a:endParaRPr lang="en-US" sz="890" dirty="0"/>
          </a:p>
        </p:txBody>
      </p:sp>
      <p:sp>
        <p:nvSpPr>
          <p:cNvPr id="43" name="Shape 41"/>
          <p:cNvSpPr/>
          <p:nvPr/>
        </p:nvSpPr>
        <p:spPr>
          <a:xfrm>
            <a:off x="457200" y="5541264"/>
            <a:ext cx="11274552" cy="402336"/>
          </a:xfrm>
          <a:prstGeom prst="roundRect">
            <a:avLst>
              <a:gd name="adj" fmla="val 13636"/>
            </a:avLst>
          </a:prstGeom>
          <a:solidFill>
            <a:srgbClr val="FBF1DF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8368" y="554126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この土台の上で：</a:t>
            </a:r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P1・P3・P4・P5のすべてが動く ― 同じ環境がそのまま顧客へのデモと提案のひな形になり、二重投資が起きない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603504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7200" y="603504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社内：上級（FDE High）1名（守屋）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｜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期間：2〜3か月（4〜9人月）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｜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LayerX：上級（FDE High）級エンジニア1〜2名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テクノプログループ AI CoE ｜ IT審査会議資料 ｜ 社内限定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P3　AI-Ops 基盤システム ― 日報・チケット・進捗・報告・QAを、一つの流れに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依頼から報告まで、そして質問対応（QA）までを自動でつなぐ。必要な16機能のうち11機能は既存の共通基盤がそのまま使えることを確認済み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430000" y="256032"/>
            <a:ext cx="365760" cy="365760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5136" y="23774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しくみ ― 処理とデータの流れ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078992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ねらい・ポイント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267712" cy="1353312"/>
          </a:xfrm>
          <a:prstGeom prst="roundRect">
            <a:avLst>
              <a:gd name="adj" fmla="val 4054"/>
            </a:avLst>
          </a:prstGeom>
          <a:solidFill>
            <a:srgbClr val="FBF1D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1499616"/>
            <a:ext cx="402336" cy="402336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pic>
        <p:nvPicPr>
          <p:cNvPr id="10" name="Image 0" descr="icons/ed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78992" y="151790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起票</a:t>
            </a:r>
            <a:endParaRPr lang="en-US" sz="980" dirty="0"/>
          </a:p>
        </p:txBody>
      </p:sp>
      <p:sp>
        <p:nvSpPr>
          <p:cNvPr id="12" name="Text 9"/>
          <p:cNvSpPr txBox="1"/>
          <p:nvPr/>
        </p:nvSpPr>
        <p:spPr>
          <a:xfrm>
            <a:off x="585216" y="199339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業務を選ぶと入力欄が切り替わり、依頼も質問（QA）も2分で完了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2889504" y="1371600"/>
            <a:ext cx="2267712" cy="1353312"/>
          </a:xfrm>
          <a:prstGeom prst="roundRect">
            <a:avLst>
              <a:gd name="adj" fmla="val 4054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17520" y="1499616"/>
            <a:ext cx="402336" cy="402336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pic>
        <p:nvPicPr>
          <p:cNvPr id="15" name="Image 1" descr="icons/sha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1600200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11296" y="151790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自動割り振り</a:t>
            </a:r>
            <a:endParaRPr lang="en-US" sz="980" dirty="0"/>
          </a:p>
        </p:txBody>
      </p:sp>
      <p:sp>
        <p:nvSpPr>
          <p:cNvPr id="17" name="Text 13"/>
          <p:cNvSpPr txBox="1"/>
          <p:nvPr/>
        </p:nvSpPr>
        <p:spPr>
          <a:xfrm>
            <a:off x="3017520" y="199339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在席・件数・支店を見て、無理のない量だけ配分</a:t>
            </a:r>
            <a:endParaRPr lang="en-US" sz="820" dirty="0"/>
          </a:p>
        </p:txBody>
      </p:sp>
      <p:sp>
        <p:nvSpPr>
          <p:cNvPr id="18" name="Shape 14"/>
          <p:cNvSpPr/>
          <p:nvPr/>
        </p:nvSpPr>
        <p:spPr>
          <a:xfrm>
            <a:off x="5321808" y="1371600"/>
            <a:ext cx="2267712" cy="1353312"/>
          </a:xfrm>
          <a:prstGeom prst="roundRect">
            <a:avLst>
              <a:gd name="adj" fmla="val 4054"/>
            </a:avLst>
          </a:prstGeom>
          <a:solidFill>
            <a:srgbClr val="FBF1D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49824" y="1499616"/>
            <a:ext cx="402336" cy="402336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pic>
        <p:nvPicPr>
          <p:cNvPr id="20" name="Image 2" descr="icons/mess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160020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943600" y="151790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通知</a:t>
            </a:r>
            <a:endParaRPr lang="en-US" sz="980" dirty="0"/>
          </a:p>
        </p:txBody>
      </p:sp>
      <p:sp>
        <p:nvSpPr>
          <p:cNvPr id="22" name="Text 17"/>
          <p:cNvSpPr txBox="1"/>
          <p:nvPr/>
        </p:nvSpPr>
        <p:spPr>
          <a:xfrm>
            <a:off x="5449824" y="199339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担当者のMicrosoft Teamsへ自動でお知らせ</a:t>
            </a:r>
            <a:endParaRPr lang="en-US" sz="820" dirty="0"/>
          </a:p>
        </p:txBody>
      </p:sp>
      <p:sp>
        <p:nvSpPr>
          <p:cNvPr id="23" name="Shape 18"/>
          <p:cNvSpPr/>
          <p:nvPr/>
        </p:nvSpPr>
        <p:spPr>
          <a:xfrm>
            <a:off x="457200" y="2834640"/>
            <a:ext cx="2267712" cy="1353312"/>
          </a:xfrm>
          <a:prstGeom prst="roundRect">
            <a:avLst>
              <a:gd name="adj" fmla="val 4054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85216" y="2962656"/>
            <a:ext cx="402336" cy="402336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pic>
        <p:nvPicPr>
          <p:cNvPr id="25" name="Image 3" descr="icons/gri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63240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78992" y="29809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処理・記録</a:t>
            </a:r>
            <a:endParaRPr lang="en-US" sz="980" dirty="0"/>
          </a:p>
        </p:txBody>
      </p:sp>
      <p:sp>
        <p:nvSpPr>
          <p:cNvPr id="27" name="Text 21"/>
          <p:cNvSpPr txBox="1"/>
          <p:nvPr/>
        </p:nvSpPr>
        <p:spPr>
          <a:xfrm>
            <a:off x="585216" y="345643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作業ボードで進行管理。日報・履歴が自動で残る</a:t>
            </a:r>
            <a:endParaRPr lang="en-US" sz="820" dirty="0"/>
          </a:p>
        </p:txBody>
      </p:sp>
      <p:sp>
        <p:nvSpPr>
          <p:cNvPr id="28" name="Shape 22"/>
          <p:cNvSpPr/>
          <p:nvPr/>
        </p:nvSpPr>
        <p:spPr>
          <a:xfrm>
            <a:off x="2889504" y="2834640"/>
            <a:ext cx="2267712" cy="1353312"/>
          </a:xfrm>
          <a:prstGeom prst="roundRect">
            <a:avLst>
              <a:gd name="adj" fmla="val 4054"/>
            </a:avLst>
          </a:prstGeom>
          <a:solidFill>
            <a:srgbClr val="FBF1D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017520" y="2962656"/>
            <a:ext cx="402336" cy="402336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pic>
        <p:nvPicPr>
          <p:cNvPr id="30" name="Image 4" descr="icons/clo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8104" y="3063240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511296" y="29809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期限の見張り</a:t>
            </a:r>
            <a:endParaRPr lang="en-US" sz="980" dirty="0"/>
          </a:p>
        </p:txBody>
      </p:sp>
      <p:sp>
        <p:nvSpPr>
          <p:cNvPr id="32" name="Text 25"/>
          <p:cNvSpPr txBox="1"/>
          <p:nvPr/>
        </p:nvSpPr>
        <p:spPr>
          <a:xfrm>
            <a:off x="3017520" y="345643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遅れそうな仕事を自動検知し、事前に警告</a:t>
            </a:r>
            <a:endParaRPr lang="en-US" sz="820" dirty="0"/>
          </a:p>
        </p:txBody>
      </p:sp>
      <p:sp>
        <p:nvSpPr>
          <p:cNvPr id="33" name="Shape 26"/>
          <p:cNvSpPr/>
          <p:nvPr/>
        </p:nvSpPr>
        <p:spPr>
          <a:xfrm>
            <a:off x="5321808" y="2834640"/>
            <a:ext cx="2267712" cy="1353312"/>
          </a:xfrm>
          <a:prstGeom prst="roundRect">
            <a:avLst>
              <a:gd name="adj" fmla="val 4054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449824" y="2962656"/>
            <a:ext cx="402336" cy="402336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pic>
        <p:nvPicPr>
          <p:cNvPr id="35" name="Image 5" descr="icons/barcha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0408" y="3063240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943600" y="29809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集計・報告・FAQ</a:t>
            </a:r>
            <a:endParaRPr lang="en-US" sz="980" dirty="0"/>
          </a:p>
        </p:txBody>
      </p:sp>
      <p:sp>
        <p:nvSpPr>
          <p:cNvPr id="37" name="Text 29"/>
          <p:cNvSpPr txBox="1"/>
          <p:nvPr/>
        </p:nvSpPr>
        <p:spPr>
          <a:xfrm>
            <a:off x="5449824" y="345643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報告はAIが下書きし、承認後にMicrosoft Outlookで配信。QAからFAQも自動作成</a:t>
            </a:r>
            <a:endParaRPr lang="en-US" sz="820" dirty="0"/>
          </a:p>
        </p:txBody>
      </p:sp>
      <p:sp>
        <p:nvSpPr>
          <p:cNvPr id="38" name="Shape 30"/>
          <p:cNvSpPr/>
          <p:nvPr/>
        </p:nvSpPr>
        <p:spPr>
          <a:xfrm>
            <a:off x="457200" y="4370832"/>
            <a:ext cx="22677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566928" y="4407408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7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40" name="Text 32"/>
          <p:cNvSpPr txBox="1"/>
          <p:nvPr/>
        </p:nvSpPr>
        <p:spPr>
          <a:xfrm>
            <a:off x="1298448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すでにできている</a:t>
            </a:r>
            <a:endParaRPr lang="en-US" sz="930" dirty="0"/>
          </a:p>
        </p:txBody>
      </p:sp>
      <p:sp>
        <p:nvSpPr>
          <p:cNvPr id="41" name="Text 33"/>
          <p:cNvSpPr txBox="1"/>
          <p:nvPr/>
        </p:nvSpPr>
        <p:spPr>
          <a:xfrm>
            <a:off x="1298448" y="4800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ログイン・警告通知は設定のみ</a:t>
            </a:r>
            <a:endParaRPr lang="en-US" sz="780" dirty="0"/>
          </a:p>
        </p:txBody>
      </p:sp>
      <p:sp>
        <p:nvSpPr>
          <p:cNvPr id="42" name="Shape 34"/>
          <p:cNvSpPr/>
          <p:nvPr/>
        </p:nvSpPr>
        <p:spPr>
          <a:xfrm>
            <a:off x="2889504" y="4370832"/>
            <a:ext cx="22677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2999232" y="4407408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400" dirty="0"/>
          </a:p>
        </p:txBody>
      </p:sp>
      <p:sp>
        <p:nvSpPr>
          <p:cNvPr id="44" name="Text 36"/>
          <p:cNvSpPr txBox="1"/>
          <p:nvPr/>
        </p:nvSpPr>
        <p:spPr>
          <a:xfrm>
            <a:off x="3730752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調整でできる</a:t>
            </a:r>
            <a:endParaRPr lang="en-US" sz="930" dirty="0"/>
          </a:p>
        </p:txBody>
      </p:sp>
      <p:sp>
        <p:nvSpPr>
          <p:cNvPr id="45" name="Text 37"/>
          <p:cNvSpPr txBox="1"/>
          <p:nvPr/>
        </p:nvSpPr>
        <p:spPr>
          <a:xfrm>
            <a:off x="3730752" y="4800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判定・分析・画面の土台を流用</a:t>
            </a:r>
            <a:endParaRPr lang="en-US" sz="780" dirty="0"/>
          </a:p>
        </p:txBody>
      </p:sp>
      <p:sp>
        <p:nvSpPr>
          <p:cNvPr id="46" name="Shape 38"/>
          <p:cNvSpPr/>
          <p:nvPr/>
        </p:nvSpPr>
        <p:spPr>
          <a:xfrm>
            <a:off x="5321808" y="4370832"/>
            <a:ext cx="22677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5431536" y="4407408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9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48" name="Text 40"/>
          <p:cNvSpPr txBox="1"/>
          <p:nvPr/>
        </p:nvSpPr>
        <p:spPr>
          <a:xfrm>
            <a:off x="6163056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新しく作る</a:t>
            </a:r>
            <a:endParaRPr lang="en-US" sz="930" dirty="0"/>
          </a:p>
        </p:txBody>
      </p:sp>
      <p:sp>
        <p:nvSpPr>
          <p:cNvPr id="49" name="Text 41"/>
          <p:cNvSpPr txBox="1"/>
          <p:nvPr/>
        </p:nvSpPr>
        <p:spPr>
          <a:xfrm>
            <a:off x="6163056" y="4800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入力画面・割り振り・作業ボード</a:t>
            </a:r>
            <a:endParaRPr lang="en-US" sz="780" dirty="0"/>
          </a:p>
        </p:txBody>
      </p:sp>
      <p:sp>
        <p:nvSpPr>
          <p:cNvPr id="50" name="Shape 42"/>
          <p:cNvSpPr/>
          <p:nvPr/>
        </p:nvSpPr>
        <p:spPr>
          <a:xfrm>
            <a:off x="7772400" y="1371600"/>
            <a:ext cx="3959352" cy="2011680"/>
          </a:xfrm>
          <a:prstGeom prst="roundRect">
            <a:avLst>
              <a:gd name="adj" fmla="val 2727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79552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対象範囲</a:t>
            </a:r>
            <a:endParaRPr lang="en-US" sz="1100" dirty="0"/>
          </a:p>
        </p:txBody>
      </p:sp>
      <p:sp>
        <p:nvSpPr>
          <p:cNvPr id="52" name="Text 44"/>
          <p:cNvSpPr txBox="1"/>
          <p:nvPr/>
        </p:nvSpPr>
        <p:spPr>
          <a:xfrm>
            <a:off x="8010144" y="1773936"/>
            <a:ext cx="36118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日報・チケット・作業計画（WBS）・報告書を一体で扱う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b="1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QA（質問対応）を追加 ― たまった質問と回答からAIがFAQを自動作成・更新。同じ質問への対応が減る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支店の事務業務への展開も同じ仕組み。ファイル添付はMicrosoft SharePoint／Teamsの保管場所と連携</a:t>
            </a:r>
            <a:endParaRPr lang="en-US" sz="890" dirty="0"/>
          </a:p>
        </p:txBody>
      </p:sp>
      <p:sp>
        <p:nvSpPr>
          <p:cNvPr id="53" name="Shape 45"/>
          <p:cNvSpPr/>
          <p:nvPr/>
        </p:nvSpPr>
        <p:spPr>
          <a:xfrm>
            <a:off x="7772400" y="3520440"/>
            <a:ext cx="3959352" cy="1874520"/>
          </a:xfrm>
          <a:prstGeom prst="roundRect">
            <a:avLst>
              <a:gd name="adj" fmla="val 2927"/>
            </a:avLst>
          </a:prstGeom>
          <a:solidFill>
            <a:srgbClr val="FBF1D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795528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進め方（3ステップ）</a:t>
            </a:r>
            <a:endParaRPr lang="en-US" sz="1100" dirty="0"/>
          </a:p>
        </p:txBody>
      </p:sp>
      <p:sp>
        <p:nvSpPr>
          <p:cNvPr id="55" name="Text 47"/>
          <p:cNvSpPr txBox="1"/>
          <p:nvPr/>
        </p:nvSpPr>
        <p:spPr>
          <a:xfrm>
            <a:off x="8010144" y="3922776"/>
            <a:ext cx="36118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つなぐ：ログイン・警告通知を設定で接続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作る：入力画面・割り振りの頭脳・作業ボード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合わせる：判定・分析を現場向けに調整</a:t>
            </a:r>
            <a:endParaRPr lang="en-US" sz="890" dirty="0"/>
          </a:p>
        </p:txBody>
      </p:sp>
      <p:sp>
        <p:nvSpPr>
          <p:cNvPr id="56" name="Shape 48"/>
          <p:cNvSpPr/>
          <p:nvPr/>
        </p:nvSpPr>
        <p:spPr>
          <a:xfrm>
            <a:off x="457200" y="5541264"/>
            <a:ext cx="11274552" cy="402336"/>
          </a:xfrm>
          <a:prstGeom prst="roundRect">
            <a:avLst>
              <a:gd name="adj" fmla="val 13636"/>
            </a:avLst>
          </a:prstGeom>
          <a:solidFill>
            <a:srgbClr val="FBF1DF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658368" y="554126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作る量は最少：</a:t>
            </a:r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16機能中11は既存基盤がそのまま使える（別紙：適合評価）― 開発は「チケットの中身」に集中。だから1名・最短で完遂できる</a:t>
            </a:r>
            <a:endParaRPr lang="en-US" sz="1000" dirty="0"/>
          </a:p>
        </p:txBody>
      </p:sp>
      <p:sp>
        <p:nvSpPr>
          <p:cNvPr id="58" name="Shape 50"/>
          <p:cNvSpPr/>
          <p:nvPr/>
        </p:nvSpPr>
        <p:spPr>
          <a:xfrm>
            <a:off x="457200" y="603504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457200" y="603504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社内：上級（FDE High）1名（守屋）単独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｜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期間：0.5〜1か月（0.5〜1人月）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｜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LayerX：参画なし（作る量が最少）</a:t>
            </a:r>
            <a:endParaRPr lang="en-US" sz="1050" dirty="0"/>
          </a:p>
        </p:txBody>
      </p:sp>
      <p:sp>
        <p:nvSpPr>
          <p:cNvPr id="60" name="Text 5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テクノプログループ AI CoE ｜ IT審査会議資料 ｜ 社内限定</a:t>
            </a:r>
            <a:endParaRPr lang="en-US" sz="850" dirty="0"/>
          </a:p>
        </p:txBody>
      </p:sp>
      <p:sp>
        <p:nvSpPr>
          <p:cNvPr id="61" name="Text 53"/>
          <p:cNvSpPr txBox="1"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P4　暗黙知・技術継承システム ― 社内で作り、実測し、顧客に販売するセットとして開発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「なぜそう判断したか」をAIが対話で聞き取り、根拠つきの知識として次世代へ。同じ課題を抱える顧客の開発組織へ、環境ごと販売する商品でもある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430000" y="256032"/>
            <a:ext cx="365760" cy="365760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5136" y="23774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しくみ ― 処理とデータの流れ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078992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ねらい・ポイント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132320" cy="713232"/>
          </a:xfrm>
          <a:prstGeom prst="roundRect">
            <a:avLst>
              <a:gd name="adj" fmla="val 7692"/>
            </a:avLst>
          </a:prstGeom>
          <a:solidFill>
            <a:srgbClr val="EFE9FA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508760"/>
            <a:ext cx="438912" cy="438912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pic>
        <p:nvPicPr>
          <p:cNvPr id="10" name="Image 0" descr="icons/m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18488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137160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現場を収録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1408176"/>
            <a:ext cx="4279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設計レビューや障害対応の音声・画面をその場で記録。本人の同意が前提 ― 書かせない、話す・見せるだけ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457200" y="2176272"/>
            <a:ext cx="7132320" cy="713232"/>
          </a:xfrm>
          <a:prstGeom prst="roundRect">
            <a:avLst>
              <a:gd name="adj" fmla="val 7692"/>
            </a:avLst>
          </a:prstGeom>
          <a:solidFill>
            <a:srgbClr val="EFE9FA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" y="2313432"/>
            <a:ext cx="438912" cy="438912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pic>
        <p:nvPicPr>
          <p:cNvPr id="15" name="Image 1" descr="icons/messa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23160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88720" y="217627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AIが聞き取る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3200400" y="2212848"/>
            <a:ext cx="4279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AIが質問を組み立て、リアルタイムに「なぜ・何を見て判断したか」を深掘り。現場を知る担当者が間に立つ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457200" y="2980944"/>
            <a:ext cx="7132320" cy="713232"/>
          </a:xfrm>
          <a:prstGeom prst="roundRect">
            <a:avLst>
              <a:gd name="adj" fmla="val 7692"/>
            </a:avLst>
          </a:prstGeom>
          <a:solidFill>
            <a:srgbClr val="EFE9FA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3504" y="3118104"/>
            <a:ext cx="438912" cy="438912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pic>
        <p:nvPicPr>
          <p:cNvPr id="20" name="Image 2" descr="icons/gri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2783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88720" y="298094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知識に整理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3200400" y="3017520"/>
            <a:ext cx="4279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判断・手掛かり・例外を1件ずつ整理し、業界の物理法則・因果関係・統計の型と照合して確からしさを高める</a:t>
            </a:r>
            <a:endParaRPr lang="en-US" sz="840" dirty="0"/>
          </a:p>
        </p:txBody>
      </p:sp>
      <p:sp>
        <p:nvSpPr>
          <p:cNvPr id="23" name="Shape 18"/>
          <p:cNvSpPr/>
          <p:nvPr/>
        </p:nvSpPr>
        <p:spPr>
          <a:xfrm>
            <a:off x="457200" y="3785616"/>
            <a:ext cx="7132320" cy="713232"/>
          </a:xfrm>
          <a:prstGeom prst="roundRect">
            <a:avLst>
              <a:gd name="adj" fmla="val 7692"/>
            </a:avLst>
          </a:prstGeom>
          <a:solidFill>
            <a:srgbClr val="FBF1D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03504" y="3922776"/>
            <a:ext cx="438912" cy="438912"/>
          </a:xfrm>
          <a:prstGeom prst="ellipse">
            <a:avLst/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pic>
        <p:nvPicPr>
          <p:cNvPr id="25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032504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188720" y="3785616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本人と責任者が承認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3200400" y="3822192"/>
            <a:ext cx="4279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内容を本人が確認・修正し、責任者が承認したものだけを配信。誤った伝承を仕組みで止める</a:t>
            </a:r>
            <a:endParaRPr lang="en-US" sz="840" dirty="0"/>
          </a:p>
        </p:txBody>
      </p:sp>
      <p:sp>
        <p:nvSpPr>
          <p:cNvPr id="28" name="Shape 22"/>
          <p:cNvSpPr/>
          <p:nvPr/>
        </p:nvSpPr>
        <p:spPr>
          <a:xfrm>
            <a:off x="457200" y="4590288"/>
            <a:ext cx="7132320" cy="713232"/>
          </a:xfrm>
          <a:prstGeom prst="roundRect">
            <a:avLst>
              <a:gd name="adj" fmla="val 7692"/>
            </a:avLst>
          </a:prstGeom>
          <a:solidFill>
            <a:srgbClr val="EFE9FA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03504" y="4727448"/>
            <a:ext cx="438912" cy="438912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pic>
        <p:nvPicPr>
          <p:cNvPr id="30" name="Image 4" descr="icons/m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837176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188720" y="459028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知識の地図へ登録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3200400" y="4626864"/>
            <a:ext cx="4279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共通の土台（P2）に格納し、全社で検索・活用。技術が古くなれば自動で引退させ、鮮度を保つ</a:t>
            </a:r>
            <a:endParaRPr lang="en-US" sz="840" dirty="0"/>
          </a:p>
        </p:txBody>
      </p:sp>
      <p:sp>
        <p:nvSpPr>
          <p:cNvPr id="33" name="Shape 26"/>
          <p:cNvSpPr/>
          <p:nvPr/>
        </p:nvSpPr>
        <p:spPr>
          <a:xfrm>
            <a:off x="7772400" y="1371600"/>
            <a:ext cx="3959352" cy="2011680"/>
          </a:xfrm>
          <a:prstGeom prst="roundRect">
            <a:avLst>
              <a:gd name="adj" fmla="val 2727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9552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なぜ、いま作るのか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8010144" y="1773936"/>
            <a:ext cx="36118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b="1" dirty="0">
                <a:solidFill>
                  <a:srgbClr val="6B4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「道具は後から買えるが、退職した頭の中は買い戻せない」― 着手順は失われるのが早い順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若手は根拠（元の録画・記録）まで遡って確認でき、独り立ちが早まる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教える側の負担は面談の時間だけ。文書化の手間を求めない</a:t>
            </a:r>
            <a:endParaRPr lang="en-US" sz="890" dirty="0"/>
          </a:p>
        </p:txBody>
      </p:sp>
      <p:sp>
        <p:nvSpPr>
          <p:cNvPr id="36" name="Shape 29"/>
          <p:cNvSpPr/>
          <p:nvPr/>
        </p:nvSpPr>
        <p:spPr>
          <a:xfrm>
            <a:off x="7772400" y="3520440"/>
            <a:ext cx="3959352" cy="1874520"/>
          </a:xfrm>
          <a:prstGeom prst="roundRect">
            <a:avLst>
              <a:gd name="adj" fmla="val 2927"/>
            </a:avLst>
          </a:prstGeom>
          <a:solidFill>
            <a:srgbClr val="EFE9FA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795528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安心して協力できる約束ごと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8010144" y="3922776"/>
            <a:ext cx="36118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収録は本人同意の範囲のみ。人事評価には使わないことを制度として明文化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記録の閲覧範囲も本人が決める ― 制度と仕組みの二重の担保</a:t>
            </a:r>
            <a:endParaRPr lang="en-US" sz="890" dirty="0"/>
          </a:p>
        </p:txBody>
      </p:sp>
      <p:sp>
        <p:nvSpPr>
          <p:cNvPr id="39" name="Shape 32"/>
          <p:cNvSpPr/>
          <p:nvPr/>
        </p:nvSpPr>
        <p:spPr>
          <a:xfrm>
            <a:off x="457200" y="5541264"/>
            <a:ext cx="11274552" cy="402336"/>
          </a:xfrm>
          <a:prstGeom prst="roundRect">
            <a:avLst>
              <a:gd name="adj" fmla="val 13636"/>
            </a:avLst>
          </a:prstGeom>
          <a:solidFill>
            <a:srgbClr val="FBF1DF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58368" y="554126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商品化：</a:t>
            </a:r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この一式（収録・AI面談・知識の型・承認の仕組み）を実測データ付きで顧客の開発組織へ販売 ― 社内が第1号ユーザー。日立製作所様・NEC様へ同型の提案を提出済み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457200" y="603504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457200" y="603504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社内：上級1（守屋）＋現場専門家（面談協力）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｜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期間：2〜3か月（4〜9人月）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｜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LayerX：上級（FDE High）級エンジニア1〜2名</a:t>
            </a:r>
            <a:endParaRPr lang="en-US" sz="1050" dirty="0"/>
          </a:p>
        </p:txBody>
      </p:sp>
      <p:sp>
        <p:nvSpPr>
          <p:cNvPr id="43" name="Text 3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テクノプログループ AI CoE ｜ IT審査会議資料 ｜ 社内限定</a:t>
            </a:r>
            <a:endParaRPr lang="en-US" sz="850" dirty="0"/>
          </a:p>
        </p:txBody>
      </p:sp>
      <p:sp>
        <p:nvSpPr>
          <p:cNvPr id="44" name="Text 37"/>
          <p:cNvSpPr txBox="1"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P5　顧客・営業・技術者DB × 教育データ ― 顧客・案件・体制がリアルタイムに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営業・技術者に教育データ（P1）を組み合わせ「誰が・何ができて・どこで稼働中か」を常に最新に。将来は経理・会計を接続し、全社の「データハブ」へ育てる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430000" y="256032"/>
            <a:ext cx="365760" cy="365760"/>
          </a:xfrm>
          <a:prstGeom prst="ellipse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5136" y="23774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しくみ ― 処理とデータの流れ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078992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ねらい・ポイント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286000" cy="1207008"/>
          </a:xfrm>
          <a:prstGeom prst="roundRect">
            <a:avLst>
              <a:gd name="adj" fmla="val 4545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記録のシステム群</a:t>
            </a:r>
            <a:endParaRPr lang="en-US" sz="98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92024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案件・勤怠・契約・会計／文書（Microsoft SharePoint）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798064" y="1856232"/>
            <a:ext cx="274320" cy="237744"/>
          </a:xfrm>
          <a:prstGeom prst="right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43200"/>
            <a:ext cx="2286000" cy="1207008"/>
          </a:xfrm>
          <a:prstGeom prst="roundRect">
            <a:avLst>
              <a:gd name="adj" fmla="val 4545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接点のシステム群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29184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営業・マイページ・スカウト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798064" y="3227832"/>
            <a:ext cx="274320" cy="237744"/>
          </a:xfrm>
          <a:prstGeom prst="right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114800"/>
            <a:ext cx="2286000" cy="1207008"/>
          </a:xfrm>
          <a:prstGeom prst="roundRect">
            <a:avLst>
              <a:gd name="adj" fmla="val 4545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現場から自動で集まる記録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66344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教育・認定（P1）／日報・QA（P3）／継承知識（P4）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798064" y="4599432"/>
            <a:ext cx="274320" cy="237744"/>
          </a:xfrm>
          <a:prstGeom prst="right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45536" y="1371600"/>
            <a:ext cx="1554480" cy="3950208"/>
          </a:xfrm>
          <a:prstGeom prst="roundRect">
            <a:avLst>
              <a:gd name="adj" fmla="val 3529"/>
            </a:avLst>
          </a:prstGeom>
          <a:solidFill>
            <a:srgbClr val="EEF3FC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45536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集約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255264" y="320040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共通の置き場に集め、形式を揃える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4754880" y="3200400"/>
            <a:ext cx="274320" cy="237744"/>
          </a:xfrm>
          <a:prstGeom prst="rightArrow">
            <a:avLst/>
          </a:prstGeom>
          <a:solidFill>
            <a:srgbClr val="B9C4D8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02352" y="1371600"/>
            <a:ext cx="1965960" cy="3950208"/>
          </a:xfrm>
          <a:prstGeom prst="roundRect">
            <a:avLst>
              <a:gd name="adj" fmla="val 2791"/>
            </a:avLst>
          </a:prstGeom>
          <a:solidFill>
            <a:srgbClr val="E9EDF9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1444752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65976" y="14264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102352" y="2743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意味づけ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230368" y="310896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共通辞書と知識の地図（P2・Mphasis製品）で、人・案件・技術・実績を関係づける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132320" y="3200400"/>
            <a:ext cx="384048" cy="27432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1371600"/>
            <a:ext cx="3959352" cy="2514600"/>
          </a:xfrm>
          <a:prstGeom prst="roundRect">
            <a:avLst>
              <a:gd name="adj" fmla="val 2182"/>
            </a:avLst>
          </a:prstGeom>
          <a:solidFill>
            <a:srgbClr val="FBF1D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36992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 ― 顧客・案件・体制がリアルタイムに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36992" y="1828800"/>
            <a:ext cx="868680" cy="548640"/>
          </a:xfrm>
          <a:prstGeom prst="roundRect">
            <a:avLst>
              <a:gd name="adj" fmla="val 8333"/>
            </a:avLst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36992" y="1828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</a:t>
            </a:r>
            <a:endParaRPr lang="en-US" sz="880" dirty="0"/>
          </a:p>
        </p:txBody>
      </p:sp>
      <p:sp>
        <p:nvSpPr>
          <p:cNvPr id="34" name="Text 32"/>
          <p:cNvSpPr txBox="1"/>
          <p:nvPr/>
        </p:nvSpPr>
        <p:spPr>
          <a:xfrm>
            <a:off x="8887968" y="180136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顧客・案件・体制の「今」を一画面で確認し、その場で決める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7936992" y="2505456"/>
            <a:ext cx="868680" cy="548640"/>
          </a:xfrm>
          <a:prstGeom prst="roundRect">
            <a:avLst>
              <a:gd name="adj" fmla="val 8333"/>
            </a:avLst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36992" y="250545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</a:t>
            </a:r>
            <a:endParaRPr lang="en-US" sz="880" dirty="0"/>
          </a:p>
        </p:txBody>
      </p:sp>
      <p:sp>
        <p:nvSpPr>
          <p:cNvPr id="37" name="Text 35"/>
          <p:cNvSpPr txBox="1"/>
          <p:nvPr/>
        </p:nvSpPr>
        <p:spPr>
          <a:xfrm>
            <a:off x="8887968" y="247802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認定・実績（教育データ）を根拠に、案件に合う技術者を即答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7936992" y="3182112"/>
            <a:ext cx="868680" cy="548640"/>
          </a:xfrm>
          <a:prstGeom prst="roundRect">
            <a:avLst>
              <a:gd name="adj" fmla="val 8333"/>
            </a:avLst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36992" y="318211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人事・経理</a:t>
            </a:r>
            <a:endParaRPr lang="en-US" sz="880" dirty="0"/>
          </a:p>
        </p:txBody>
      </p:sp>
      <p:sp>
        <p:nvSpPr>
          <p:cNvPr id="40" name="Text 38"/>
          <p:cNvSpPr txBox="1"/>
          <p:nvPr/>
        </p:nvSpPr>
        <p:spPr>
          <a:xfrm>
            <a:off x="8887968" y="31546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認定・単価・請求のつながりを自動で突き合わせ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7772400" y="4023360"/>
            <a:ext cx="3959352" cy="1371600"/>
          </a:xfrm>
          <a:prstGeom prst="roundRect">
            <a:avLst>
              <a:gd name="adj" fmla="val 4000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5528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着手の条件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010144" y="4425696"/>
            <a:ext cx="3611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P1〜P4の実施後に着手（データを束ねる「仕上げ」）。企画・構想・設計は済み</a:t>
            </a:r>
            <a:endParaRPr lang="en-US" sz="89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89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基幹は書き換えず、読み取り連携から ― 業務を止めない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457200" y="5541264"/>
            <a:ext cx="11274552" cy="402336"/>
          </a:xfrm>
          <a:prstGeom prst="roundRect">
            <a:avLst>
              <a:gd name="adj" fmla="val 13636"/>
            </a:avLst>
          </a:prstGeom>
          <a:solidFill>
            <a:srgbClr val="FBF1DF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58368" y="554126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将来構想＝データハブ：</a:t>
            </a:r>
            <a:pPr indent="0" marL="0">
              <a:buNone/>
            </a:pPr>
            <a:r>
              <a:rPr lang="en-US" sz="93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経理・会計システムを接続し、受注→稼働→請求→会計が一本の線でつながる全社共通の置き場に育てる ― 数字の付け合わせ作業が消える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603504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7200" y="603504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社内：上級（FDE High）1名（守屋）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｜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期間：2〜3か月（4〜9人月）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｜　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LayerX：上級（FDE High）級エンジニア1〜2名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テクノプログループ AI CoE ｜ IT審査会議資料 ｜ 社内限定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 ― 必要な人材の水準・人数・期間（社内スキル規格と工数計算式に基づく算定）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人材の水準は社内スキル規格（488技能・7段位、米国O*NET準拠）で定義。工数は段位別の生産性とAIによる効率化を織り込んだ概算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291840" cy="4754880"/>
          </a:xfrm>
          <a:prstGeom prst="roundRect">
            <a:avLst>
              <a:gd name="adj" fmla="val 1667"/>
            </a:avLst>
          </a:prstGeom>
          <a:solidFill>
            <a:srgbClr val="EEF3FC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98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人材の「ものさし」＝ 認定段位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" y="1664208"/>
            <a:ext cx="297180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上級（FDE High）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299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全体の構造を設計し、チームを率いる最上位の開発段位（生産性2.2倍）。本計画の開発要員は社内・LayerXとも全員この水準 ― 守屋と同水準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21792" y="3035808"/>
            <a:ext cx="297180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現場の専門家（ドメイン上級）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015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現場知識を体系化し、AI適用の可否を判断できる段位。P4に面談協力として参加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21792" y="4407408"/>
            <a:ext cx="297180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498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（参考）その他の段位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7731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S1〜S5・中核（FDE Low）等の7段位で全社人材を定義 ― その認定を担うのがP1教育システム</a:t>
            </a:r>
            <a:endParaRPr lang="en-US" sz="86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76072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生産性倍率は工数計算式（別紙③）の係数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170432"/>
          <a:ext cx="775411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154680"/>
                <a:gridCol w="868680"/>
                <a:gridCol w="1033272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プロジェクト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必要な人材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エンジニア計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期間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概算工数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P1 教育システム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社内：上級（FDE High）1（守屋）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LayerX：上級（FDE High）級エンジニア1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2〜4人月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P2 基盤システム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社内：上級（FDE High）1（守屋）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LayerX：上級（FDE High）級エンジニア1〜2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2〜3名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2〜3か月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4〜9人月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P3 AI-Ops基盤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社内：上級（FDE High）1（守屋）単独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LayerX：参画なし（作る量が最少のため）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0.5〜1か月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0.5〜1人月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P4 暗黙知の継承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社内：上級1（守屋）＋現場専門家（面談協力）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LayerX：上級（FDE High）級エンジニア1〜2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2〜3名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2〜3か月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4〜9人月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P5 データベース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社内：上級（FDE High）1（守屋・課題整理兼務）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LayerX：上級（FDE High）級エンジニア1〜2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2〜3名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2〜3か月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4〜9人月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開発要員は全員 上級（FDE High）級 ― 社内：守屋1／LayerX：エンジニア1〜2（P3除く4PJ）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ピーク3名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約12か月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15〜32人月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977640" y="5440680"/>
            <a:ext cx="7754112" cy="804672"/>
          </a:xfrm>
          <a:prstGeom prst="roundRect">
            <a:avLst>
              <a:gd name="adj" fmla="val 6818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160520" y="5440680"/>
            <a:ext cx="7406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算定の考え方：</a:t>
            </a:r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開発要員は全員、当社段位「上級（FDE High）」級＝守屋と同水準で構成（原案の想定どおり）。人数・工数はLayerXエンジニアを含む全体。工数計算式（別紙③・生産性2.2倍/AI効率化/稼働率85%）の概算で、費用は社内分＝人件費・LayerX分＝委託費に区分（P.13）。プロジェクト管理は当社（守屋）</a:t>
            </a:r>
            <a:endParaRPr lang="en-US" sz="92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テクノプログループ AI CoE ｜ IT審査会議資料 ｜ 社内限定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スケジュール ― 約12か月。節目ごとに「動くもの」を確認してから、次へ進む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土台（P2）と早く効く2件（P1・P3）を先行し、継承（P4）・データベース（P5）を順に積み上げる。各節目で継続可否を判断する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926080" y="1078992"/>
            <a:ext cx="906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017520" y="1371600"/>
            <a:ext cx="0" cy="416052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49980" y="1078992"/>
            <a:ext cx="906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741420" y="1371600"/>
            <a:ext cx="0" cy="416052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3880" y="1078992"/>
            <a:ext cx="906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65320" y="1371600"/>
            <a:ext cx="0" cy="416052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97780" y="1078992"/>
            <a:ext cx="906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89220" y="1371600"/>
            <a:ext cx="0" cy="416052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21680" y="1078992"/>
            <a:ext cx="906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13120" y="1371600"/>
            <a:ext cx="0" cy="416052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45580" y="1078992"/>
            <a:ext cx="906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37020" y="1371600"/>
            <a:ext cx="0" cy="416052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9480" y="1078992"/>
            <a:ext cx="906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60920" y="1371600"/>
            <a:ext cx="0" cy="416052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93380" y="1078992"/>
            <a:ext cx="906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84820" y="1371600"/>
            <a:ext cx="0" cy="416052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17280" y="1078992"/>
            <a:ext cx="906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808720" y="1371600"/>
            <a:ext cx="0" cy="416052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41180" y="1078992"/>
            <a:ext cx="906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32620" y="1371600"/>
            <a:ext cx="0" cy="416052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65080" y="1078992"/>
            <a:ext cx="906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256520" y="1371600"/>
            <a:ext cx="0" cy="416052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888980" y="1078992"/>
            <a:ext cx="906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980420" y="1371600"/>
            <a:ext cx="0" cy="416052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04320" y="1371600"/>
            <a:ext cx="0" cy="416052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16002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P3 AI-Ops基盤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54096" y="1618488"/>
            <a:ext cx="650748" cy="365760"/>
          </a:xfrm>
          <a:prstGeom prst="roundRect">
            <a:avLst>
              <a:gd name="adj" fmla="val 15000"/>
            </a:avLst>
          </a:prstGeom>
          <a:solidFill>
            <a:srgbClr val="B97A1E"/>
          </a:solidFill>
          <a:ln w="12700">
            <a:solidFill>
              <a:srgbClr val="B97A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14572" y="160020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最短で成果を出す</a:t>
            </a:r>
            <a:endParaRPr lang="en-US" sz="86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25856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 教育システム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054096" y="2276856"/>
            <a:ext cx="1374648" cy="365760"/>
          </a:xfrm>
          <a:prstGeom prst="roundRect">
            <a:avLst>
              <a:gd name="adj" fmla="val 15000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38472" y="225856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12月から試行運用</a:t>
            </a:r>
            <a:endParaRPr lang="en-US" sz="86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29169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P2 基盤システム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777996" y="2935224"/>
            <a:ext cx="2098548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86272" y="291693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共通の土台を先に固める</a:t>
            </a:r>
            <a:endParaRPr lang="en-US" sz="86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57530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P4 暗黙知の継承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49696" y="3593592"/>
            <a:ext cx="2098548" cy="365760"/>
          </a:xfrm>
          <a:prstGeom prst="roundRect">
            <a:avLst>
              <a:gd name="adj" fmla="val 15000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57972" y="357530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土台の上に構築</a:t>
            </a:r>
            <a:endParaRPr lang="en-US" sz="86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2336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P5 データベース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121396" y="4251960"/>
            <a:ext cx="2098548" cy="365760"/>
          </a:xfrm>
          <a:prstGeom prst="roundRect">
            <a:avLst>
              <a:gd name="adj" fmla="val 15000"/>
            </a:avLst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329672" y="423367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P1〜P4のデータを束ねる</a:t>
            </a:r>
            <a:endParaRPr lang="en-US" sz="86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8920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定着・改善・引き継ぎ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293096" y="4910328"/>
            <a:ext cx="1374648" cy="365760"/>
          </a:xfrm>
          <a:prstGeom prst="roundRect">
            <a:avLst>
              <a:gd name="adj" fmla="val 15000"/>
            </a:avLst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7520" y="5623560"/>
            <a:ext cx="8686800" cy="0"/>
          </a:xfrm>
          <a:prstGeom prst="line">
            <a:avLst/>
          </a:prstGeom>
          <a:noFill/>
          <a:ln w="12700">
            <a:solidFill>
              <a:srgbClr val="D5DD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83024" y="5541264"/>
            <a:ext cx="164592" cy="164592"/>
          </a:xfrm>
          <a:prstGeom prst="diamond">
            <a:avLst/>
          </a:prstGeom>
          <a:solidFill>
            <a:srgbClr val="E8A33D"/>
          </a:solidFill>
          <a:ln w="9525">
            <a:solidFill>
              <a:srgbClr val="B97A1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779520" y="5760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教育の試行開始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5541264" y="5541264"/>
            <a:ext cx="164592" cy="164592"/>
          </a:xfrm>
          <a:prstGeom prst="diamond">
            <a:avLst/>
          </a:prstGeom>
          <a:solidFill>
            <a:srgbClr val="E8A33D"/>
          </a:solidFill>
          <a:ln w="9525">
            <a:solidFill>
              <a:srgbClr val="B97A1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937760" y="5760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共通土台の稼働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7712964" y="5541264"/>
            <a:ext cx="164592" cy="164592"/>
          </a:xfrm>
          <a:prstGeom prst="diamond">
            <a:avLst/>
          </a:prstGeom>
          <a:solidFill>
            <a:srgbClr val="E8A33D"/>
          </a:solidFill>
          <a:ln w="9525">
            <a:solidFill>
              <a:srgbClr val="B97A1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109460" y="5760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継承の試行開始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9884664" y="5541264"/>
            <a:ext cx="164592" cy="164592"/>
          </a:xfrm>
          <a:prstGeom prst="diamond">
            <a:avLst/>
          </a:prstGeom>
          <a:solidFill>
            <a:srgbClr val="E8A33D"/>
          </a:solidFill>
          <a:ln w="9525">
            <a:solidFill>
              <a:srgbClr val="B97A1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281160" y="5760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データベース連携</a:t>
            </a:r>
            <a:endParaRPr lang="en-US" sz="86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5650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節目（動くものを確認して次へ）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627278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先行条件：P4の収録開始は労使合意・本人同意ルールの整備後（2026年内に着手）／外販は成果物の権利整理（LayerX・顧客）の完了後。第2弾（P4・P5）の予算執行は節目1の実測後に判断</a:t>
            </a:r>
            <a:endParaRPr lang="en-US" sz="82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テクノプログループ AI CoE ｜ IT審査会議資料 ｜ 社内限定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投資と採算 ― 初年度 約1,400〜4,000万円を二段階で執行。回収は1〜1.5年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第1弾（P1〜P3）を先行し、第2弾（P4・P5）は実測を見て執行を判断する。回収は保守的に社内効果のみで判定し、単価加算・外販は算入しない上振れ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投資（初年度・概算）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257800" cy="822960"/>
          </a:xfrm>
          <a:prstGeom prst="roundRect">
            <a:avLst>
              <a:gd name="adj" fmla="val 6667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協力企業（LayerX・P3を除く4PJ共同開発）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105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既存協業の実績単価から概算（1PJあたり300〜1,000万円規模）。見積りで確定し、超過は範囲縮小＋再審議</a:t>
            </a:r>
            <a:endParaRPr lang="en-US" sz="86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4630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概算 1,000〜3,000万円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5257800" cy="822960"/>
          </a:xfrm>
          <a:prstGeom prst="roundRect">
            <a:avLst>
              <a:gd name="adj" fmla="val 6667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クラウド・AI利用料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743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AWS（Amazon Web Services）従量制＋Mphasis「Ontosphere」利用料。上限を設定し常時見える化</a:t>
            </a:r>
            <a:endParaRPr lang="en-US" sz="86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39572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 約360〜960万円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5257800" cy="822960"/>
          </a:xfrm>
          <a:prstGeom prst="roundRect">
            <a:avLst>
              <a:gd name="adj" fmla="val 6667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32841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社内工数は計上しない：</a:t>
            </a:r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守屋（約6〜12人月）は現行職務の範囲内のため追加費用に含めない。追加のキャッシュはLayerX委託費とクラウド利用料のみ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315968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431596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合計目安：約1,400〜4,000万円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47000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決裁済みAI基盤を土台に増分のみ。二段階執行で上限まで使う前に判断が入る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11155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回収（3本の柱）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5742432" cy="1042416"/>
          </a:xfrm>
          <a:prstGeom prst="roundRect">
            <a:avLst>
              <a:gd name="adj" fmla="val 5263"/>
            </a:avLst>
          </a:prstGeom>
          <a:solidFill>
            <a:srgbClr val="E6F2F2"/>
          </a:solidFill>
          <a:ln w="9525">
            <a:solidFill>
              <a:srgbClr val="2C7A7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15453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社内の効率化（回収の主軸・算入）</a:t>
            </a:r>
            <a:endParaRPr lang="en-US" sz="108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1847088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開発職20名の生産性15〜25%向上 ≒ 年2,300〜3,900万円（決裁済みの試算と同一前提）。加えて50案件の報告作業が2〜3営業日→24時間以内に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989320" y="2633472"/>
            <a:ext cx="5742432" cy="1042416"/>
          </a:xfrm>
          <a:prstGeom prst="roundRect">
            <a:avLst>
              <a:gd name="adj" fmla="val 5263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27157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教育の内製化と、単価の「根拠」（上振れ）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301752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外部研修費を圧縮し、認定×実測が単価加算（＋5〜10万円/月/人）の交渉材料に ― 全社計画（決議対象）の実行装置になる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989320" y="3803904"/>
            <a:ext cx="5742432" cy="1042416"/>
          </a:xfrm>
          <a:prstGeom prst="roundRect">
            <a:avLst>
              <a:gd name="adj" fmla="val 5263"/>
            </a:avLst>
          </a:prstGeom>
          <a:solidFill>
            <a:srgbClr val="F7F9FD"/>
          </a:solidFill>
          <a:ln w="9525">
            <a:solidFill>
              <a:srgbClr val="D5DD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38862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9B2C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商品としての外販（上振れ）</a:t>
            </a:r>
            <a:endParaRPr lang="en-US" sz="108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4187952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P4継承セットとP2基盤を「AIが働く環境ごと」販売。「約3万人規模の当社が標準採用・展開中」の事実が最大の営業トーク ― 日立製作所様・NEC様への提案と同型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57200" y="5230368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FBF1DF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2303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B97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限ケース（4,000万円）でも①（年2,300〜3,900万円）＋独自効果（報告工数・研修費・付け合わせ工数の削減＝着手時に実測定義）で1.5年内に回収。第2弾（P4・P5）は節目1の実測が試算の7割以上のときだけ執行する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テクノプログループ AI CoE ｜ IT審査会議資料 ｜ 社内限定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138428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現場から経営まで、同じデータで同じ方向に動ける会社へ ― 約3万人規模の当社が標準採用するその環境が、商品になる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1133856"/>
          </a:xfrm>
          <a:prstGeom prst="roundRect">
            <a:avLst>
              <a:gd name="adj" fmla="val 4839"/>
            </a:avLst>
          </a:prstGeom>
          <a:solidFill>
            <a:srgbClr val="2A3575"/>
          </a:solidFill>
          <a:ln w="9525">
            <a:solidFill>
              <a:srgbClr val="3A46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47672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947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212848" y="1874520"/>
            <a:ext cx="36393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5つのプロジェクトを、一つのAI CoEエージェント基盤の上で ― 約12か月で構築し、二重投資を排除する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133856"/>
          </a:xfrm>
          <a:prstGeom prst="roundRect">
            <a:avLst>
              <a:gd name="adj" fmla="val 4839"/>
            </a:avLst>
          </a:prstGeom>
          <a:solidFill>
            <a:srgbClr val="2A3575"/>
          </a:solidFill>
          <a:ln w="9525">
            <a:solidFill>
              <a:srgbClr val="3A46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947672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28232" y="1947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836408" y="1874520"/>
            <a:ext cx="36393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開発要員は全員、上級（FDE High）級 ― 社内：守屋1名＋LayerX：エンジニア1〜2名（ピーク3名・P3は単独）。指揮・プロジェクト管理は当社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5349240" cy="1133856"/>
          </a:xfrm>
          <a:prstGeom prst="roundRect">
            <a:avLst>
              <a:gd name="adj" fmla="val 4839"/>
            </a:avLst>
          </a:prstGeom>
          <a:solidFill>
            <a:srgbClr val="2A3575"/>
          </a:solidFill>
          <a:ln w="9525">
            <a:solidFill>
              <a:srgbClr val="3A46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24612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3246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投資と採算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212848" y="3172968"/>
            <a:ext cx="36393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 約1,400〜4,000万円（LayerX委託費＋クラウド利用料。社内工数は計上せず）を二段階で執行。回収は保守的に1〜1.5年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263640" y="3081528"/>
            <a:ext cx="5349240" cy="1133856"/>
          </a:xfrm>
          <a:prstGeom prst="roundRect">
            <a:avLst>
              <a:gd name="adj" fmla="val 4839"/>
            </a:avLst>
          </a:prstGeom>
          <a:solidFill>
            <a:srgbClr val="2A3575"/>
          </a:solidFill>
          <a:ln w="9525">
            <a:solidFill>
              <a:srgbClr val="3A46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8232" y="324612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8232" y="3246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36408" y="3172968"/>
            <a:ext cx="36393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Anthropic「Claude Code」・Factory「Droid」が作り、人が確かめる。実行環境はAWS（Amazon Web Services）、知識基盤はMphasis「Ontosphere」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40080" y="4379976"/>
            <a:ext cx="5349240" cy="1133856"/>
          </a:xfrm>
          <a:prstGeom prst="roundRect">
            <a:avLst>
              <a:gd name="adj" fmla="val 4839"/>
            </a:avLst>
          </a:prstGeom>
          <a:solidFill>
            <a:srgbClr val="2A3575"/>
          </a:solidFill>
          <a:ln w="9525">
            <a:solidFill>
              <a:srgbClr val="3A46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4544568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544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規律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212848" y="4471416"/>
            <a:ext cx="36393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節目ごとに「動くもの」と実測で判断し、基準未達なら拡大せず止める。第2弾（P4・P5）の執行は節目1の実測後に決める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263640" y="4379976"/>
            <a:ext cx="5349240" cy="1133856"/>
          </a:xfrm>
          <a:prstGeom prst="roundRect">
            <a:avLst>
              <a:gd name="adj" fmla="val 4839"/>
            </a:avLst>
          </a:prstGeom>
          <a:solidFill>
            <a:srgbClr val="2A3575"/>
          </a:solidFill>
          <a:ln w="9525">
            <a:solidFill>
              <a:srgbClr val="3A46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28232" y="4544568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28232" y="4544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到達点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836408" y="4471416"/>
            <a:ext cx="36393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教育＝単価の根拠、継承＝販売する商品、DB＝経理・会計まで繋がるデータハブ ― 社内の実物が、そのまま顧客への提案になる</a:t>
            </a:r>
            <a:endParaRPr lang="en-US" sz="96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ご承認いただければ、10月に P2（共通の土台）と P3（AI-Ops）から着手します。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4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テクノプログループ AI CoE ｜ 2026年9月 ｜ 社内限定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2026-09-03T10:32:08Z</dcterms:created>
  <dcterms:modified xsi:type="dcterms:W3CDTF">2026-09-03T10:32:08Z</dcterms:modified>
</cp:coreProperties>
</file>