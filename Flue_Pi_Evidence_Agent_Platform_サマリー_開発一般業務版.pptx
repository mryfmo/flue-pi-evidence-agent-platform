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flue-pi-evidence-agent-platformリポジトリを精査して作成。主役はユースケース（アプリ開発・データ分析）、統制は基盤に組み込み済みの土台として後半に配置。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389120" cy="4389120"/>
          </a:xfrm>
          <a:prstGeom prst="ellipse">
            <a:avLst/>
          </a:prstGeom>
          <a:solidFill>
            <a:srgbClr val="2E3A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2E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0954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74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 + Pi Evidence Agent Platform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開発も、業務も、任せられる。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統制・証拠・監査を標準装備したAIエージェント実行基盤 ― プラットフォーム概要（部門長・上長向け）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96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CoE　2026年7月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今回の位置づけ: PoC（既存アプリへの機能追加に限定した実証）から開始 ― 目指す姿はロードマップ章を参照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  OVERVIEW ― 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AIエージェントに任せる仕事は2つ ― 開発業務と、一般業務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Codeを対話の窓口に、Flue/Piエージェントが実行を担う。統制は選ぶ機能ではなく標準装備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83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アプリ開発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77240" y="254203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新規サービスの立ち上げから、既存システムの改修・不具合修正まで。変更はテストと再点検で裏付けてから反映する。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新規開発（0→1）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既存改修（1→10）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99632" y="160020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2823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495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59752" y="1883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一般業務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428232" y="254203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データ分析を起点に、報告・集計・チェックといった業務作業を同じ統制の床の上で実行。生データとPIIは外に出ない。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28232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28232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データ分析（実装済み）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988552" y="3886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988552" y="3886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報告・集計・チェック（拡張）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48920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標準装備の土台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2514600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161" y="5317785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017520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完了は証拠で判定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18888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449" y="5317785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21808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危険な操作は許可制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123176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737" y="5317785"/>
            <a:ext cx="245791" cy="24579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26096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PII・秘密は外に出ない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427464" y="52212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025" y="5317785"/>
            <a:ext cx="245791" cy="24579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30384" y="5221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全操作が監査に残る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土台の中身（証拠・許可制・防御・監査）は後半のFOUNDATION章で解説 ― 利用者が日常的に意識する必要はない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  USE CASE ― アプリ開発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新規の0→1も、既存の1→10も ― 検証済みの変更だけが残る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開発のスピードはClaude Codeとの対話で、変更の確からしさはエージェントの実行ループで担保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 →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600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新規開発 ― 対話で素早く立ち上げ、ゲートで出荷を判定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設計・構築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Codeと対話しながら設計・雛形・実装を高速に進める</a:t>
            </a:r>
            <a:endParaRPr lang="en-US" sz="93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968" y="2542032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46704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品質・統制の組込み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テスト・ポリシー・監査を初日から標準装備で構築</a:t>
            </a:r>
            <a:endParaRPr lang="en-US" sz="93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542032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44768" y="211226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72784" y="22037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出荷判定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72784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リリースゲート全通過が唯一の合格条件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9098280" y="2112264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EAF5EE"/>
          </a:solidFill>
          <a:ln w="9525">
            <a:solidFill>
              <a:srgbClr val="BFDF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8116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281160" y="2487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初日から監査可能な形でサービスが立ち上がる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548640" y="352044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" y="35204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→ 10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057400" y="35204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 ― 不具合・変更要求を証拠駆動ループで処理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548640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6656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依頼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76656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「このモジュールの不具合を直して」と投入</a:t>
            </a:r>
            <a:endParaRPr lang="en-US" sz="93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4462272"/>
            <a:ext cx="164592" cy="16459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346704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474720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修正・検証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3474720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仮説登録→修正案→テスト→全体再点検を自動実行</a:t>
            </a:r>
            <a:endParaRPr lang="en-US" sz="93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462272"/>
            <a:ext cx="164592" cy="16459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144768" y="4032504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272784" y="41239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反映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272784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証拠が揃った変更だけが完了として残る</a:t>
            </a:r>
            <a:endParaRPr lang="en-US" sz="930" dirty="0"/>
          </a:p>
        </p:txBody>
      </p:sp>
      <p:sp>
        <p:nvSpPr>
          <p:cNvPr id="36" name="Shape 30"/>
          <p:cNvSpPr/>
          <p:nvPr/>
        </p:nvSpPr>
        <p:spPr>
          <a:xfrm>
            <a:off x="9098280" y="4032504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EAF5EE"/>
          </a:solidFill>
          <a:ln w="9525">
            <a:solidFill>
              <a:srgbClr val="BFDFC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281160" y="4123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9281160" y="4407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改修スピードと回帰安全（デグレ防止）の両立</a:t>
            </a:r>
            <a:endParaRPr lang="en-US" sz="930" dirty="0"/>
          </a:p>
        </p:txBody>
      </p:sp>
      <p:sp>
        <p:nvSpPr>
          <p:cNvPr id="39" name="Shape 3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68680" y="54406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人間の関与: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高リスクな操作と最終受入だけが人間の判断ポイントとして残り、その窓口はClaude Code。それ以外の定型作業はエージェントが担う。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EXAMPLE ― 動きの実例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1行の依頼から完了まで ― 部品は基盤が自動で組み立てる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実装コードそのままの経路。スキル・ワークフロー・Hooks・サブエージェントを利用者が選ぶ場面は一度もない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916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88720" y="16916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91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自然言語で依頼する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Codeに「◯◯モジュールに機能を追加して」と1行伝えるだけ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386584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88720" y="2386584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3865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委譲IF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249424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型付きタスクへ自動変換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変更してよいファイル・禁止事項・期待成果物・試行上限・排他リース（1時間）を付けた構造化タスクを発行し、やり取りを記録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081528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3081528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0815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Hooks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2944368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常時ガードが自動で効く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編集・実行ツールの呼び出し毎にガードポリシーを照会。統制資産（ポリシー・監査・秘密設定）への操作は既定拒否で遮断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48640" y="3639312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776472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188720" y="3776472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7764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3639312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昇格済みスキルを自動装着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エージェント指示に、審査を通過した昇格済みスキル（出所・巻き戻し情報付き）が自動注入される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48640" y="4334256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471416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188720" y="4471416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4714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4334256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統制ループを自動実行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実行ワークフローが起動し、ワーカー（サブエージェント）がサンドボックス上で変更→テスト→再点検。副作用は許可判定後に型付きコードが実施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79095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16636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188720" y="516636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51663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8880" y="5029200"/>
            <a:ext cx="5870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受け入れる ― </a:t>
            </a:r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閉鎖ゲート（証拠の裁定）を通過した結果だけがClaude Codeに提示され、利用者は受入するだけ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48640" y="5705856"/>
            <a:ext cx="790956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E3A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824728"/>
            <a:ext cx="347472" cy="347472"/>
          </a:xfrm>
          <a:prstGeom prst="ellipse">
            <a:avLst/>
          </a:prstGeom>
          <a:solidFill>
            <a:srgbClr val="2E3A8C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" y="5824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188720" y="5824728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45" name="Text 43"/>
          <p:cNvSpPr/>
          <p:nvPr/>
        </p:nvSpPr>
        <p:spPr>
          <a:xfrm>
            <a:off x="1188720" y="58247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学習ループ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5705856"/>
            <a:ext cx="587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繰り返される依頼は、自動でスキル候補になる ― 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繰り返し依頼・プロンプトのパターンを赤入れ済みの実行記録から自動で候補スキル化（AutoSkill）。検証・昇格審査を経て④へ還流 ― 同じ依頼は次から速く・確実に。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4048" y="3931920"/>
            <a:ext cx="0" cy="2066544"/>
          </a:xfrm>
          <a:prstGeom prst="line">
            <a:avLst/>
          </a:prstGeom>
          <a:noFill/>
          <a:ln w="15875">
            <a:solidFill>
              <a:srgbClr val="2E3A8C"/>
            </a:solidFill>
            <a:prstDash val="dash"/>
            <a:headEnd type="triangle"/>
          </a:ln>
        </p:spPr>
      </p:sp>
      <p:sp>
        <p:nvSpPr>
          <p:cNvPr id="48" name="Shape 46"/>
          <p:cNvSpPr/>
          <p:nvPr/>
        </p:nvSpPr>
        <p:spPr>
          <a:xfrm>
            <a:off x="8641080" y="1572768"/>
            <a:ext cx="2999232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2396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利用者の操作は2回だけ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869680" y="224028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8869680" y="2240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依頼（1行）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69680" y="278892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8869680" y="27889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受入（確認）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869680" y="336499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その間のタスク化・ガード・スキル装着・実行・検証は、すべて基盤が自動で組み立てる。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641080" y="4617720"/>
            <a:ext cx="2999232" cy="1627632"/>
          </a:xfrm>
          <a:prstGeom prst="roundRect">
            <a:avLst>
              <a:gd name="adj" fmla="val 505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23960" y="4718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実装上の裏付け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823960" y="5010912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delegate.mjs（委譲）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settings.json + cc_guard.rego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remediator.ts + 昇格スキルv1.1.0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remediate.ts（ワークフロー）</a:t>
            </a:r>
            <a:endParaRPr lang="en-US" sz="8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4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AutoSkill（固定版OSS）+ 候補レジストリ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利用者がスキルやハーネスを意識しないコンセプトは、この自動組み立てと自動スキル化の還流で実現される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  USE CASE ― 一般業務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一般業務は、データ分析から始まり、同じ床の上で広がる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利用者は業務の言葉で頼むだけ。安全性・PII・記録の扱いは基盤が引き受ける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110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問い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「地域別の顧客数と平均取引額は？」と業務の言葉で依頼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4688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5848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9110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87368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変換・検査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20440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基盤が集計SQLに変換し、実行前に構文レベルで安全性を検査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468880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63056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27648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91109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94576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集計実行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327648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許可された表に対する集計クエリだけを実行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28" y="2468880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70264" y="16459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134856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1911096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701784" y="1874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回答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9134856" y="239572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匿名化済みの集計結果を返却 ― 生データは含まれない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48640" y="365760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868680" y="365760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裏で効く防御（詳細はFOUNDATION章 F4）: </a:t>
            </a:r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集計クエリのみ通過 / PII列は全構文位置で拒否 / 結果には拒否の証明フラグが同梱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同じ床の上で広げる一般業務（例）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548640" y="4709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31520" y="4864608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34" y="4953122"/>
            <a:ext cx="225308" cy="2253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43584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定型レポート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731520" y="53218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月次集計・KPIモニタリングを、検証済みの数値だけで自動作成</a:t>
            </a:r>
            <a:endParaRPr lang="en-US" sz="980" dirty="0"/>
          </a:p>
        </p:txBody>
      </p:sp>
      <p:sp>
        <p:nvSpPr>
          <p:cNvPr id="36" name="Shape 26"/>
          <p:cNvSpPr/>
          <p:nvPr/>
        </p:nvSpPr>
        <p:spPr>
          <a:xfrm>
            <a:off x="4343400" y="4709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526280" y="4864608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4794" y="4953122"/>
            <a:ext cx="225308" cy="2253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038344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報告・資料ドラフト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4526280" y="53218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集計結果に基づく報告文・資料の下書きを生成 ― 数値の出所は常に追跡可能</a:t>
            </a:r>
            <a:endParaRPr lang="en-US" sz="980" dirty="0"/>
          </a:p>
        </p:txBody>
      </p:sp>
      <p:sp>
        <p:nvSpPr>
          <p:cNvPr id="41" name="Shape 30"/>
          <p:cNvSpPr/>
          <p:nvPr/>
        </p:nvSpPr>
        <p:spPr>
          <a:xfrm>
            <a:off x="8138160" y="47091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8321040" y="4864608"/>
            <a:ext cx="402336" cy="402336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9554" y="4953122"/>
            <a:ext cx="225308" cy="22530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833104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チェック・点検業務</a:t>
            </a:r>
            <a:endParaRPr lang="en-US" sz="1150" dirty="0"/>
          </a:p>
        </p:txBody>
      </p:sp>
      <p:sp>
        <p:nvSpPr>
          <p:cNvPr id="45" name="Text 33"/>
          <p:cNvSpPr/>
          <p:nvPr/>
        </p:nvSpPr>
        <p:spPr>
          <a:xfrm>
            <a:off x="8321040" y="53218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ルールに基づく点検・照合を実行し、判定根拠を証拠として残す</a:t>
            </a:r>
            <a:endParaRPr lang="en-US" sz="980" dirty="0"/>
          </a:p>
        </p:txBody>
      </p:sp>
      <p:sp>
        <p:nvSpPr>
          <p:cNvPr id="46" name="Text 34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データ分析は実装済みの中核。他の一般業務は同一の統制ループ上でPhase 2から拡張（PoCは機能追加のみ、ロードマップ参照）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  DIVISION OF ROLES ― 棲み分け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対話はClaude Code、統制された実行はAIエージェント ― 役割は重ならない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速さが要る仕事と、確からしさが要る仕事を、別々の実行者に割り当てる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379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73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 ― 対話の係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対話開発ゾーン（人と話し、人に見せる）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設計議論・探索コーディング・デバッグ / リポジトリ読解と改善提案 / 結果の提示と、人間の承認の受付窓口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99632" y="1572768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83794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6872" y="17739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AIエージェント（Flue/Pi） ― 実行の係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976872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統制ゾーン（証拠を作り、監査に残す）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428232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証拠駆動の修復・変更 / 統制データ分析 / リリース判定・スキル昇格・ポリシー変更などの統制業務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776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タスク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補足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探索コーディング・設計議論・デバッグ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Claude Code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高速な人間協働。統制資産に触れない範囲で自由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リポジトリ読解・リファクタ提案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Claude Code（提案まで）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実施は触れる資産に応じてルーティング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証拠駆動の修復・統制データ分析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AIエージェント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ワークフロー・検証・監査を必ず経由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リリース判定・スキル昇格・ポリシー変更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AIエージェント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統制ゾーン専属の業務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監査レポート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エージェントが生成 / Claude Codeが表示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表示側は完了の解釈を変えられない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高リスク操作の最終承認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人間（Claude Code経由）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自動受諾は禁止</a:t>
                      </a:r>
                      <a:endParaRPr lang="en-US" sz="9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41148" marB="41148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どちらの係か曖昧なタスクは、実行前にエージェント側へ委譲する（フェイルクローズ）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  ECOSYSTEMS ― 2つの生態系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2つのエコシステムは混ざらない ― つながるのは3つの窓口だけ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Codeの拡張機構と、エージェント基盤の資産管理を、明確に分離したまま連携させる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Code側 ― 対話の知恵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" y="2176272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Skills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24912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手順・ノウハウの再利用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04672" y="266090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660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Rules（CLAUDE.md）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4912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リポジトリ毎の作法・規約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04672" y="314553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45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Sub-agents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24912" y="31455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対話の中での分業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4672" y="363016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Hooks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24912" y="3630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ツール実行の関所（下記③）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04672" y="41148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Plugins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24912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機能拡張の配布単位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702552" y="1572768"/>
            <a:ext cx="49377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エージェント基盤側 ― 実行の知恵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58584" y="2176272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スキルレジストリ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78824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本番指示は昇格審査制（候補→検証→昇格）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958584" y="266090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28" name="Text 26"/>
          <p:cNvSpPr/>
          <p:nvPr/>
        </p:nvSpPr>
        <p:spPr>
          <a:xfrm>
            <a:off x="6958584" y="2660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ポリシー（Rego）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78824" y="26609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許可・拒否のルール。テスト付きで版管理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958584" y="314553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958584" y="31455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ワークフロー（Flue）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78824" y="31455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修復・分析の統制された実行手順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958584" y="363016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4" name="Text 32"/>
          <p:cNvSpPr/>
          <p:nvPr/>
        </p:nvSpPr>
        <p:spPr>
          <a:xfrm>
            <a:off x="6958584" y="3630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監査・テレメトリ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78824" y="3630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全実行の証拠が自動で残る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958584" y="41148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2E3A8C"/>
          </a:solidFill>
          <a:ln/>
        </p:spPr>
      </p:sp>
      <p:sp>
        <p:nvSpPr>
          <p:cNvPr id="37" name="Text 35"/>
          <p:cNvSpPr/>
          <p:nvPr/>
        </p:nvSpPr>
        <p:spPr>
          <a:xfrm>
            <a:off x="6958584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委譲メッセージ基盤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78824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係間のやり取りを記録に残す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548640" y="47731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3つの窓口（これ以外に両者をつなぐ経路はない）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委譲インターフェース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323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実行依頼・状況確認・受入は型付きの窓口（delegate / status / accept）経由。自由チャットは受入記録として扱われない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434340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0799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Hooks × ガードポリシー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0799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CodeのHooksに基盤のガード（cc_guard）が組み込まれ、ポリシー・監査・秘密設定への直接操作を既定拒否で遮断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8138160" y="51206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5212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スキルの昇格審査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02752" y="5513832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エージェントへの指示改善は候補として提出し、検証とオーケストレーター承認を経て初めて反映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対話の知恵はClaude Codeに、実行の知恵は基盤に ― 二重管理を避け、越境は必ず審査か遮断を通る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  FUNCTIONS ― 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2つのユースケースを支える6つの機能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個別の詳細はFOUNDATION章で解説。全機能の操作が監査記録とテレメトリに自動で残る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65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819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証拠駆動コード修復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不具合を仮説として登録し、修正候補の生成・適用・テスト・再スキャンを統制ループで実行。証拠が揃うまで完了しない。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88536" y="16002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1416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6537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38344" y="1819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統制データ分析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71416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顧客データへの問いに集計結果だけを返す。SQLは実行前検査、PIIは全構文位置で拒否、結果は匿名化して返却。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28432" y="160020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1312" y="1764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86537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0" y="1819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ポリシー許可制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11312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副作用のあるツール実行は事前許可制。判定機構の障害時は自動的に「拒否」へ倒れ、高リスクは人間承認に回る。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0448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1696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98448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本番LLMゲートウェイ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65429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外部AIへの唯一の経路。赤入れ・データ分類・承認済みモデル別名・フォールバック・全呼び出しの監査を一元化。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88536" y="390448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71416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6966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38344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サンドボックス実行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71416" y="465429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実行環境をローカル/コンテナ隔離から選択。コンテナ側は環境分離・外部通信遮断・容量上限を強制。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28432" y="390448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11312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16966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スキル最適化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11312" y="465429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エージェント指示の改善を候補→検証→昇格審査で管理。自己昇格は不可能で、git履歴により常に巻き戻せる。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6機能は独立の道具ではなく、アプリ開発とデータ分析を支える一体の仕組みとして連結している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  ARCHITECTURE ― 仕様・アーキテクチャ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5層構造 ― AIは実行層に閉じ、統制層を素通りできない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ワークフロー実行系（Flue）とAIハーネス（Pi）を核に、統制・実行環境・観測をOSSで構成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276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経路層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834640" y="162763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本番ゲートウェイ / 決定的ルーター / 送信前赤入れ ― 外部AI呼び出しの一本道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523744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2679192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7977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523744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実行層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34640" y="2523744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Flueワークフロー + Piエージェント ― AIが持つツールは副作用のない「説明」のみ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419856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5753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7588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41985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統制層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834640" y="3419856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許可判定アダプタ（障害時は拒否） / 仮説台帳・閉鎖ゲート / データガード（Python）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315968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471416"/>
            <a:ext cx="457200" cy="45720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5720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315968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実行環境層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834640" y="4315968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SandboxExecutor契約 ― ローカル実行と隔離コンテナ（OpenSandbox）を同一契約で切替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5212080"/>
            <a:ext cx="7132320" cy="768096"/>
          </a:xfrm>
          <a:prstGeom prst="roundRect">
            <a:avLst>
              <a:gd name="adj" fmla="val 1071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808" y="5367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46811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521208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観測層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2834640" y="5212080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OpenTelemetryトレース / 監査JSONL ― 全層の動作がここに集約される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001000" y="16276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技術スタック（すべて実績あるOSS）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01000" y="2011680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32" name="Text 25"/>
          <p:cNvSpPr/>
          <p:nvPr/>
        </p:nvSpPr>
        <p:spPr>
          <a:xfrm>
            <a:off x="8001000" y="20116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253728" y="20116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Flue / Pi / TypeScript（strict）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001000" y="2523744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35" name="Text 28"/>
          <p:cNvSpPr/>
          <p:nvPr/>
        </p:nvSpPr>
        <p:spPr>
          <a:xfrm>
            <a:off x="8001000" y="25237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9253728" y="25237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OPA / Rego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001000" y="3035808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38" name="Text 31"/>
          <p:cNvSpPr/>
          <p:nvPr/>
        </p:nvSpPr>
        <p:spPr>
          <a:xfrm>
            <a:off x="8001000" y="303580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9253728" y="30358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SQLGlot / DuckDB / Presidio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8001000" y="3547872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41" name="Text 34"/>
          <p:cNvSpPr/>
          <p:nvPr/>
        </p:nvSpPr>
        <p:spPr>
          <a:xfrm>
            <a:off x="8001000" y="354787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経路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9253728" y="35478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LiteLLM Proxy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8001000" y="4059936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44" name="Text 37"/>
          <p:cNvSpPr/>
          <p:nvPr/>
        </p:nvSpPr>
        <p:spPr>
          <a:xfrm>
            <a:off x="8001000" y="405993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観測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9253728" y="40599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OpenTelemetry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8001000" y="4572000"/>
            <a:ext cx="114300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47" name="Text 40"/>
          <p:cNvSpPr/>
          <p:nvPr/>
        </p:nvSpPr>
        <p:spPr>
          <a:xfrm>
            <a:off x="8001000" y="45720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実行環境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9253728" y="4572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Docker / OpenSandbox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8001000" y="5230368"/>
            <a:ext cx="3639312" cy="868680"/>
          </a:xfrm>
          <a:prstGeom prst="roundRect">
            <a:avLst>
              <a:gd name="adj" fmla="val 947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8156448" y="523036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既定は単一ホスト構成。コンテナ検証・CI実行に対応済み。Kubernetes等への拡張は同一の型付き契約の背後に位置づけ。</a:t>
            </a:r>
            <a:endParaRPr lang="en-US" sz="930" dirty="0"/>
          </a:p>
        </p:txBody>
      </p:sp>
      <p:sp>
        <p:nvSpPr>
          <p:cNvPr id="51" name="Text 44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実行層（AI）から統制層を迂回する呼び出し経路は存在しない ― 層の順序こそが仕様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  ROADMAP ― 目指す姿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「アプリを作る」から「業務を任せる」へ ― 今回はPoCから始める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利用者に見えるのは「頼める仕事が増えること」だけ ― スキルもハーネスも意識させないことがこの基盤のコンセプト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利用者に見える世界 ― 変わるのは「頼める範囲」だけ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 ― 今回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PoC（実証）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エンジニアが、既存アプリへの機能追加を頼める（対象はこれのみに限定）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232" y="2487168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07408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8576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56248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業務展開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08576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改修全般・データ分析・一般業務（報告・集計・チェック）へ拡大。業務担当者がCoworkから頼める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487168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266176" y="182880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EAF5EE"/>
          </a:solidFill>
          <a:ln w="15875">
            <a:solidFill>
              <a:srgbClr val="BFDF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67344" y="199339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20" name="Text 16"/>
          <p:cNvSpPr/>
          <p:nvPr/>
        </p:nvSpPr>
        <p:spPr>
          <a:xfrm>
            <a:off x="8467344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3 ― 目指す姿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0415016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業務の直接実行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467344" y="24871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アプリを作らずに、業務をそのまま任せられる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5875">
            <a:solidFill>
              <a:srgbClr val="2E3A8C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3291840" y="3547872"/>
            <a:ext cx="5577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91840" y="35478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ここから下は、利用者には見せない（基盤側＝AI CoEの責務）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1" y="4208435"/>
            <a:ext cx="215067" cy="21506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05840" y="397764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スキルの進化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（業務の知恵）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331720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441448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中核業務で昇格サイクル（候補→検証→昇格）を確立</a:t>
            </a:r>
            <a:endParaRPr lang="en-US" sz="86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4251960"/>
            <a:ext cx="137160" cy="13716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458968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568696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業務別スキルを審査付きで量産し、部門間で再利用</a:t>
            </a:r>
            <a:endParaRPr lang="en-US" sz="86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4251960"/>
            <a:ext cx="137160" cy="13716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586216" y="3977640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695944" y="3977640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業務カタログ化 ― 依頼の言葉から自動で選ばれる</a:t>
            </a:r>
            <a:endParaRPr lang="en-US" sz="860" dirty="0"/>
          </a:p>
        </p:txBody>
      </p:sp>
      <p:sp>
        <p:nvSpPr>
          <p:cNvPr id="37" name="Shape 30"/>
          <p:cNvSpPr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rgbClr val="B8C0C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5049683"/>
            <a:ext cx="215067" cy="21506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05840" y="481888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ハーネスの進化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（実行機構）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2331720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441448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単一ホスト+固定ループで基礎能力を実証</a:t>
            </a:r>
            <a:endParaRPr lang="en-US" sz="86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096" y="5093208"/>
            <a:ext cx="137160" cy="13716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458968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568696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ツール契約・ルーティング・実行環境を拡張（Cowork接続 / コンテナ・K8s / 並列実行）</a:t>
            </a:r>
            <a:endParaRPr lang="en-US" sz="86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5093208"/>
            <a:ext cx="137160" cy="13716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8586216" y="4818888"/>
            <a:ext cx="2999232" cy="694944"/>
          </a:xfrm>
          <a:prstGeom prst="roundRect">
            <a:avLst>
              <a:gd name="adj" fmla="val 11842"/>
            </a:avLst>
          </a:prstGeom>
          <a:solidFill>
            <a:srgbClr val="F7F8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8695944" y="4818888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業務要求を直接受け、計画・分解・実行まで担う</a:t>
            </a:r>
            <a:endParaRPr lang="en-US" sz="860" dirty="0"/>
          </a:p>
        </p:txBody>
      </p:sp>
      <p:sp>
        <p:nvSpPr>
          <p:cNvPr id="48" name="Text 38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成功条件は「利用者が裏側を意識せずに済むこと」 ― 2軸の進化が止まればPhase 3に届かないが、それを利用者に感じさせない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PoCでは効果（速度・品質）・統制（監査・防御）・運用負荷を実測し、Phase 2への移行と両軸の投資配分を判断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023360" cy="402336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基盤に織り込まれた統制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ここから先は、利用者が日常的に意識する必要のない「床」の中身。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監査・セキュリティ・ガバナンスの観点から確認したい場合の参照章。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 完了の定義（証拠）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 修復の統制ループ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443484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434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 許可制（フェイルクローズ）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F4 データ防御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F5 外部AIへの経路と分類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5001768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50017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F6 学習とリリースの審査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  FOUNDATION ― 完了の定義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「できました」ではなく、証拠が完了を決める ― だから任せられる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AIの作業記録（トランスクリプト）は完了証明として扱わない ― 製品要求に明記された土台の原則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58" y="1862450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ゲート1  証拠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494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仮説・修正・検証が台帳に揃う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78892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3522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738" y="1862450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ゲート2  許可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3522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副作用は事前許可を得ている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502920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7550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018" y="1862450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ゲート3  検証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17550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テスト合格+再スキャンで裏付け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26948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1578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298" y="1862450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0956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ゲート4  データ防御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41578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SQL・PIIの関門を通過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9509760" y="162763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65606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578" y="1862450"/>
            <a:ext cx="225308" cy="2253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49840" y="18288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ゲート5  監査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656064" y="22677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全操作が記録に残っている</a:t>
            </a:r>
            <a:endParaRPr lang="en-US" sz="930" dirty="0"/>
          </a:p>
        </p:txBody>
      </p:sp>
      <p:sp>
        <p:nvSpPr>
          <p:cNvPr id="30" name="Text 23"/>
          <p:cNvSpPr/>
          <p:nvPr/>
        </p:nvSpPr>
        <p:spPr>
          <a:xfrm>
            <a:off x="548640" y="3154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5つすべてを通過したときだけ、実行は「完了」として閉じる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" y="36576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完了が拒否される5条件（1つでも該当すれば閉じない）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4041648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2960" y="426110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298448" y="42245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仮説が1件も登録されていない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309360" y="426110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0"/>
          <p:cNvSpPr/>
          <p:nvPr/>
        </p:nvSpPr>
        <p:spPr>
          <a:xfrm>
            <a:off x="630936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6784848" y="42245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検証されていない仮説が残っている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298448" y="47914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合格した検証（テスト）が存在しない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309360" y="482803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3" name="Text 36"/>
          <p:cNvSpPr/>
          <p:nvPr/>
        </p:nvSpPr>
        <p:spPr>
          <a:xfrm>
            <a:off x="6309360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784848" y="47914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根拠・許可・検証・データの証拠に欠落がある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22960" y="539496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39"/>
          <p:cNvSpPr/>
          <p:nvPr/>
        </p:nvSpPr>
        <p:spPr>
          <a:xfrm>
            <a:off x="822960" y="5394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1298448" y="535838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修正候補数が仮説数に満たない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「証拠不足のまま終わったことにする」経路がそもそも存在しない ― 任せた結果を信じられる根拠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  FOUNDATION ― 修復の統制ループ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既存改修（1→10）の内側 ― 10ステップの固定された順序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自由なエージェントループではなく、契約で固定された順序。AIの役割は「候補生成」と「要約」の2箇所だけ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特定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6656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不具合箇所を仮説として抽出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217170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93492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1508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記録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21508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仮説を台帳へ登録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17170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38344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66360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許可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166360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副作用の可否を事前判定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171700"/>
            <a:ext cx="182880" cy="182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283196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11212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候補生成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411212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仮説毎に複数の修正案を作成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17170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528048" y="164592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656064" y="17556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適用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656064" y="21214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型付きツールが選択案を適用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76656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検証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76656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テスト（pytest）で合格を確認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3863340"/>
            <a:ext cx="182880" cy="1828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2793492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921508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再スキャン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2921508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修正後の全体を再点検</a:t>
            </a:r>
            <a:endParaRPr lang="en-US" sz="9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180" y="3863340"/>
            <a:ext cx="182880" cy="1828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038344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166360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⑧ データ防御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166360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SQL・PIIの関門を実行</a:t>
            </a:r>
            <a:endParaRPr lang="en-US" sz="9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3863340"/>
            <a:ext cx="182880" cy="18288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283196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7411212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⑨ 閉鎖判定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7411212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閉鎖ゲートが完了可否を裁定</a:t>
            </a:r>
            <a:endParaRPr lang="en-US" sz="9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3863340"/>
            <a:ext cx="182880" cy="18288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528048" y="3337560"/>
            <a:ext cx="2103120" cy="123444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15875">
            <a:solidFill>
              <a:srgbClr val="F0DFAE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9656064" y="344728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⑩ 要約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9656064" y="38130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検証済み証拠のみをAIが要約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11292840" y="288036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548640" y="489204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1430">
            <a:solidFill>
              <a:srgbClr val="2E3A8C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48640" y="48920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黄色 = AIが関与する2ステップ（それ以外はすべて決定的なコードと許可判定）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868680" y="54406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権限の設計: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AI（Flue/Pi）が持つツールは副作用のない「説明」だけ。パッチ適用・ファイル操作は、許可判定後に型付きワークフローコードが実行する。高リスク操作は自動実行されず人間の承認に回る。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  FOUNDATION ― 許可制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危険な操作は、頼んでも実行されない ― 判定機構が落ちても答えは「拒否」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OPA（Open Policy Agent）が唯一の許可権限。ポリシーはコードとしてテスト・版管理される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フェイルクローズの原則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ツール実行要求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239572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97480" y="2286000"/>
            <a:ext cx="1143000" cy="402336"/>
          </a:xfrm>
          <a:prstGeom prst="roundRect">
            <a:avLst>
              <a:gd name="adj" fmla="val 50000"/>
            </a:avLst>
          </a:prstGeom>
          <a:solidFill>
            <a:srgbClr val="2E3A8C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22860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許可判定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336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 → 実行（型付きコードが実施）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23360" y="25054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9A1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 / 高リスク → 人間承認へ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2960" y="2926080"/>
            <a:ext cx="4892040" cy="658368"/>
          </a:xfrm>
          <a:prstGeom prst="roundRect">
            <a:avLst>
              <a:gd name="adj" fmla="val 12500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29260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判定機構自体が停止・失敗した場合も「許可しない・承認必須」に倒れる（fail-closed）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ポリシーが保証する6つの禁止・統制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210312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107" y="2183587"/>
            <a:ext cx="204826" cy="2048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208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ゲストユーザーはパッチを適用できない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9006840" y="210312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307" y="2183587"/>
            <a:ext cx="204826" cy="2048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640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テナントをまたぐ要求は拒否される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6263640" y="270662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107" y="2787091"/>
            <a:ext cx="204826" cy="2048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2706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シェル実行ツールは拒否される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9006840" y="2706624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307" y="2787091"/>
            <a:ext cx="204826" cy="2048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64040" y="2706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未知のツールは拒否される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6263640" y="331012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107" y="3390595"/>
            <a:ext cx="204826" cy="20482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3310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生SQLツールは拒否される</a:t>
            </a:r>
            <a:endParaRPr lang="en-US" sz="930" dirty="0"/>
          </a:p>
        </p:txBody>
      </p:sp>
      <p:sp>
        <p:nvSpPr>
          <p:cNvPr id="32" name="Shape 24"/>
          <p:cNvSpPr/>
          <p:nvPr/>
        </p:nvSpPr>
        <p:spPr>
          <a:xfrm>
            <a:off x="9006840" y="3310128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7307" y="3390595"/>
            <a:ext cx="204826" cy="20482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64040" y="3310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高リスク操作は自動実行されず承認に回る</a:t>
            </a:r>
            <a:endParaRPr lang="en-US" sz="930" dirty="0"/>
          </a:p>
        </p:txBody>
      </p:sp>
      <p:sp>
        <p:nvSpPr>
          <p:cNvPr id="35" name="Shape 26"/>
          <p:cNvSpPr/>
          <p:nvPr/>
        </p:nvSpPr>
        <p:spPr>
          <a:xfrm>
            <a:off x="548640" y="4160520"/>
            <a:ext cx="1109167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822960" y="43159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ポリシーもソフトウェアとして管理される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822960" y="47091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ポリシー本体（Rego）にはネイティブテストが付属し、リリースゲートで毎回検証される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許可テナント一覧はデータ文書として管理 ― 一覧が空・欠落なら認可は成立しない（フェイルクローズ）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ポリシー束はバージョン付きバンドルとして構築され、どの版が有効だったかを追跡できる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「担当者の注意」ではなく「機械的な判定」が禁止事項を守る ― ポリシー変更自体も統制ゾーンの管理対象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F4  FOUNDATION ― データ防御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生データとPIIは、構造的に外へ出ない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データ分析ユースケースの裏側 ― SQLは実行前に検査され、PIIは全構文位置で拒否される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01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94" y="2014606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647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第1関門  SQLGlot（構文検査）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63040" y="2103120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実行前にSQLを解析。単一のSELECT文だけを許可し、集計関数（COUNT/SUM/AVG等）以外の生カラム参照を拒否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023360" y="2670048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816352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072384"/>
            <a:ext cx="512064" cy="512064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94" y="3185038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9352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第2関門  DuckDB（実行）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463040" y="3273552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検査を通過した集計クエリのみを実行。許可リストにあるメトリクス表以外は参照できない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023360" y="3840480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986784"/>
            <a:ext cx="6949440" cy="1024128"/>
          </a:xfrm>
          <a:prstGeom prst="roundRect">
            <a:avLst>
              <a:gd name="adj" fmla="val 803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24281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4" y="4355470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1056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第3関門  Presidio（匿名化）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463040" y="4443984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結果に含まれるPII（メール・電話・カード・IP等）を検出し匿名化してから返却</a:t>
            </a:r>
            <a:endParaRPr lang="en-US" sz="980" dirty="0"/>
          </a:p>
        </p:txBody>
      </p:sp>
      <p:sp>
        <p:nvSpPr>
          <p:cNvPr id="22" name="Text 17"/>
          <p:cNvSpPr/>
          <p:nvPr/>
        </p:nvSpPr>
        <p:spPr>
          <a:xfrm>
            <a:off x="7818120" y="16459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実行前に拒否されるもの（一例）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818120" y="2057400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01000" y="2057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SELECT *（全列取得）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818120" y="2569464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001000" y="25694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複数文・UNION等の結合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818120" y="3081528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01000" y="30815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UPDATE / DELETE / DDL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818120" y="3593592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001000" y="35935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PII列の参照（全構文位置）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818120" y="4105656"/>
            <a:ext cx="3822192" cy="420624"/>
          </a:xfrm>
          <a:prstGeom prst="roundRect">
            <a:avLst>
              <a:gd name="adj" fmla="val 19565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01000" y="4105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  許可リスト外の表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68680" y="525780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拒否も証拠になる: </a:t>
            </a:r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分析結果には「危険なクエリ類型が拒否されたこと」を示す証明フラグが同梱され、監査時に防御が機能していたことを事後検証できる。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F5  FOUNDATION ― 外部AIへの経路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外部AIへは一本道 ― 何を送ってよいかはデータ分類が決める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アプリが個別にAIを呼ぶ構成を禁止。全呼び出しに赤入れと監査、生の機密は構造的に出られない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373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プラットフォームゲートウェイ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53312" y="2066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 / 送信前の赤入れ / 許可判定（fail-closed） / 監査メタ付与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200400" y="2560320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724912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53512"/>
            <a:ext cx="457200" cy="45720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0540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8163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LiteLLM Proxy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353312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承認済みモデル別名のみ解決 / フォールバック / コスト記録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3200400" y="3639312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803904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3308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53312" y="38953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Anthropic 承認モデル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353312" y="4224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承認済みモデル以外への到達経路が存在しない</a:t>
            </a:r>
            <a:endParaRPr lang="en-US" sz="930" dirty="0"/>
          </a:p>
        </p:txBody>
      </p:sp>
      <p:sp>
        <p:nvSpPr>
          <p:cNvPr id="22" name="Text 17"/>
          <p:cNvSpPr/>
          <p:nvPr/>
        </p:nvSpPr>
        <p:spPr>
          <a:xfrm>
            <a:off x="548640" y="49377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障害時は 一次 → 二次 → 決定的ローカル の順で切替え、使用時は監査に専用マーカーが残る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6263640" y="164592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データ分類 × 外部送信の可否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29968"/>
          <a:ext cx="5376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496312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分類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外部送信（Anthropic）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人間承認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public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可（赤入れ後）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internal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可（赤入れ後）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原則不要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confidential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赤入れ+人間確認の後のみ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restricted（生PII・秘密）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不可 ― 集計・赤入れ済み派生物のみ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審査必須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68680" y="553212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この経路のAIの権限は「検証済み証拠の要約」まで: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ツール実行の権限はこの経路上に存在しない。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F6  FOUNDATION ― 学習と出荷の審査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AIの学習も、リリースも、審査を通ったものだけが残る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指示の改善は昇格審査制、出荷は23ゲート全通過制 ― どちらも「なんとなく反映」の経路がない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スキル（エージェント指示）の昇格フロー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B8C0C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候補（candidate）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2E3A8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検証済（validated）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148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48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昇格（promoted）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414016"/>
            <a:ext cx="10972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95728" y="18836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検証+リリース検証合格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0" y="2414016"/>
            <a:ext cx="10972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0" y="1883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承認のみ（自己昇格不可）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235440" y="2011680"/>
            <a:ext cx="2404872" cy="822960"/>
          </a:xfrm>
          <a:prstGeom prst="roundRect">
            <a:avLst>
              <a:gd name="adj" fmla="val 10000"/>
            </a:avLst>
          </a:prstGeom>
          <a:solidFill>
            <a:srgbClr val="FDF0EE"/>
          </a:solidFill>
          <a:ln w="9525">
            <a:solidFill>
              <a:srgbClr val="F0C9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084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失敗 → 却下・記録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7260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同じ失敗案の再提出をブロック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改善への入力は赤入れ済みの証拠に限定 ― 生の顧客データが「学習材料」に混入する経路を遮断。巻き戻しはgit履歴で常に可能。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 ― 23ゲート全通過だけが唯一の合格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コード品質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整形 / 静的検査 / 型 / テスト一式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816352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6352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2816352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ポリシー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44368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実機判定 / Regoテスト / 版付き束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84064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84064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データ防御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SQL・PII防御 / セキュリティ検査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351776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51776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351776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サプライチェーン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79792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脆弱性監査 / SBOM / 取得元検証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619488" y="3822192"/>
            <a:ext cx="2121408" cy="1417320"/>
          </a:xfrm>
          <a:prstGeom prst="roundRect">
            <a:avLst>
              <a:gd name="adj" fmla="val 580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19488" y="3822192"/>
            <a:ext cx="212140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9619488" y="38221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実行証拠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47504" y="4389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E2E / 成果物実在 / 仕様追跡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48640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CIでも同じゲートが再現: </a:t>
            </a:r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23ゲートはローカルとCIの双方で実行され、コンテナ内検証・起動スモーク・サンドボックス隔離テストがCIで追加される。証拠はすべて成果物として保全。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3840480" cy="384048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開発も、業務も、任せられる。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241" y="220224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任せられる仕事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開発は0→1の立ち上げから1→10の改修まで、一般業務はデータ分析・報告・集計・チェックまで ― どちらも業務の言葉で頼める。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81" y="22022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信じられる結果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6344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完了はAIの申告ではなく証拠が決める。テストと再点検で裏付けられた変更、匿名化済みの集計だけが成果として返る。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20224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157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統制は標準装備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12480" y="30175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許可制・データ防御・監査・審査は基盤の床に織り込み済み。利用者が統制を意識しなくても、逸脱の経路がそもそも存在しない。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詳細仕様: リポジトリ docs/（アーキテクチャ・統合境界・脅威モデル・運用手順 等31文書）を参照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2026-07-13T03:31:18Z</dcterms:created>
  <dcterms:modified xsi:type="dcterms:W3CDTF">2026-07-13T03:31:18Z</dcterms:modified>
</cp:coreProperties>
</file>