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flue-pi-evidence-agent-platformリポジトリを精査して作成。主役はユースケース（アプリ開発・データ分析）、統制は基盤に組み込み済みの土台として後半に配置。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image" Target="../media/image-13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image" Target="../media/image-1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554480"/>
            <a:ext cx="4389120" cy="4389120"/>
          </a:xfrm>
          <a:prstGeom prst="ellipse">
            <a:avLst/>
          </a:prstGeom>
          <a:solidFill>
            <a:srgbClr val="2E3A8C">
              <a:alpha val="5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846320"/>
            <a:ext cx="3657600" cy="3657600"/>
          </a:xfrm>
          <a:prstGeom prst="ellipse">
            <a:avLst/>
          </a:prstGeom>
          <a:solidFill>
            <a:srgbClr val="2E3A8C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914400"/>
            <a:ext cx="822960" cy="82296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4011" y="1095451"/>
            <a:ext cx="460858" cy="46085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187452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Flue + Pi Evidence Agent Platform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822960" y="2834640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ADCF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開発も、業務も、任せられる。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822960" y="356616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統制・証拠・監査を標準装備したAIエージェント実行基盤 ― プラットフォーム概要（部門長・上長向け）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822960" y="5440680"/>
            <a:ext cx="475488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559612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AI CoE　2026年7月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822960" y="59436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今回の位置づけ: PoC（既存アプリへの機能追加に限定した実証）から開始 ― 目指す姿はロードマップ章を参照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E3A8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01  OVERVIEW ― 概要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AIエージェントに任せる仕事は2つ ― 開発業務と、一般業務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11556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2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利用者は基盤UI（本プロジェクト自身のチャットUI）から頼むだけ ― PoCは依頼・受入の最小構成、Phase 2で提示と接続先が広がる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440680" cy="2880360"/>
          </a:xfrm>
          <a:prstGeom prst="roundRect">
            <a:avLst>
              <a:gd name="adj" fmla="val 2857"/>
            </a:avLst>
          </a:prstGeom>
          <a:solidFill>
            <a:srgbClr val="EFF4FC"/>
          </a:solidFill>
          <a:ln w="9525">
            <a:solidFill>
              <a:srgbClr val="DCE4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82880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7941" y="194950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08760" y="1883664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アプリ開発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777240" y="2542032"/>
            <a:ext cx="4983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新規サービスの立ち上げから、既存システムの改修・不具合修正まで。変更はテストと再点検で裏付けてから反映する。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777240" y="3886200"/>
            <a:ext cx="2377440" cy="402336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 w="11430">
            <a:solidFill>
              <a:srgbClr val="2E3A8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77240" y="3886200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E3A8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新規開発（0→1）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3337560" y="3886200"/>
            <a:ext cx="2377440" cy="402336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 w="11430">
            <a:solidFill>
              <a:srgbClr val="2E3A8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337560" y="3886200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E3A8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既存改修（1→10）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6199632" y="1600200"/>
            <a:ext cx="5440680" cy="2880360"/>
          </a:xfrm>
          <a:prstGeom prst="roundRect">
            <a:avLst>
              <a:gd name="adj" fmla="val 2857"/>
            </a:avLst>
          </a:prstGeom>
          <a:solidFill>
            <a:srgbClr val="EFF4FC"/>
          </a:solidFill>
          <a:ln w="9525">
            <a:solidFill>
              <a:srgbClr val="DCE4F2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428232" y="182880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8933" y="1949501"/>
            <a:ext cx="307238" cy="30723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7159752" y="1883664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一般業務</a:t>
            </a:r>
            <a:endParaRPr lang="en-US" sz="1650" dirty="0"/>
          </a:p>
        </p:txBody>
      </p:sp>
      <p:sp>
        <p:nvSpPr>
          <p:cNvPr id="18" name="Text 14"/>
          <p:cNvSpPr/>
          <p:nvPr/>
        </p:nvSpPr>
        <p:spPr>
          <a:xfrm>
            <a:off x="6428232" y="2542032"/>
            <a:ext cx="4983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データ分析を起点に、報告・集計・チェックといった業務作業を同じ統制の床の上で実行。生データとPIIは外に出ない。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6428232" y="3886200"/>
            <a:ext cx="2377440" cy="402336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 w="11430">
            <a:solidFill>
              <a:srgbClr val="2E3A8C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6428232" y="3886200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E3A8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データ分析（実装済み）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8988552" y="3886200"/>
            <a:ext cx="2377440" cy="402336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 w="11430">
            <a:solidFill>
              <a:srgbClr val="2E3A8C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8988552" y="3886200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E3A8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報告・集計・チェック（拡張）</a:t>
            </a:r>
            <a:endParaRPr lang="en-US" sz="1050" dirty="0"/>
          </a:p>
        </p:txBody>
      </p:sp>
      <p:sp>
        <p:nvSpPr>
          <p:cNvPr id="23" name="Shape 19"/>
          <p:cNvSpPr/>
          <p:nvPr/>
        </p:nvSpPr>
        <p:spPr>
          <a:xfrm>
            <a:off x="548640" y="4892040"/>
            <a:ext cx="11091672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822960" y="4892040"/>
            <a:ext cx="1600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標準装備の土台</a:t>
            </a:r>
            <a:endParaRPr lang="en-US" sz="1350" dirty="0"/>
          </a:p>
        </p:txBody>
      </p:sp>
      <p:sp>
        <p:nvSpPr>
          <p:cNvPr id="25" name="Shape 21"/>
          <p:cNvSpPr/>
          <p:nvPr/>
        </p:nvSpPr>
        <p:spPr>
          <a:xfrm>
            <a:off x="2514600" y="5221224"/>
            <a:ext cx="438912" cy="438912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1161" y="5317785"/>
            <a:ext cx="245791" cy="245791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3017520" y="5221224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完了は証拠で判定</a:t>
            </a:r>
            <a:endParaRPr lang="en-US" sz="1000" dirty="0"/>
          </a:p>
        </p:txBody>
      </p:sp>
      <p:sp>
        <p:nvSpPr>
          <p:cNvPr id="28" name="Shape 23"/>
          <p:cNvSpPr/>
          <p:nvPr/>
        </p:nvSpPr>
        <p:spPr>
          <a:xfrm>
            <a:off x="4818888" y="5221224"/>
            <a:ext cx="438912" cy="438912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5449" y="5317785"/>
            <a:ext cx="245791" cy="245791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5321808" y="5221224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危険な操作は許可制</a:t>
            </a:r>
            <a:endParaRPr lang="en-US" sz="1000" dirty="0"/>
          </a:p>
        </p:txBody>
      </p:sp>
      <p:sp>
        <p:nvSpPr>
          <p:cNvPr id="31" name="Shape 25"/>
          <p:cNvSpPr/>
          <p:nvPr/>
        </p:nvSpPr>
        <p:spPr>
          <a:xfrm>
            <a:off x="7123176" y="5221224"/>
            <a:ext cx="438912" cy="438912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19737" y="5317785"/>
            <a:ext cx="245791" cy="245791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7626096" y="5221224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PII・秘密は外に出ない</a:t>
            </a:r>
            <a:endParaRPr lang="en-US" sz="1000" dirty="0"/>
          </a:p>
        </p:txBody>
      </p:sp>
      <p:sp>
        <p:nvSpPr>
          <p:cNvPr id="34" name="Shape 27"/>
          <p:cNvSpPr/>
          <p:nvPr/>
        </p:nvSpPr>
        <p:spPr>
          <a:xfrm>
            <a:off x="9427464" y="5221224"/>
            <a:ext cx="438912" cy="438912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24025" y="5317785"/>
            <a:ext cx="245791" cy="245791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9930384" y="5221224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全操作が監査に残る</a:t>
            </a:r>
            <a:endParaRPr lang="en-US" sz="1000" dirty="0"/>
          </a:p>
        </p:txBody>
      </p:sp>
      <p:sp>
        <p:nvSpPr>
          <p:cNvPr id="37" name="Text 29"/>
          <p:cNvSpPr/>
          <p:nvPr/>
        </p:nvSpPr>
        <p:spPr>
          <a:xfrm>
            <a:off x="548640" y="6355080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2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土台の中身（証拠・許可制・防御・監査）は後半のFOUNDATION章で解説 ― 利用者が日常的に意識する必要はない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E3A8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02  USE CASE ― アプリ開発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新規の0→1も、既存の1→10も ― 検証済みの変更だけが残る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11556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2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開発のスピードは依頼と応答の速さで、変更の確からしさはエージェントの実行ループで担保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1371600" cy="402336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600200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0 → 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057400" y="1600200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新規開発 ― 依頼から立ち上げ、ゲートで出荷を判定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2112264"/>
            <a:ext cx="2606040" cy="1051560"/>
          </a:xfrm>
          <a:prstGeom prst="roundRect">
            <a:avLst>
              <a:gd name="adj" fmla="val 7826"/>
            </a:avLst>
          </a:prstGeom>
          <a:solidFill>
            <a:srgbClr val="FFF6E3"/>
          </a:solidFill>
          <a:ln w="9525">
            <a:solidFill>
              <a:srgbClr val="F0DFA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6656" y="2203704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① 依頼・要件整理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76656" y="251460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3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作りたいものを基盤UIに投入。要件は応答の中で具体化</a:t>
            </a:r>
            <a:endParaRPr lang="en-US" sz="93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72968" y="2542032"/>
            <a:ext cx="164592" cy="164592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3346704" y="2112264"/>
            <a:ext cx="2606040" cy="1051560"/>
          </a:xfrm>
          <a:prstGeom prst="roundRect">
            <a:avLst>
              <a:gd name="adj" fmla="val 7826"/>
            </a:avLst>
          </a:prstGeom>
          <a:solidFill>
            <a:srgbClr val="EFF4FC"/>
          </a:solidFill>
          <a:ln w="9525">
            <a:solidFill>
              <a:srgbClr val="DCE4F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474720" y="2203704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② 品質・統制の組込み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3474720" y="251460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3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テスト・ポリシー・監査を初日から標準装備で構築</a:t>
            </a:r>
            <a:endParaRPr lang="en-US" sz="93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1032" y="2542032"/>
            <a:ext cx="164592" cy="164592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6144768" y="2112264"/>
            <a:ext cx="2606040" cy="1051560"/>
          </a:xfrm>
          <a:prstGeom prst="roundRect">
            <a:avLst>
              <a:gd name="adj" fmla="val 7826"/>
            </a:avLst>
          </a:prstGeom>
          <a:solidFill>
            <a:srgbClr val="EFF4FC"/>
          </a:solidFill>
          <a:ln w="9525">
            <a:solidFill>
              <a:srgbClr val="DCE4F2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272784" y="2203704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③ 出荷判定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6272784" y="251460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3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リリースゲート全通過が唯一の合格条件</a:t>
            </a:r>
            <a:endParaRPr lang="en-US" sz="930" dirty="0"/>
          </a:p>
        </p:txBody>
      </p:sp>
      <p:sp>
        <p:nvSpPr>
          <p:cNvPr id="19" name="Shape 15"/>
          <p:cNvSpPr/>
          <p:nvPr/>
        </p:nvSpPr>
        <p:spPr>
          <a:xfrm>
            <a:off x="9098280" y="2112264"/>
            <a:ext cx="2542032" cy="1051560"/>
          </a:xfrm>
          <a:prstGeom prst="roundRect">
            <a:avLst>
              <a:gd name="adj" fmla="val 7826"/>
            </a:avLst>
          </a:prstGeom>
          <a:solidFill>
            <a:srgbClr val="EAF5EE"/>
          </a:solidFill>
          <a:ln w="9525">
            <a:solidFill>
              <a:srgbClr val="BFDFCC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9281160" y="220370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8B5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成果</a:t>
            </a:r>
            <a:endParaRPr lang="en-US" sz="1050" dirty="0"/>
          </a:p>
        </p:txBody>
      </p:sp>
      <p:sp>
        <p:nvSpPr>
          <p:cNvPr id="21" name="Text 17"/>
          <p:cNvSpPr/>
          <p:nvPr/>
        </p:nvSpPr>
        <p:spPr>
          <a:xfrm>
            <a:off x="9281160" y="2487168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3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初日から監査可能な形でサービスが立ち上がる</a:t>
            </a:r>
            <a:endParaRPr lang="en-US" sz="930" dirty="0"/>
          </a:p>
        </p:txBody>
      </p:sp>
      <p:sp>
        <p:nvSpPr>
          <p:cNvPr id="22" name="Shape 18"/>
          <p:cNvSpPr/>
          <p:nvPr/>
        </p:nvSpPr>
        <p:spPr>
          <a:xfrm>
            <a:off x="548640" y="3520440"/>
            <a:ext cx="1371600" cy="402336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/>
        </p:spPr>
      </p:sp>
      <p:sp>
        <p:nvSpPr>
          <p:cNvPr id="23" name="Text 19"/>
          <p:cNvSpPr/>
          <p:nvPr/>
        </p:nvSpPr>
        <p:spPr>
          <a:xfrm>
            <a:off x="548640" y="3520440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 → 10</a:t>
            </a:r>
            <a:endParaRPr lang="en-US" sz="1100" dirty="0"/>
          </a:p>
        </p:txBody>
      </p:sp>
      <p:sp>
        <p:nvSpPr>
          <p:cNvPr id="24" name="Text 20"/>
          <p:cNvSpPr/>
          <p:nvPr/>
        </p:nvSpPr>
        <p:spPr>
          <a:xfrm>
            <a:off x="2057400" y="3520440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既存改修 ― 不具合・変更要求を証拠駆動ループで処理</a:t>
            </a:r>
            <a:endParaRPr lang="en-US" sz="1350" dirty="0"/>
          </a:p>
        </p:txBody>
      </p:sp>
      <p:sp>
        <p:nvSpPr>
          <p:cNvPr id="25" name="Shape 21"/>
          <p:cNvSpPr/>
          <p:nvPr/>
        </p:nvSpPr>
        <p:spPr>
          <a:xfrm>
            <a:off x="548640" y="4032504"/>
            <a:ext cx="2606040" cy="1051560"/>
          </a:xfrm>
          <a:prstGeom prst="roundRect">
            <a:avLst>
              <a:gd name="adj" fmla="val 7826"/>
            </a:avLst>
          </a:prstGeom>
          <a:solidFill>
            <a:srgbClr val="FFF6E3"/>
          </a:solidFill>
          <a:ln w="9525">
            <a:solidFill>
              <a:srgbClr val="F0DFAE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676656" y="4123944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① 依頼</a:t>
            </a:r>
            <a:endParaRPr lang="en-US" sz="1100" dirty="0"/>
          </a:p>
        </p:txBody>
      </p:sp>
      <p:sp>
        <p:nvSpPr>
          <p:cNvPr id="27" name="Text 23"/>
          <p:cNvSpPr/>
          <p:nvPr/>
        </p:nvSpPr>
        <p:spPr>
          <a:xfrm>
            <a:off x="676656" y="443484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3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「このモジュールの不具合を直して」と投入</a:t>
            </a:r>
            <a:endParaRPr lang="en-US" sz="930" dirty="0"/>
          </a:p>
        </p:txBody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2968" y="4462272"/>
            <a:ext cx="164592" cy="164592"/>
          </a:xfrm>
          <a:prstGeom prst="rect">
            <a:avLst/>
          </a:prstGeom>
        </p:spPr>
      </p:pic>
      <p:sp>
        <p:nvSpPr>
          <p:cNvPr id="29" name="Shape 24"/>
          <p:cNvSpPr/>
          <p:nvPr/>
        </p:nvSpPr>
        <p:spPr>
          <a:xfrm>
            <a:off x="3346704" y="4032504"/>
            <a:ext cx="2606040" cy="1051560"/>
          </a:xfrm>
          <a:prstGeom prst="roundRect">
            <a:avLst>
              <a:gd name="adj" fmla="val 7826"/>
            </a:avLst>
          </a:prstGeom>
          <a:solidFill>
            <a:srgbClr val="EFF4FC"/>
          </a:solidFill>
          <a:ln w="9525">
            <a:solidFill>
              <a:srgbClr val="DCE4F2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3474720" y="4123944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② 修正・検証</a:t>
            </a:r>
            <a:endParaRPr lang="en-US" sz="1100" dirty="0"/>
          </a:p>
        </p:txBody>
      </p:sp>
      <p:sp>
        <p:nvSpPr>
          <p:cNvPr id="31" name="Text 26"/>
          <p:cNvSpPr/>
          <p:nvPr/>
        </p:nvSpPr>
        <p:spPr>
          <a:xfrm>
            <a:off x="3474720" y="443484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3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仮説登録→修正案→テスト→全体再点検を自動実行</a:t>
            </a:r>
            <a:endParaRPr lang="en-US" sz="930" dirty="0"/>
          </a:p>
        </p:txBody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71032" y="4462272"/>
            <a:ext cx="164592" cy="164592"/>
          </a:xfrm>
          <a:prstGeom prst="rect">
            <a:avLst/>
          </a:prstGeom>
        </p:spPr>
      </p:pic>
      <p:sp>
        <p:nvSpPr>
          <p:cNvPr id="33" name="Shape 27"/>
          <p:cNvSpPr/>
          <p:nvPr/>
        </p:nvSpPr>
        <p:spPr>
          <a:xfrm>
            <a:off x="6144768" y="4032504"/>
            <a:ext cx="2606040" cy="1051560"/>
          </a:xfrm>
          <a:prstGeom prst="roundRect">
            <a:avLst>
              <a:gd name="adj" fmla="val 7826"/>
            </a:avLst>
          </a:prstGeom>
          <a:solidFill>
            <a:srgbClr val="EFF4FC"/>
          </a:solidFill>
          <a:ln w="9525">
            <a:solidFill>
              <a:srgbClr val="DCE4F2"/>
            </a:solidFill>
            <a:prstDash val="solid"/>
          </a:ln>
        </p:spPr>
      </p:sp>
      <p:sp>
        <p:nvSpPr>
          <p:cNvPr id="34" name="Text 28"/>
          <p:cNvSpPr/>
          <p:nvPr/>
        </p:nvSpPr>
        <p:spPr>
          <a:xfrm>
            <a:off x="6272784" y="4123944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③ 反映</a:t>
            </a:r>
            <a:endParaRPr lang="en-US" sz="1100" dirty="0"/>
          </a:p>
        </p:txBody>
      </p:sp>
      <p:sp>
        <p:nvSpPr>
          <p:cNvPr id="35" name="Text 29"/>
          <p:cNvSpPr/>
          <p:nvPr/>
        </p:nvSpPr>
        <p:spPr>
          <a:xfrm>
            <a:off x="6272784" y="443484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3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証拠が揃った変更だけが完了として残る</a:t>
            </a:r>
            <a:endParaRPr lang="en-US" sz="930" dirty="0"/>
          </a:p>
        </p:txBody>
      </p:sp>
      <p:sp>
        <p:nvSpPr>
          <p:cNvPr id="36" name="Shape 30"/>
          <p:cNvSpPr/>
          <p:nvPr/>
        </p:nvSpPr>
        <p:spPr>
          <a:xfrm>
            <a:off x="9098280" y="4032504"/>
            <a:ext cx="2542032" cy="1051560"/>
          </a:xfrm>
          <a:prstGeom prst="roundRect">
            <a:avLst>
              <a:gd name="adj" fmla="val 7826"/>
            </a:avLst>
          </a:prstGeom>
          <a:solidFill>
            <a:srgbClr val="EAF5EE"/>
          </a:solidFill>
          <a:ln w="9525">
            <a:solidFill>
              <a:srgbClr val="BFDFCC"/>
            </a:solidFill>
            <a:prstDash val="solid"/>
          </a:ln>
        </p:spPr>
      </p:sp>
      <p:sp>
        <p:nvSpPr>
          <p:cNvPr id="37" name="Text 31"/>
          <p:cNvSpPr/>
          <p:nvPr/>
        </p:nvSpPr>
        <p:spPr>
          <a:xfrm>
            <a:off x="9281160" y="412394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8B5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成果</a:t>
            </a:r>
            <a:endParaRPr lang="en-US" sz="1050" dirty="0"/>
          </a:p>
        </p:txBody>
      </p:sp>
      <p:sp>
        <p:nvSpPr>
          <p:cNvPr id="38" name="Text 32"/>
          <p:cNvSpPr/>
          <p:nvPr/>
        </p:nvSpPr>
        <p:spPr>
          <a:xfrm>
            <a:off x="9281160" y="4407408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3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改修スピードと回帰安全（デグレ防止）の両立</a:t>
            </a:r>
            <a:endParaRPr lang="en-US" sz="930" dirty="0"/>
          </a:p>
        </p:txBody>
      </p:sp>
      <p:sp>
        <p:nvSpPr>
          <p:cNvPr id="39" name="Shape 33"/>
          <p:cNvSpPr/>
          <p:nvPr/>
        </p:nvSpPr>
        <p:spPr>
          <a:xfrm>
            <a:off x="548640" y="5440680"/>
            <a:ext cx="11091672" cy="777240"/>
          </a:xfrm>
          <a:prstGeom prst="roundRect">
            <a:avLst>
              <a:gd name="adj" fmla="val 10588"/>
            </a:avLst>
          </a:prstGeom>
          <a:solidFill>
            <a:srgbClr val="EFF4FC"/>
          </a:solidFill>
          <a:ln w="9525">
            <a:solidFill>
              <a:srgbClr val="DCE4F2"/>
            </a:solidFill>
            <a:prstDash val="solid"/>
          </a:ln>
        </p:spPr>
      </p:sp>
      <p:sp>
        <p:nvSpPr>
          <p:cNvPr id="40" name="Text 34"/>
          <p:cNvSpPr/>
          <p:nvPr/>
        </p:nvSpPr>
        <p:spPr>
          <a:xfrm>
            <a:off x="868680" y="5440680"/>
            <a:ext cx="10469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人間の関与: </a:t>
            </a:r>
            <a:pPr indent="0" marL="0">
              <a:buNone/>
            </a:pPr>
            <a:r>
              <a:rPr lang="en-US" sz="120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高リスクな操作と最終受入だけが人間の判断ポイントとして残り、基盤UIを通じて利用者・責任者に戻される。それ以外の定型作業はエージェントが担う。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E3A8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03  EXAMPLE ― 動きの実例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1行の依頼から完了まで ― 部品は基盤が自動で組み立てる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11556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2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実装コードそのままの経路。スキル・ワークフロー・Hooks・サブエージェントを利用者が選ぶ場面は一度もない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7909560" cy="621792"/>
          </a:xfrm>
          <a:prstGeom prst="roundRect">
            <a:avLst>
              <a:gd name="adj" fmla="val 13235"/>
            </a:avLst>
          </a:prstGeom>
          <a:solidFill>
            <a:srgbClr val="FFF6E3"/>
          </a:solidFill>
          <a:ln w="15875">
            <a:solidFill>
              <a:srgbClr val="F0DFA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" y="1691640"/>
            <a:ext cx="347472" cy="34747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713232" y="16916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1188720" y="1691640"/>
            <a:ext cx="1143000" cy="347472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 w="1143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88720" y="1691640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利用者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468880" y="1554480"/>
            <a:ext cx="58704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92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自然言語で依頼する ― </a:t>
            </a:r>
            <a:pPr indent="0" marL="0">
              <a:lnSpc>
                <a:spcPct val="106000"/>
              </a:lnSpc>
              <a:buNone/>
            </a:pPr>
            <a:r>
              <a:rPr lang="en-US" sz="92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基盤UI（チャット）に「◯◯モジュールに機能を追加して」と1行投入するだけ</a:t>
            </a:r>
            <a:endParaRPr lang="en-US" sz="920" dirty="0"/>
          </a:p>
        </p:txBody>
      </p:sp>
      <p:sp>
        <p:nvSpPr>
          <p:cNvPr id="11" name="Shape 9"/>
          <p:cNvSpPr/>
          <p:nvPr/>
        </p:nvSpPr>
        <p:spPr>
          <a:xfrm>
            <a:off x="548640" y="2249424"/>
            <a:ext cx="7909560" cy="621792"/>
          </a:xfrm>
          <a:prstGeom prst="roundRect">
            <a:avLst>
              <a:gd name="adj" fmla="val 13235"/>
            </a:avLst>
          </a:prstGeom>
          <a:solidFill>
            <a:srgbClr val="EFF4FC"/>
          </a:solidFill>
          <a:ln w="9525">
            <a:solidFill>
              <a:srgbClr val="DCE4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13232" y="2386584"/>
            <a:ext cx="347472" cy="347472"/>
          </a:xfrm>
          <a:prstGeom prst="ellipse">
            <a:avLst/>
          </a:prstGeom>
          <a:solidFill>
            <a:srgbClr val="2E3A8C"/>
          </a:solidFill>
          <a:ln/>
        </p:spPr>
      </p:sp>
      <p:sp>
        <p:nvSpPr>
          <p:cNvPr id="13" name="Text 11"/>
          <p:cNvSpPr/>
          <p:nvPr/>
        </p:nvSpPr>
        <p:spPr>
          <a:xfrm>
            <a:off x="713232" y="23865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1188720" y="2386584"/>
            <a:ext cx="1143000" cy="347472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 w="11430">
            <a:solidFill>
              <a:srgbClr val="2E3A8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88720" y="2386584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3A8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委譲IF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468880" y="2249424"/>
            <a:ext cx="58704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92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型付きタスクへ自動変換 ― </a:t>
            </a:r>
            <a:pPr indent="0" marL="0">
              <a:lnSpc>
                <a:spcPct val="106000"/>
              </a:lnSpc>
              <a:buNone/>
            </a:pPr>
            <a:r>
              <a:rPr lang="en-US" sz="92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変更してよいファイル・禁止事項・期待成果物・試行上限・排他リース（1時間）を付けた構造化タスクを発行し、やり取りを記録</a:t>
            </a:r>
            <a:endParaRPr lang="en-US" sz="920" dirty="0"/>
          </a:p>
        </p:txBody>
      </p:sp>
      <p:sp>
        <p:nvSpPr>
          <p:cNvPr id="17" name="Shape 15"/>
          <p:cNvSpPr/>
          <p:nvPr/>
        </p:nvSpPr>
        <p:spPr>
          <a:xfrm>
            <a:off x="548640" y="2944368"/>
            <a:ext cx="7909560" cy="621792"/>
          </a:xfrm>
          <a:prstGeom prst="roundRect">
            <a:avLst>
              <a:gd name="adj" fmla="val 13235"/>
            </a:avLst>
          </a:prstGeom>
          <a:solidFill>
            <a:srgbClr val="EFF4FC"/>
          </a:solidFill>
          <a:ln w="9525">
            <a:solidFill>
              <a:srgbClr val="DCE4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3081528"/>
            <a:ext cx="347472" cy="347472"/>
          </a:xfrm>
          <a:prstGeom prst="ellipse">
            <a:avLst/>
          </a:prstGeom>
          <a:solidFill>
            <a:srgbClr val="2E3A8C"/>
          </a:solidFill>
          <a:ln/>
        </p:spPr>
      </p:sp>
      <p:sp>
        <p:nvSpPr>
          <p:cNvPr id="19" name="Text 17"/>
          <p:cNvSpPr/>
          <p:nvPr/>
        </p:nvSpPr>
        <p:spPr>
          <a:xfrm>
            <a:off x="713232" y="30815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1188720" y="3081528"/>
            <a:ext cx="1143000" cy="347472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 w="11430">
            <a:solidFill>
              <a:srgbClr val="2E3A8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88720" y="3081528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3A8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Hooks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468880" y="2944368"/>
            <a:ext cx="58704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92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常時ガードが自動で効く ― </a:t>
            </a:r>
            <a:pPr indent="0" marL="0">
              <a:lnSpc>
                <a:spcPct val="106000"/>
              </a:lnSpc>
              <a:buNone/>
            </a:pPr>
            <a:r>
              <a:rPr lang="en-US" sz="92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編集・実行ツールの呼び出し毎にガードポリシーを照会。統制資産（ポリシー・監査・秘密設定）への操作は既定拒否で遮断</a:t>
            </a:r>
            <a:endParaRPr lang="en-US" sz="920" dirty="0"/>
          </a:p>
        </p:txBody>
      </p:sp>
      <p:sp>
        <p:nvSpPr>
          <p:cNvPr id="23" name="Shape 21"/>
          <p:cNvSpPr/>
          <p:nvPr/>
        </p:nvSpPr>
        <p:spPr>
          <a:xfrm>
            <a:off x="548640" y="3639312"/>
            <a:ext cx="7909560" cy="621792"/>
          </a:xfrm>
          <a:prstGeom prst="roundRect">
            <a:avLst>
              <a:gd name="adj" fmla="val 13235"/>
            </a:avLst>
          </a:prstGeom>
          <a:solidFill>
            <a:srgbClr val="EFF4FC"/>
          </a:solidFill>
          <a:ln w="9525">
            <a:solidFill>
              <a:srgbClr val="DCE4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13232" y="3776472"/>
            <a:ext cx="347472" cy="347472"/>
          </a:xfrm>
          <a:prstGeom prst="ellipse">
            <a:avLst/>
          </a:prstGeom>
          <a:solidFill>
            <a:srgbClr val="2E3A8C"/>
          </a:solidFill>
          <a:ln/>
        </p:spPr>
      </p:sp>
      <p:sp>
        <p:nvSpPr>
          <p:cNvPr id="25" name="Text 23"/>
          <p:cNvSpPr/>
          <p:nvPr/>
        </p:nvSpPr>
        <p:spPr>
          <a:xfrm>
            <a:off x="713232" y="37764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1188720" y="3776472"/>
            <a:ext cx="1143000" cy="347472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 w="11430">
            <a:solidFill>
              <a:srgbClr val="2E3A8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188720" y="3776472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3A8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スキル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468880" y="3639312"/>
            <a:ext cx="58704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92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昇格済みスキルを自動装着 ― </a:t>
            </a:r>
            <a:pPr indent="0" marL="0">
              <a:lnSpc>
                <a:spcPct val="106000"/>
              </a:lnSpc>
              <a:buNone/>
            </a:pPr>
            <a:r>
              <a:rPr lang="en-US" sz="92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エージェント指示に、審査を通過した昇格済みスキル（出所・巻き戻し情報付き）が自動注入される</a:t>
            </a:r>
            <a:endParaRPr lang="en-US" sz="920" dirty="0"/>
          </a:p>
        </p:txBody>
      </p:sp>
      <p:sp>
        <p:nvSpPr>
          <p:cNvPr id="29" name="Shape 27"/>
          <p:cNvSpPr/>
          <p:nvPr/>
        </p:nvSpPr>
        <p:spPr>
          <a:xfrm>
            <a:off x="548640" y="4334256"/>
            <a:ext cx="7909560" cy="621792"/>
          </a:xfrm>
          <a:prstGeom prst="roundRect">
            <a:avLst>
              <a:gd name="adj" fmla="val 13235"/>
            </a:avLst>
          </a:prstGeom>
          <a:solidFill>
            <a:srgbClr val="EFF4FC"/>
          </a:solidFill>
          <a:ln w="9525">
            <a:solidFill>
              <a:srgbClr val="DCE4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13232" y="4471416"/>
            <a:ext cx="347472" cy="347472"/>
          </a:xfrm>
          <a:prstGeom prst="ellipse">
            <a:avLst/>
          </a:prstGeom>
          <a:solidFill>
            <a:srgbClr val="2E3A8C"/>
          </a:solidFill>
          <a:ln/>
        </p:spPr>
      </p:sp>
      <p:sp>
        <p:nvSpPr>
          <p:cNvPr id="31" name="Text 29"/>
          <p:cNvSpPr/>
          <p:nvPr/>
        </p:nvSpPr>
        <p:spPr>
          <a:xfrm>
            <a:off x="713232" y="44714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188720" y="4471416"/>
            <a:ext cx="1143000" cy="347472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 w="11430">
            <a:solidFill>
              <a:srgbClr val="2E3A8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188720" y="4471416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3A8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ワークフロー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2468880" y="4334256"/>
            <a:ext cx="58704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92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統制ループを自動実行 ― </a:t>
            </a:r>
            <a:pPr indent="0" marL="0">
              <a:lnSpc>
                <a:spcPct val="106000"/>
              </a:lnSpc>
              <a:buNone/>
            </a:pPr>
            <a:r>
              <a:rPr lang="en-US" sz="92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実行ワークフローが起動し、ワーカー（サブエージェント）がサンドボックス上で変更→テスト→再点検。副作用は許可判定後に型付きコードが実施</a:t>
            </a:r>
            <a:endParaRPr lang="en-US" sz="920" dirty="0"/>
          </a:p>
        </p:txBody>
      </p:sp>
      <p:sp>
        <p:nvSpPr>
          <p:cNvPr id="35" name="Shape 33"/>
          <p:cNvSpPr/>
          <p:nvPr/>
        </p:nvSpPr>
        <p:spPr>
          <a:xfrm>
            <a:off x="548640" y="5029200"/>
            <a:ext cx="7909560" cy="621792"/>
          </a:xfrm>
          <a:prstGeom prst="roundRect">
            <a:avLst>
              <a:gd name="adj" fmla="val 13235"/>
            </a:avLst>
          </a:prstGeom>
          <a:solidFill>
            <a:srgbClr val="FFF6E3"/>
          </a:solidFill>
          <a:ln w="15875">
            <a:solidFill>
              <a:srgbClr val="F0DFA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13232" y="5166360"/>
            <a:ext cx="347472" cy="34747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7" name="Text 35"/>
          <p:cNvSpPr/>
          <p:nvPr/>
        </p:nvSpPr>
        <p:spPr>
          <a:xfrm>
            <a:off x="713232" y="51663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6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1188720" y="5166360"/>
            <a:ext cx="1143000" cy="347472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 w="11430">
            <a:solidFill>
              <a:srgbClr val="1E276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188720" y="5166360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利用者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2468880" y="5029200"/>
            <a:ext cx="58704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92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受け入れる ― </a:t>
            </a:r>
            <a:pPr indent="0" marL="0">
              <a:lnSpc>
                <a:spcPct val="106000"/>
              </a:lnSpc>
              <a:buNone/>
            </a:pPr>
            <a:r>
              <a:rPr lang="en-US" sz="92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閉鎖ゲート（証拠の裁定）を通過した結果だけが基盤UIに返され、利用者は受入するだけ</a:t>
            </a:r>
            <a:endParaRPr lang="en-US" sz="920" dirty="0"/>
          </a:p>
        </p:txBody>
      </p:sp>
      <p:sp>
        <p:nvSpPr>
          <p:cNvPr id="41" name="Shape 39"/>
          <p:cNvSpPr/>
          <p:nvPr/>
        </p:nvSpPr>
        <p:spPr>
          <a:xfrm>
            <a:off x="548640" y="5705856"/>
            <a:ext cx="7909560" cy="585216"/>
          </a:xfrm>
          <a:prstGeom prst="roundRect">
            <a:avLst>
              <a:gd name="adj" fmla="val 14063"/>
            </a:avLst>
          </a:prstGeom>
          <a:solidFill>
            <a:srgbClr val="FFFFFF"/>
          </a:solidFill>
          <a:ln w="15875">
            <a:solidFill>
              <a:srgbClr val="2E3A8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13232" y="5824728"/>
            <a:ext cx="347472" cy="347472"/>
          </a:xfrm>
          <a:prstGeom prst="ellipse">
            <a:avLst/>
          </a:prstGeom>
          <a:solidFill>
            <a:srgbClr val="2E3A8C"/>
          </a:solidFill>
          <a:ln/>
        </p:spPr>
      </p:sp>
      <p:sp>
        <p:nvSpPr>
          <p:cNvPr id="43" name="Text 41"/>
          <p:cNvSpPr/>
          <p:nvPr/>
        </p:nvSpPr>
        <p:spPr>
          <a:xfrm>
            <a:off x="713232" y="58247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7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1188720" y="5824728"/>
            <a:ext cx="1143000" cy="347472"/>
          </a:xfrm>
          <a:prstGeom prst="roundRect">
            <a:avLst>
              <a:gd name="adj" fmla="val 50000"/>
            </a:avLst>
          </a:prstGeom>
          <a:solidFill>
            <a:srgbClr val="2E3A8C"/>
          </a:solidFill>
          <a:ln/>
        </p:spPr>
      </p:sp>
      <p:sp>
        <p:nvSpPr>
          <p:cNvPr id="45" name="Text 43"/>
          <p:cNvSpPr/>
          <p:nvPr/>
        </p:nvSpPr>
        <p:spPr>
          <a:xfrm>
            <a:off x="1188720" y="5824728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学習ループ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2468880" y="5705856"/>
            <a:ext cx="58704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繰り返される依頼は、自動でスキル候補になる ― </a:t>
            </a:r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繰り返し依頼・プロンプトのパターンを赤入れ済みの実行記録から自動で候補スキル化（AutoSkill）。検証・昇格審査を経て④へ還流 ― 同じ依頼は次から速く・確実に。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384048" y="3931920"/>
            <a:ext cx="0" cy="2066544"/>
          </a:xfrm>
          <a:prstGeom prst="line">
            <a:avLst/>
          </a:prstGeom>
          <a:noFill/>
          <a:ln w="15875">
            <a:solidFill>
              <a:srgbClr val="2E3A8C"/>
            </a:solidFill>
            <a:prstDash val="dash"/>
            <a:headEnd type="triangle"/>
          </a:ln>
        </p:spPr>
      </p:sp>
      <p:sp>
        <p:nvSpPr>
          <p:cNvPr id="48" name="Shape 46"/>
          <p:cNvSpPr/>
          <p:nvPr/>
        </p:nvSpPr>
        <p:spPr>
          <a:xfrm>
            <a:off x="8641080" y="1572768"/>
            <a:ext cx="2999232" cy="2926080"/>
          </a:xfrm>
          <a:prstGeom prst="roundRect">
            <a:avLst>
              <a:gd name="adj" fmla="val 2813"/>
            </a:avLst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823960" y="175564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利用者の操作は2回だけ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8869680" y="2240280"/>
            <a:ext cx="2560320" cy="420624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51" name="Text 49"/>
          <p:cNvSpPr/>
          <p:nvPr/>
        </p:nvSpPr>
        <p:spPr>
          <a:xfrm>
            <a:off x="8869680" y="2240280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① 依頼（1行）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8869680" y="2788920"/>
            <a:ext cx="2560320" cy="420624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53" name="Text 51"/>
          <p:cNvSpPr/>
          <p:nvPr/>
        </p:nvSpPr>
        <p:spPr>
          <a:xfrm>
            <a:off x="8869680" y="2788920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⑥ 受入（確認）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8869680" y="3364992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その間のタスク化・ガード・スキル装着・実行・検証は、すべて基盤が自動で組み立てる。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8641080" y="4617720"/>
            <a:ext cx="2999232" cy="1627632"/>
          </a:xfrm>
          <a:prstGeom prst="roundRect">
            <a:avLst>
              <a:gd name="adj" fmla="val 5056"/>
            </a:avLst>
          </a:prstGeom>
          <a:solidFill>
            <a:srgbClr val="EFF4FC"/>
          </a:solidFill>
          <a:ln w="9525">
            <a:solidFill>
              <a:srgbClr val="DCE4F2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823960" y="471830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実装上の裏付け</a:t>
            </a:r>
            <a:endParaRPr lang="en-US" sz="1050" dirty="0"/>
          </a:p>
        </p:txBody>
      </p:sp>
      <p:sp>
        <p:nvSpPr>
          <p:cNvPr id="57" name="Text 55"/>
          <p:cNvSpPr/>
          <p:nvPr/>
        </p:nvSpPr>
        <p:spPr>
          <a:xfrm>
            <a:off x="8823960" y="4974336"/>
            <a:ext cx="269748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800" dirty="0">
                <a:solidFill>
                  <a:srgbClr val="5A62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①⑥ チャットUI・ブリッジ＝取込対象OSS（MIT・パッケージ化済）</a:t>
            </a:r>
            <a:endParaRPr lang="en-US" sz="8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800" dirty="0">
                <a:solidFill>
                  <a:srgbClr val="5A62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② delegate.mjs（委譲）</a:t>
            </a:r>
            <a:endParaRPr lang="en-US" sz="8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800" dirty="0">
                <a:solidFill>
                  <a:srgbClr val="5A62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③ settings.json + cc_guard.rego</a:t>
            </a:r>
            <a:endParaRPr lang="en-US" sz="8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800" dirty="0">
                <a:solidFill>
                  <a:srgbClr val="5A62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④ remediator.ts + 昇格スキル</a:t>
            </a:r>
            <a:endParaRPr lang="en-US" sz="8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800" dirty="0">
                <a:solidFill>
                  <a:srgbClr val="5A62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⑤ remediate.ts（ワークフロー）</a:t>
            </a:r>
            <a:endParaRPr lang="en-US" sz="8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800" dirty="0">
                <a:solidFill>
                  <a:srgbClr val="5A62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⑦ AutoSkill（固定版OSS）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548640" y="6355080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利用者がスキルやハーネスを意識しないコンセプトは、この自動組み立てと自動スキル化の還流で実現される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E3A8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04  USE CASE ― 一般業務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一般業務は、データ分析から始まり、同じ床の上で広がる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11556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2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利用者は業務の言葉で頼むだけ。安全性・PII・記録の扱いは基盤が引き受ける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2651760" cy="1828800"/>
          </a:xfrm>
          <a:prstGeom prst="roundRect">
            <a:avLst>
              <a:gd name="adj" fmla="val 4500"/>
            </a:avLst>
          </a:prstGeom>
          <a:solidFill>
            <a:srgbClr val="FFF6E3"/>
          </a:solidFill>
          <a:ln w="9525">
            <a:solidFill>
              <a:srgbClr val="F0DFA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" y="1810512"/>
            <a:ext cx="457200" cy="457200"/>
          </a:xfrm>
          <a:prstGeom prst="ellipse">
            <a:avLst/>
          </a:prstGeom>
          <a:solidFill>
            <a:srgbClr val="D99A16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" y="1911096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80160" y="1874520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① 問い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13232" y="2395728"/>
            <a:ext cx="2322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「地域別の顧客数と平均取引額は？」と業務の言葉で依頼</a:t>
            </a:r>
            <a:endParaRPr lang="en-US" sz="10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2112" y="2468880"/>
            <a:ext cx="182880" cy="18288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3355848" y="1645920"/>
            <a:ext cx="2651760" cy="1828800"/>
          </a:xfrm>
          <a:prstGeom prst="roundRect">
            <a:avLst>
              <a:gd name="adj" fmla="val 4500"/>
            </a:avLst>
          </a:prstGeom>
          <a:solidFill>
            <a:srgbClr val="EFF4FC"/>
          </a:solidFill>
          <a:ln w="9525">
            <a:solidFill>
              <a:srgbClr val="DCE4F2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3520440" y="181051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1024" y="1911096"/>
            <a:ext cx="256032" cy="25603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087368" y="1874520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② 変換・検査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3520440" y="2395728"/>
            <a:ext cx="2322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基盤が集計SQLに変換し、実行前に構文レベルで安全性を検査</a:t>
            </a:r>
            <a:endParaRPr lang="en-US" sz="10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9320" y="2468880"/>
            <a:ext cx="182880" cy="18288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6163056" y="1645920"/>
            <a:ext cx="2651760" cy="1828800"/>
          </a:xfrm>
          <a:prstGeom prst="roundRect">
            <a:avLst>
              <a:gd name="adj" fmla="val 4500"/>
            </a:avLst>
          </a:prstGeom>
          <a:solidFill>
            <a:srgbClr val="EFF4FC"/>
          </a:solidFill>
          <a:ln w="9525">
            <a:solidFill>
              <a:srgbClr val="DCE4F2"/>
            </a:solidFill>
            <a:prstDash val="solid"/>
          </a:ln>
        </p:spPr>
      </p:sp>
      <p:sp>
        <p:nvSpPr>
          <p:cNvPr id="18" name="Shape 12"/>
          <p:cNvSpPr/>
          <p:nvPr/>
        </p:nvSpPr>
        <p:spPr>
          <a:xfrm>
            <a:off x="6327648" y="181051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8232" y="1911096"/>
            <a:ext cx="256032" cy="256032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6894576" y="1874520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③ 集計実行</a:t>
            </a:r>
            <a:endParaRPr lang="en-US" sz="1200" dirty="0"/>
          </a:p>
        </p:txBody>
      </p:sp>
      <p:sp>
        <p:nvSpPr>
          <p:cNvPr id="21" name="Text 14"/>
          <p:cNvSpPr/>
          <p:nvPr/>
        </p:nvSpPr>
        <p:spPr>
          <a:xfrm>
            <a:off x="6327648" y="2395728"/>
            <a:ext cx="2322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許可された表に対する集計クエリだけを実行</a:t>
            </a:r>
            <a:endParaRPr lang="en-US" sz="1000" dirty="0"/>
          </a:p>
        </p:txBody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96528" y="2468880"/>
            <a:ext cx="182880" cy="182880"/>
          </a:xfrm>
          <a:prstGeom prst="rect">
            <a:avLst/>
          </a:prstGeom>
        </p:spPr>
      </p:pic>
      <p:sp>
        <p:nvSpPr>
          <p:cNvPr id="23" name="Shape 15"/>
          <p:cNvSpPr/>
          <p:nvPr/>
        </p:nvSpPr>
        <p:spPr>
          <a:xfrm>
            <a:off x="8970264" y="1645920"/>
            <a:ext cx="2651760" cy="1828800"/>
          </a:xfrm>
          <a:prstGeom prst="roundRect">
            <a:avLst>
              <a:gd name="adj" fmla="val 4500"/>
            </a:avLst>
          </a:prstGeom>
          <a:solidFill>
            <a:srgbClr val="EFF4FC"/>
          </a:solidFill>
          <a:ln w="9525">
            <a:solidFill>
              <a:srgbClr val="DCE4F2"/>
            </a:solidFill>
            <a:prstDash val="solid"/>
          </a:ln>
        </p:spPr>
      </p:sp>
      <p:sp>
        <p:nvSpPr>
          <p:cNvPr id="24" name="Shape 16"/>
          <p:cNvSpPr/>
          <p:nvPr/>
        </p:nvSpPr>
        <p:spPr>
          <a:xfrm>
            <a:off x="9134856" y="181051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35440" y="1911096"/>
            <a:ext cx="256032" cy="256032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9701784" y="1874520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④ 回答</a:t>
            </a:r>
            <a:endParaRPr lang="en-US" sz="1200" dirty="0"/>
          </a:p>
        </p:txBody>
      </p:sp>
      <p:sp>
        <p:nvSpPr>
          <p:cNvPr id="27" name="Text 18"/>
          <p:cNvSpPr/>
          <p:nvPr/>
        </p:nvSpPr>
        <p:spPr>
          <a:xfrm>
            <a:off x="9134856" y="2395728"/>
            <a:ext cx="2322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匿名化済みの集計結果を返却 ― 生データは含まれない</a:t>
            </a:r>
            <a:endParaRPr lang="en-US" sz="1000" dirty="0"/>
          </a:p>
        </p:txBody>
      </p:sp>
      <p:sp>
        <p:nvSpPr>
          <p:cNvPr id="28" name="Shape 19"/>
          <p:cNvSpPr/>
          <p:nvPr/>
        </p:nvSpPr>
        <p:spPr>
          <a:xfrm>
            <a:off x="548640" y="3657600"/>
            <a:ext cx="11091672" cy="502920"/>
          </a:xfrm>
          <a:prstGeom prst="roundRect">
            <a:avLst>
              <a:gd name="adj" fmla="val 16364"/>
            </a:avLst>
          </a:prstGeom>
          <a:solidFill>
            <a:srgbClr val="EFF4FC"/>
          </a:solidFill>
          <a:ln w="9525">
            <a:solidFill>
              <a:srgbClr val="DCE4F2"/>
            </a:solidFill>
            <a:prstDash val="solid"/>
          </a:ln>
        </p:spPr>
      </p:sp>
      <p:sp>
        <p:nvSpPr>
          <p:cNvPr id="29" name="Text 20"/>
          <p:cNvSpPr/>
          <p:nvPr/>
        </p:nvSpPr>
        <p:spPr>
          <a:xfrm>
            <a:off x="868680" y="3657600"/>
            <a:ext cx="10469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裏で効く防御（詳細はFOUNDATION章 F4）: </a:t>
            </a:r>
            <a:pPr indent="0" marL="0">
              <a:buNone/>
            </a:pPr>
            <a:r>
              <a:rPr lang="en-US" sz="110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集計クエリのみ通過 / PII列は全構文位置で拒否 / 結果には拒否の証明フラグが同梱</a:t>
            </a:r>
            <a:endParaRPr lang="en-US" sz="1100" dirty="0"/>
          </a:p>
        </p:txBody>
      </p:sp>
      <p:sp>
        <p:nvSpPr>
          <p:cNvPr id="30" name="Text 21"/>
          <p:cNvSpPr/>
          <p:nvPr/>
        </p:nvSpPr>
        <p:spPr>
          <a:xfrm>
            <a:off x="548640" y="43434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同じ床の上で広げる一般業務（例）</a:t>
            </a:r>
            <a:endParaRPr lang="en-US" sz="1300" dirty="0"/>
          </a:p>
        </p:txBody>
      </p:sp>
      <p:sp>
        <p:nvSpPr>
          <p:cNvPr id="31" name="Shape 22"/>
          <p:cNvSpPr/>
          <p:nvPr/>
        </p:nvSpPr>
        <p:spPr>
          <a:xfrm>
            <a:off x="548640" y="4709160"/>
            <a:ext cx="356616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ADCFC"/>
            </a:solidFill>
            <a:prstDash val="solid"/>
          </a:ln>
        </p:spPr>
      </p:sp>
      <p:sp>
        <p:nvSpPr>
          <p:cNvPr id="32" name="Shape 23"/>
          <p:cNvSpPr/>
          <p:nvPr/>
        </p:nvSpPr>
        <p:spPr>
          <a:xfrm>
            <a:off x="731520" y="4864608"/>
            <a:ext cx="402336" cy="402336"/>
          </a:xfrm>
          <a:prstGeom prst="ellipse">
            <a:avLst/>
          </a:prstGeom>
          <a:solidFill>
            <a:srgbClr val="2E3A8C"/>
          </a:solidFill>
          <a:ln/>
        </p:spPr>
      </p:sp>
      <p:pic>
        <p:nvPicPr>
          <p:cNvPr id="3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0034" y="4953122"/>
            <a:ext cx="225308" cy="225308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1243584" y="491032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定型レポート</a:t>
            </a:r>
            <a:endParaRPr lang="en-US" sz="1150" dirty="0"/>
          </a:p>
        </p:txBody>
      </p:sp>
      <p:sp>
        <p:nvSpPr>
          <p:cNvPr id="35" name="Text 25"/>
          <p:cNvSpPr/>
          <p:nvPr/>
        </p:nvSpPr>
        <p:spPr>
          <a:xfrm>
            <a:off x="731520" y="5321808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8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月次集計・KPIモニタリングを、検証済みの数値だけで自動作成</a:t>
            </a:r>
            <a:endParaRPr lang="en-US" sz="980" dirty="0"/>
          </a:p>
        </p:txBody>
      </p:sp>
      <p:sp>
        <p:nvSpPr>
          <p:cNvPr id="36" name="Shape 26"/>
          <p:cNvSpPr/>
          <p:nvPr/>
        </p:nvSpPr>
        <p:spPr>
          <a:xfrm>
            <a:off x="4343400" y="4709160"/>
            <a:ext cx="356616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ADCFC"/>
            </a:solidFill>
            <a:prstDash val="solid"/>
          </a:ln>
        </p:spPr>
      </p:sp>
      <p:sp>
        <p:nvSpPr>
          <p:cNvPr id="37" name="Shape 27"/>
          <p:cNvSpPr/>
          <p:nvPr/>
        </p:nvSpPr>
        <p:spPr>
          <a:xfrm>
            <a:off x="4526280" y="4864608"/>
            <a:ext cx="402336" cy="402336"/>
          </a:xfrm>
          <a:prstGeom prst="ellipse">
            <a:avLst/>
          </a:prstGeom>
          <a:solidFill>
            <a:srgbClr val="2E3A8C"/>
          </a:solidFill>
          <a:ln/>
        </p:spPr>
      </p:sp>
      <p:pic>
        <p:nvPicPr>
          <p:cNvPr id="3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14794" y="4953122"/>
            <a:ext cx="225308" cy="225308"/>
          </a:xfrm>
          <a:prstGeom prst="rect">
            <a:avLst/>
          </a:prstGeom>
        </p:spPr>
      </p:pic>
      <p:sp>
        <p:nvSpPr>
          <p:cNvPr id="39" name="Text 28"/>
          <p:cNvSpPr/>
          <p:nvPr/>
        </p:nvSpPr>
        <p:spPr>
          <a:xfrm>
            <a:off x="5038344" y="491032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報告・資料ドラフト</a:t>
            </a:r>
            <a:endParaRPr lang="en-US" sz="1150" dirty="0"/>
          </a:p>
        </p:txBody>
      </p:sp>
      <p:sp>
        <p:nvSpPr>
          <p:cNvPr id="40" name="Text 29"/>
          <p:cNvSpPr/>
          <p:nvPr/>
        </p:nvSpPr>
        <p:spPr>
          <a:xfrm>
            <a:off x="4526280" y="5321808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8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集計結果に基づく報告文・資料の下書きを生成 ― 数値の出所は常に追跡可能</a:t>
            </a:r>
            <a:endParaRPr lang="en-US" sz="980" dirty="0"/>
          </a:p>
        </p:txBody>
      </p:sp>
      <p:sp>
        <p:nvSpPr>
          <p:cNvPr id="41" name="Shape 30"/>
          <p:cNvSpPr/>
          <p:nvPr/>
        </p:nvSpPr>
        <p:spPr>
          <a:xfrm>
            <a:off x="8138160" y="4709160"/>
            <a:ext cx="356616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ADCFC"/>
            </a:solidFill>
            <a:prstDash val="solid"/>
          </a:ln>
        </p:spPr>
      </p:sp>
      <p:sp>
        <p:nvSpPr>
          <p:cNvPr id="42" name="Shape 31"/>
          <p:cNvSpPr/>
          <p:nvPr/>
        </p:nvSpPr>
        <p:spPr>
          <a:xfrm>
            <a:off x="8321040" y="4864608"/>
            <a:ext cx="402336" cy="402336"/>
          </a:xfrm>
          <a:prstGeom prst="ellipse">
            <a:avLst/>
          </a:prstGeom>
          <a:solidFill>
            <a:srgbClr val="2E3A8C"/>
          </a:solidFill>
          <a:ln/>
        </p:spPr>
      </p:sp>
      <p:pic>
        <p:nvPicPr>
          <p:cNvPr id="43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09554" y="4953122"/>
            <a:ext cx="225308" cy="225308"/>
          </a:xfrm>
          <a:prstGeom prst="rect">
            <a:avLst/>
          </a:prstGeom>
        </p:spPr>
      </p:pic>
      <p:sp>
        <p:nvSpPr>
          <p:cNvPr id="44" name="Text 32"/>
          <p:cNvSpPr/>
          <p:nvPr/>
        </p:nvSpPr>
        <p:spPr>
          <a:xfrm>
            <a:off x="8833104" y="491032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チェック・点検業務</a:t>
            </a:r>
            <a:endParaRPr lang="en-US" sz="1150" dirty="0"/>
          </a:p>
        </p:txBody>
      </p:sp>
      <p:sp>
        <p:nvSpPr>
          <p:cNvPr id="45" name="Text 33"/>
          <p:cNvSpPr/>
          <p:nvPr/>
        </p:nvSpPr>
        <p:spPr>
          <a:xfrm>
            <a:off x="8321040" y="5321808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8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ルールに基づく点検・照合を実行し、判定根拠を証拠として残す</a:t>
            </a:r>
            <a:endParaRPr lang="en-US" sz="980" dirty="0"/>
          </a:p>
        </p:txBody>
      </p:sp>
      <p:sp>
        <p:nvSpPr>
          <p:cNvPr id="46" name="Text 34"/>
          <p:cNvSpPr/>
          <p:nvPr/>
        </p:nvSpPr>
        <p:spPr>
          <a:xfrm>
            <a:off x="548640" y="6355080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2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データ分析は実装済みの中核。他の一般業務は同一の統制ループ上でPhase 2から拡張（PoCは機能追加のみ、ロードマップ参照）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E3A8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05  DIVISION OF ROLES ― 役割の整理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内部は三役 ― 対話・司令・実行。Claude Codeは役者ではなくエンジン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11556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2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UI/UXのフロント（対話）も、実行も、監査・最適化の床も ― すべて本プロジェクトの内部にある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1920240" cy="329184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46304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利用者に見える世界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865376"/>
            <a:ext cx="3017520" cy="932688"/>
          </a:xfrm>
          <a:prstGeom prst="roundRect">
            <a:avLst>
              <a:gd name="adj" fmla="val 8824"/>
            </a:avLst>
          </a:prstGeom>
          <a:solidFill>
            <a:srgbClr val="EFF4FC"/>
          </a:solidFill>
          <a:ln w="9525">
            <a:solidFill>
              <a:srgbClr val="DCE4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9808" y="2011680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322" y="2100194"/>
            <a:ext cx="225308" cy="22530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80160" y="201168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利用者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49808" y="2359152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業務の言葉で頼み、結果を受け入れる</a:t>
            </a:r>
            <a:endParaRPr lang="en-US" sz="9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2231136"/>
            <a:ext cx="219456" cy="219456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3977640" y="1865376"/>
            <a:ext cx="7662672" cy="932688"/>
          </a:xfrm>
          <a:prstGeom prst="roundRect">
            <a:avLst>
              <a:gd name="adj" fmla="val 8824"/>
            </a:avLst>
          </a:prstGeom>
          <a:solidFill>
            <a:srgbClr val="EFF4FC"/>
          </a:solidFill>
          <a:ln w="9525">
            <a:solidFill>
              <a:srgbClr val="DCE4F2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4178808" y="2011680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7322" y="2100194"/>
            <a:ext cx="225308" cy="22530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709160" y="1865376"/>
            <a:ext cx="67665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基盤UI ― 本プロジェクト自身のチャットUI。依頼と受入が通る唯一の面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548640" y="3090672"/>
            <a:ext cx="11091672" cy="0"/>
          </a:xfrm>
          <a:prstGeom prst="line">
            <a:avLst/>
          </a:prstGeom>
          <a:noFill/>
          <a:ln w="15875">
            <a:solidFill>
              <a:srgbClr val="2E3A8C"/>
            </a:solidFill>
            <a:prstDash val="dash"/>
          </a:ln>
        </p:spPr>
      </p:sp>
      <p:sp>
        <p:nvSpPr>
          <p:cNvPr id="18" name="Shape 13"/>
          <p:cNvSpPr/>
          <p:nvPr/>
        </p:nvSpPr>
        <p:spPr>
          <a:xfrm>
            <a:off x="3566160" y="2935224"/>
            <a:ext cx="502920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1430">
            <a:solidFill>
              <a:srgbClr val="2E3A8C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3566160" y="2935224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E3A8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ここから下は基盤の内部 ― 利用者には見えない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548640" y="3383280"/>
            <a:ext cx="3566160" cy="1298448"/>
          </a:xfrm>
          <a:prstGeom prst="roundRect">
            <a:avLst>
              <a:gd name="adj" fmla="val 6338"/>
            </a:avLst>
          </a:prstGeom>
          <a:solidFill>
            <a:srgbClr val="F7F8FB"/>
          </a:solidFill>
          <a:ln w="9525">
            <a:solidFill>
              <a:srgbClr val="E3E7EF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713232" y="3520440"/>
            <a:ext cx="402336" cy="402336"/>
          </a:xfrm>
          <a:prstGeom prst="ellipse">
            <a:avLst/>
          </a:prstGeom>
          <a:solidFill>
            <a:srgbClr val="B8C0CE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1746" y="3608954"/>
            <a:ext cx="225308" cy="2253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225296" y="3547872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62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① 対話エージェント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713232" y="3931920"/>
            <a:ext cx="3246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80" dirty="0">
                <a:solidFill>
                  <a:srgbClr val="5A62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UIの背後で意図を理解し、ロール切替と最適なGUI（表・チャート・フォーム・文書）で提示する ― 取込フロント由来</a:t>
            </a:r>
            <a:endParaRPr lang="en-US" sz="880" dirty="0"/>
          </a:p>
        </p:txBody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33088" y="3913632"/>
            <a:ext cx="201168" cy="201168"/>
          </a:xfrm>
          <a:prstGeom prst="rect">
            <a:avLst/>
          </a:prstGeom>
        </p:spPr>
      </p:pic>
      <p:sp>
        <p:nvSpPr>
          <p:cNvPr id="26" name="Shape 19"/>
          <p:cNvSpPr/>
          <p:nvPr/>
        </p:nvSpPr>
        <p:spPr>
          <a:xfrm>
            <a:off x="4352544" y="3383280"/>
            <a:ext cx="3566160" cy="1298448"/>
          </a:xfrm>
          <a:prstGeom prst="roundRect">
            <a:avLst>
              <a:gd name="adj" fmla="val 6338"/>
            </a:avLst>
          </a:prstGeom>
          <a:solidFill>
            <a:srgbClr val="F7F8FB"/>
          </a:solidFill>
          <a:ln w="9525">
            <a:solidFill>
              <a:srgbClr val="E3E7EF"/>
            </a:solidFill>
            <a:prstDash val="solid"/>
          </a:ln>
        </p:spPr>
      </p:sp>
      <p:sp>
        <p:nvSpPr>
          <p:cNvPr id="27" name="Shape 20"/>
          <p:cNvSpPr/>
          <p:nvPr/>
        </p:nvSpPr>
        <p:spPr>
          <a:xfrm>
            <a:off x="4517136" y="3520440"/>
            <a:ext cx="402336" cy="402336"/>
          </a:xfrm>
          <a:prstGeom prst="ellipse">
            <a:avLst/>
          </a:prstGeom>
          <a:solidFill>
            <a:srgbClr val="B8C0CE"/>
          </a:solidFill>
          <a:ln/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05650" y="3608954"/>
            <a:ext cx="225308" cy="225308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5029200" y="3547872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62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② 司令</a:t>
            </a:r>
            <a:endParaRPr lang="en-US" sz="1100" dirty="0"/>
          </a:p>
        </p:txBody>
      </p:sp>
      <p:sp>
        <p:nvSpPr>
          <p:cNvPr id="30" name="Text 22"/>
          <p:cNvSpPr/>
          <p:nvPr/>
        </p:nvSpPr>
        <p:spPr>
          <a:xfrm>
            <a:off x="4517136" y="3931920"/>
            <a:ext cx="3246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80" dirty="0">
                <a:solidFill>
                  <a:srgbClr val="5A62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依頼を型付きタスクへ分解・委譲し、結果を受入運転する ― やり取りはすべて記録に残る</a:t>
            </a:r>
            <a:endParaRPr lang="en-US" sz="880" dirty="0"/>
          </a:p>
        </p:txBody>
      </p:sp>
      <p:pic>
        <p:nvPicPr>
          <p:cNvPr id="3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36992" y="3913632"/>
            <a:ext cx="201168" cy="201168"/>
          </a:xfrm>
          <a:prstGeom prst="rect">
            <a:avLst/>
          </a:prstGeom>
        </p:spPr>
      </p:pic>
      <p:sp>
        <p:nvSpPr>
          <p:cNvPr id="32" name="Shape 23"/>
          <p:cNvSpPr/>
          <p:nvPr/>
        </p:nvSpPr>
        <p:spPr>
          <a:xfrm>
            <a:off x="8156448" y="3383280"/>
            <a:ext cx="3566160" cy="1298448"/>
          </a:xfrm>
          <a:prstGeom prst="roundRect">
            <a:avLst>
              <a:gd name="adj" fmla="val 6338"/>
            </a:avLst>
          </a:prstGeom>
          <a:solidFill>
            <a:srgbClr val="F7F8FB"/>
          </a:solidFill>
          <a:ln w="9525">
            <a:solidFill>
              <a:srgbClr val="E3E7EF"/>
            </a:solidFill>
            <a:prstDash val="solid"/>
          </a:ln>
        </p:spPr>
      </p:sp>
      <p:sp>
        <p:nvSpPr>
          <p:cNvPr id="33" name="Shape 24"/>
          <p:cNvSpPr/>
          <p:nvPr/>
        </p:nvSpPr>
        <p:spPr>
          <a:xfrm>
            <a:off x="8321040" y="3520440"/>
            <a:ext cx="402336" cy="402336"/>
          </a:xfrm>
          <a:prstGeom prst="ellipse">
            <a:avLst/>
          </a:prstGeom>
          <a:solidFill>
            <a:srgbClr val="B8C0CE"/>
          </a:solidFill>
          <a:ln/>
        </p:spPr>
      </p:sp>
      <p:pic>
        <p:nvPicPr>
          <p:cNvPr id="3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09554" y="3608954"/>
            <a:ext cx="225308" cy="225308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8833104" y="3547872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62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③ 実行エージェント（Flue+Pi）</a:t>
            </a:r>
            <a:endParaRPr lang="en-US" sz="1100" dirty="0"/>
          </a:p>
        </p:txBody>
      </p:sp>
      <p:sp>
        <p:nvSpPr>
          <p:cNvPr id="36" name="Text 26"/>
          <p:cNvSpPr/>
          <p:nvPr/>
        </p:nvSpPr>
        <p:spPr>
          <a:xfrm>
            <a:off x="8321040" y="3931920"/>
            <a:ext cx="3246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80" dirty="0">
                <a:solidFill>
                  <a:srgbClr val="5A62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修復・分析・業務を床の上で実行。完了は閉鎖ゲート（証拠）が裁定する</a:t>
            </a:r>
            <a:endParaRPr lang="en-US" sz="880" dirty="0"/>
          </a:p>
        </p:txBody>
      </p:sp>
      <p:sp>
        <p:nvSpPr>
          <p:cNvPr id="37" name="Shape 27"/>
          <p:cNvSpPr/>
          <p:nvPr/>
        </p:nvSpPr>
        <p:spPr>
          <a:xfrm>
            <a:off x="548640" y="4791456"/>
            <a:ext cx="6766560" cy="329184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 w="11430">
            <a:solidFill>
              <a:srgbClr val="2E3A8C"/>
            </a:solidFill>
            <a:prstDash val="solid"/>
          </a:ln>
        </p:spPr>
      </p:sp>
      <p:sp>
        <p:nvSpPr>
          <p:cNvPr id="38" name="Text 28"/>
          <p:cNvSpPr/>
          <p:nvPr/>
        </p:nvSpPr>
        <p:spPr>
          <a:xfrm>
            <a:off x="548640" y="4791456"/>
            <a:ext cx="6766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E3A8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①②のエンジンはClaude Code ― 独立した入口ではなく、内部で使われる部品</a:t>
            </a:r>
            <a:endParaRPr lang="en-US" sz="950" dirty="0"/>
          </a:p>
        </p:txBody>
      </p:sp>
      <p:sp>
        <p:nvSpPr>
          <p:cNvPr id="39" name="Shape 29"/>
          <p:cNvSpPr/>
          <p:nvPr/>
        </p:nvSpPr>
        <p:spPr>
          <a:xfrm>
            <a:off x="548640" y="5266944"/>
            <a:ext cx="11091672" cy="713232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40" name="Text 30"/>
          <p:cNvSpPr/>
          <p:nvPr/>
        </p:nvSpPr>
        <p:spPr>
          <a:xfrm>
            <a:off x="822960" y="5266944"/>
            <a:ext cx="1371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床（横断）</a:t>
            </a:r>
            <a:endParaRPr lang="en-US" sz="1250" dirty="0"/>
          </a:p>
        </p:txBody>
      </p:sp>
      <p:sp>
        <p:nvSpPr>
          <p:cNvPr id="41" name="Text 31"/>
          <p:cNvSpPr/>
          <p:nvPr/>
        </p:nvSpPr>
        <p:spPr>
          <a:xfrm>
            <a:off x="2286000" y="5266944"/>
            <a:ext cx="9235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許可（OPA） / 監査 / データ防御 / 最適化（スキル・プラグインの昇格審査、繰り返し依頼の自動スキル化） / 観測 ― 対話にも司令にも実行にも、同じ床が効く</a:t>
            </a:r>
            <a:endParaRPr lang="en-US" sz="1050" dirty="0"/>
          </a:p>
        </p:txBody>
      </p:sp>
      <p:sp>
        <p:nvSpPr>
          <p:cNvPr id="42" name="Text 32"/>
          <p:cNvSpPr/>
          <p:nvPr/>
        </p:nvSpPr>
        <p:spPr>
          <a:xfrm>
            <a:off x="548640" y="6355080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高リスク承認と最終受入は基盤UIを通じて人間へ ― 入口は基盤UIの1面だけ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E3A8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06  ECOSYSTEMS ― 2つの生態系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2つのエコシステムは混ざらない ― つながるのは3つの窓口だけ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11556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2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Claude Codeの拡張機構と、エージェント基盤の資産管理を、明確に分離したまま連携させる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4937760" cy="3063240"/>
          </a:xfrm>
          <a:prstGeom prst="roundRect">
            <a:avLst>
              <a:gd name="adj" fmla="val 2687"/>
            </a:avLst>
          </a:prstGeom>
          <a:solidFill>
            <a:srgbClr val="EFF4FC"/>
          </a:solidFill>
          <a:ln w="9525">
            <a:solidFill>
              <a:srgbClr val="DCE4F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1737360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Claude Code側 ― 基盤を動かす内部の道具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04672" y="2176272"/>
            <a:ext cx="1783080" cy="384048"/>
          </a:xfrm>
          <a:prstGeom prst="roundRect">
            <a:avLst>
              <a:gd name="adj" fmla="val 14286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2176272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Skills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724912" y="2176272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手順・ノウハウの再利用</a:t>
            </a:r>
            <a:endParaRPr lang="en-US" sz="930" dirty="0"/>
          </a:p>
        </p:txBody>
      </p:sp>
      <p:sp>
        <p:nvSpPr>
          <p:cNvPr id="10" name="Shape 8"/>
          <p:cNvSpPr/>
          <p:nvPr/>
        </p:nvSpPr>
        <p:spPr>
          <a:xfrm>
            <a:off x="804672" y="2660904"/>
            <a:ext cx="1783080" cy="384048"/>
          </a:xfrm>
          <a:prstGeom prst="roundRect">
            <a:avLst>
              <a:gd name="adj" fmla="val 14286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804672" y="2660904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Rules（CLAUDE.md）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724912" y="2660904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リポジトリ毎の作法・規約</a:t>
            </a:r>
            <a:endParaRPr lang="en-US" sz="930" dirty="0"/>
          </a:p>
        </p:txBody>
      </p:sp>
      <p:sp>
        <p:nvSpPr>
          <p:cNvPr id="13" name="Shape 11"/>
          <p:cNvSpPr/>
          <p:nvPr/>
        </p:nvSpPr>
        <p:spPr>
          <a:xfrm>
            <a:off x="804672" y="3145536"/>
            <a:ext cx="1783080" cy="384048"/>
          </a:xfrm>
          <a:prstGeom prst="roundRect">
            <a:avLst>
              <a:gd name="adj" fmla="val 14286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804672" y="3145536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Sub-agents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724912" y="3145536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対話の中での分業</a:t>
            </a:r>
            <a:endParaRPr lang="en-US" sz="930" dirty="0"/>
          </a:p>
        </p:txBody>
      </p:sp>
      <p:sp>
        <p:nvSpPr>
          <p:cNvPr id="16" name="Shape 14"/>
          <p:cNvSpPr/>
          <p:nvPr/>
        </p:nvSpPr>
        <p:spPr>
          <a:xfrm>
            <a:off x="804672" y="3630168"/>
            <a:ext cx="1783080" cy="384048"/>
          </a:xfrm>
          <a:prstGeom prst="roundRect">
            <a:avLst>
              <a:gd name="adj" fmla="val 14286"/>
            </a:avLst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804672" y="3630168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Hooks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724912" y="3630168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ツール実行の関所（下記③）</a:t>
            </a:r>
            <a:endParaRPr lang="en-US" sz="930" dirty="0"/>
          </a:p>
        </p:txBody>
      </p:sp>
      <p:sp>
        <p:nvSpPr>
          <p:cNvPr id="19" name="Shape 17"/>
          <p:cNvSpPr/>
          <p:nvPr/>
        </p:nvSpPr>
        <p:spPr>
          <a:xfrm>
            <a:off x="804672" y="4114800"/>
            <a:ext cx="1783080" cy="384048"/>
          </a:xfrm>
          <a:prstGeom prst="roundRect">
            <a:avLst>
              <a:gd name="adj" fmla="val 14286"/>
            </a:avLst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804672" y="411480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Plugins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724912" y="411480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機能拡張の配布単位</a:t>
            </a:r>
            <a:endParaRPr lang="en-US" sz="930" dirty="0"/>
          </a:p>
        </p:txBody>
      </p:sp>
      <p:sp>
        <p:nvSpPr>
          <p:cNvPr id="22" name="Shape 20"/>
          <p:cNvSpPr/>
          <p:nvPr/>
        </p:nvSpPr>
        <p:spPr>
          <a:xfrm>
            <a:off x="6702552" y="1572768"/>
            <a:ext cx="4937760" cy="3063240"/>
          </a:xfrm>
          <a:prstGeom prst="roundRect">
            <a:avLst>
              <a:gd name="adj" fmla="val 2687"/>
            </a:avLst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58584" y="1737360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エージェント基盤側 ― 実行の知恵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958584" y="2176272"/>
            <a:ext cx="1783080" cy="384048"/>
          </a:xfrm>
          <a:prstGeom prst="roundRect">
            <a:avLst>
              <a:gd name="adj" fmla="val 14286"/>
            </a:avLst>
          </a:prstGeom>
          <a:solidFill>
            <a:srgbClr val="2E3A8C"/>
          </a:solidFill>
          <a:ln/>
        </p:spPr>
      </p:sp>
      <p:sp>
        <p:nvSpPr>
          <p:cNvPr id="25" name="Text 23"/>
          <p:cNvSpPr/>
          <p:nvPr/>
        </p:nvSpPr>
        <p:spPr>
          <a:xfrm>
            <a:off x="6958584" y="2176272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スキル・プラグイン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878824" y="2176272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指示も業務機能も昇格審査制（候補→検証→昇格）で管理</a:t>
            </a:r>
            <a:endParaRPr lang="en-US" sz="930" dirty="0"/>
          </a:p>
        </p:txBody>
      </p:sp>
      <p:sp>
        <p:nvSpPr>
          <p:cNvPr id="27" name="Shape 25"/>
          <p:cNvSpPr/>
          <p:nvPr/>
        </p:nvSpPr>
        <p:spPr>
          <a:xfrm>
            <a:off x="6958584" y="2660904"/>
            <a:ext cx="1783080" cy="384048"/>
          </a:xfrm>
          <a:prstGeom prst="roundRect">
            <a:avLst>
              <a:gd name="adj" fmla="val 14286"/>
            </a:avLst>
          </a:prstGeom>
          <a:solidFill>
            <a:srgbClr val="2E3A8C"/>
          </a:solidFill>
          <a:ln/>
        </p:spPr>
      </p:sp>
      <p:sp>
        <p:nvSpPr>
          <p:cNvPr id="28" name="Text 26"/>
          <p:cNvSpPr/>
          <p:nvPr/>
        </p:nvSpPr>
        <p:spPr>
          <a:xfrm>
            <a:off x="6958584" y="2660904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ポリシー（Rego）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878824" y="2660904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許可・拒否のルール。テスト付きで版管理</a:t>
            </a:r>
            <a:endParaRPr lang="en-US" sz="930" dirty="0"/>
          </a:p>
        </p:txBody>
      </p:sp>
      <p:sp>
        <p:nvSpPr>
          <p:cNvPr id="30" name="Shape 28"/>
          <p:cNvSpPr/>
          <p:nvPr/>
        </p:nvSpPr>
        <p:spPr>
          <a:xfrm>
            <a:off x="6958584" y="3145536"/>
            <a:ext cx="1783080" cy="384048"/>
          </a:xfrm>
          <a:prstGeom prst="roundRect">
            <a:avLst>
              <a:gd name="adj" fmla="val 14286"/>
            </a:avLst>
          </a:prstGeom>
          <a:solidFill>
            <a:srgbClr val="2E3A8C"/>
          </a:solidFill>
          <a:ln/>
        </p:spPr>
      </p:sp>
      <p:sp>
        <p:nvSpPr>
          <p:cNvPr id="31" name="Text 29"/>
          <p:cNvSpPr/>
          <p:nvPr/>
        </p:nvSpPr>
        <p:spPr>
          <a:xfrm>
            <a:off x="6958584" y="3145536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ワークフロー（Flue）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8878824" y="3145536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修復・分析の統制された実行手順</a:t>
            </a:r>
            <a:endParaRPr lang="en-US" sz="930" dirty="0"/>
          </a:p>
        </p:txBody>
      </p:sp>
      <p:sp>
        <p:nvSpPr>
          <p:cNvPr id="33" name="Shape 31"/>
          <p:cNvSpPr/>
          <p:nvPr/>
        </p:nvSpPr>
        <p:spPr>
          <a:xfrm>
            <a:off x="6958584" y="3630168"/>
            <a:ext cx="1783080" cy="384048"/>
          </a:xfrm>
          <a:prstGeom prst="roundRect">
            <a:avLst>
              <a:gd name="adj" fmla="val 14286"/>
            </a:avLst>
          </a:prstGeom>
          <a:solidFill>
            <a:srgbClr val="2E3A8C"/>
          </a:solidFill>
          <a:ln/>
        </p:spPr>
      </p:sp>
      <p:sp>
        <p:nvSpPr>
          <p:cNvPr id="34" name="Text 32"/>
          <p:cNvSpPr/>
          <p:nvPr/>
        </p:nvSpPr>
        <p:spPr>
          <a:xfrm>
            <a:off x="6958584" y="3630168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監査・テレメトリ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8878824" y="3630168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全実行の証拠が自動で残る</a:t>
            </a:r>
            <a:endParaRPr lang="en-US" sz="930" dirty="0"/>
          </a:p>
        </p:txBody>
      </p:sp>
      <p:sp>
        <p:nvSpPr>
          <p:cNvPr id="36" name="Shape 34"/>
          <p:cNvSpPr/>
          <p:nvPr/>
        </p:nvSpPr>
        <p:spPr>
          <a:xfrm>
            <a:off x="6958584" y="4114800"/>
            <a:ext cx="1783080" cy="384048"/>
          </a:xfrm>
          <a:prstGeom prst="roundRect">
            <a:avLst>
              <a:gd name="adj" fmla="val 14286"/>
            </a:avLst>
          </a:prstGeom>
          <a:solidFill>
            <a:srgbClr val="2E3A8C"/>
          </a:solidFill>
          <a:ln/>
        </p:spPr>
      </p:sp>
      <p:sp>
        <p:nvSpPr>
          <p:cNvPr id="37" name="Text 35"/>
          <p:cNvSpPr/>
          <p:nvPr/>
        </p:nvSpPr>
        <p:spPr>
          <a:xfrm>
            <a:off x="6958584" y="411480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委譲メッセージ基盤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8878824" y="411480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係間のやり取りを記録に残す</a:t>
            </a:r>
            <a:endParaRPr lang="en-US" sz="930" dirty="0"/>
          </a:p>
        </p:txBody>
      </p:sp>
      <p:sp>
        <p:nvSpPr>
          <p:cNvPr id="39" name="Text 37"/>
          <p:cNvSpPr/>
          <p:nvPr/>
        </p:nvSpPr>
        <p:spPr>
          <a:xfrm>
            <a:off x="548640" y="4773168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3つの窓口（これ以外に両者をつなぐ経路はない）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548640" y="5120640"/>
            <a:ext cx="3566160" cy="1143000"/>
          </a:xfrm>
          <a:prstGeom prst="roundRect">
            <a:avLst>
              <a:gd name="adj" fmla="val 7200"/>
            </a:avLst>
          </a:prstGeom>
          <a:solidFill>
            <a:srgbClr val="FFF6E3"/>
          </a:solidFill>
          <a:ln w="9525">
            <a:solidFill>
              <a:srgbClr val="F0DFA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13232" y="5212080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① 委譲インターフェース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713232" y="5513832"/>
            <a:ext cx="32735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6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実行依頼・状況確認・受入は型付きの窓口（delegate / status / accept）経由。自由チャットは受入記録として扱われない</a:t>
            </a:r>
            <a:endParaRPr lang="en-US" sz="860" dirty="0"/>
          </a:p>
        </p:txBody>
      </p:sp>
      <p:sp>
        <p:nvSpPr>
          <p:cNvPr id="43" name="Shape 41"/>
          <p:cNvSpPr/>
          <p:nvPr/>
        </p:nvSpPr>
        <p:spPr>
          <a:xfrm>
            <a:off x="4343400" y="5120640"/>
            <a:ext cx="3566160" cy="1143000"/>
          </a:xfrm>
          <a:prstGeom prst="roundRect">
            <a:avLst>
              <a:gd name="adj" fmla="val 7200"/>
            </a:avLst>
          </a:prstGeom>
          <a:solidFill>
            <a:srgbClr val="FFF6E3"/>
          </a:solidFill>
          <a:ln w="9525">
            <a:solidFill>
              <a:srgbClr val="F0DFA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07992" y="5212080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② Hooks × ガードポリシー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4507992" y="5513832"/>
            <a:ext cx="32735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6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Claude CodeのHooksに基盤のガード（cc_guard）が組み込まれ、ポリシー・監査・秘密設定への直接操作を既定拒否で遮断</a:t>
            </a:r>
            <a:endParaRPr lang="en-US" sz="860" dirty="0"/>
          </a:p>
        </p:txBody>
      </p:sp>
      <p:sp>
        <p:nvSpPr>
          <p:cNvPr id="46" name="Shape 44"/>
          <p:cNvSpPr/>
          <p:nvPr/>
        </p:nvSpPr>
        <p:spPr>
          <a:xfrm>
            <a:off x="8138160" y="5120640"/>
            <a:ext cx="3566160" cy="1143000"/>
          </a:xfrm>
          <a:prstGeom prst="roundRect">
            <a:avLst>
              <a:gd name="adj" fmla="val 7200"/>
            </a:avLst>
          </a:prstGeom>
          <a:solidFill>
            <a:srgbClr val="FFF6E3"/>
          </a:solidFill>
          <a:ln w="9525">
            <a:solidFill>
              <a:srgbClr val="F0DFA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302752" y="5212080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③ スキル・プラグインの昇格審査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8302752" y="5513832"/>
            <a:ext cx="32735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6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指示の改善も業務機能の追加も候補として提出し、検証とオーケストレーター承認を経て初めて反映</a:t>
            </a:r>
            <a:endParaRPr lang="en-US" sz="860" dirty="0"/>
          </a:p>
        </p:txBody>
      </p:sp>
      <p:sp>
        <p:nvSpPr>
          <p:cNvPr id="49" name="Text 47"/>
          <p:cNvSpPr/>
          <p:nvPr/>
        </p:nvSpPr>
        <p:spPr>
          <a:xfrm>
            <a:off x="548640" y="6355080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2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開発・運用の知恵はClaude Codeに、実行の知恵は基盤に ― どちらも内部資産であり、越境は必ず審査か遮断を通る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E3A8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07  FUNCTIONS ― 機能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6つの機能 ― すべて同じ床の上に載る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11556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2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統制は変えず、頼める形だけが増えていく ― 提供の順序はロードマップの通り（PoCは機能追加のみ）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682496"/>
            <a:ext cx="3611880" cy="2066544"/>
          </a:xfrm>
          <a:prstGeom prst="roundRect">
            <a:avLst>
              <a:gd name="adj" fmla="val 3982"/>
            </a:avLst>
          </a:prstGeom>
          <a:solidFill>
            <a:srgbClr val="EFF4FC"/>
          </a:solidFill>
          <a:ln w="9525">
            <a:solidFill>
              <a:srgbClr val="DCE4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84708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" y="1947672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98448" y="190195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証拠駆動コード修復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31520" y="2432304"/>
            <a:ext cx="3246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不具合や機能追加を仮説として登録し、修正候補の生成・適用・テスト・再スキャンを統制ループで実行。証拠が揃うまで完了しない。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288536" y="1682496"/>
            <a:ext cx="3611880" cy="2066544"/>
          </a:xfrm>
          <a:prstGeom prst="roundRect">
            <a:avLst>
              <a:gd name="adj" fmla="val 3982"/>
            </a:avLst>
          </a:prstGeom>
          <a:solidFill>
            <a:srgbClr val="EFF4FC"/>
          </a:solidFill>
          <a:ln w="9525">
            <a:solidFill>
              <a:srgbClr val="DCE4F2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471416" y="184708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947672"/>
            <a:ext cx="256032" cy="25603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038344" y="190195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統制データ分析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4471416" y="2432304"/>
            <a:ext cx="3246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顧客データへの問いに集計結果だけを返す。SQLは実行前検査、PIIは全構文位置で拒否、結果は匿名化して返却。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8028432" y="1682496"/>
            <a:ext cx="3611880" cy="2066544"/>
          </a:xfrm>
          <a:prstGeom prst="roundRect">
            <a:avLst>
              <a:gd name="adj" fmla="val 3982"/>
            </a:avLst>
          </a:prstGeom>
          <a:solidFill>
            <a:srgbClr val="EFF4FC"/>
          </a:solidFill>
          <a:ln w="9525">
            <a:solidFill>
              <a:srgbClr val="DCE4F2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211312" y="184708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1896" y="1947672"/>
            <a:ext cx="256032" cy="25603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778240" y="190195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標準装備の統制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8211312" y="2432304"/>
            <a:ext cx="3246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許可制・データ防御・外部AI経路・サンドボックス・監査・昇格審査 ― 全機能の床として常に効く（詳細はFOUNDATION章）。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548640" y="3950208"/>
            <a:ext cx="3611880" cy="2066544"/>
          </a:xfrm>
          <a:prstGeom prst="roundRect">
            <a:avLst>
              <a:gd name="adj" fmla="val 3982"/>
            </a:avLst>
          </a:prstGeom>
          <a:solidFill>
            <a:srgbClr val="FFF6E3"/>
          </a:solidFill>
          <a:ln w="13970">
            <a:solidFill>
              <a:srgbClr val="F0DFAE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731520" y="4114800"/>
            <a:ext cx="457200" cy="457200"/>
          </a:xfrm>
          <a:prstGeom prst="ellipse">
            <a:avLst/>
          </a:prstGeom>
          <a:solidFill>
            <a:srgbClr val="D99A16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" y="4215384"/>
            <a:ext cx="256032" cy="25603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298448" y="4169664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業務プラグイン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731520" y="4700016"/>
            <a:ext cx="3246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会計・Wiki・データアプリのような業務機能を、単一レジストリのプラグインとして審査付きで追加。個別アプリを都度作らない。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4288536" y="3950208"/>
            <a:ext cx="3611880" cy="2066544"/>
          </a:xfrm>
          <a:prstGeom prst="roundRect">
            <a:avLst>
              <a:gd name="adj" fmla="val 3982"/>
            </a:avLst>
          </a:prstGeom>
          <a:solidFill>
            <a:srgbClr val="FFF6E3"/>
          </a:solidFill>
          <a:ln w="13970">
            <a:solidFill>
              <a:srgbClr val="F0DFAE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4471416" y="4114800"/>
            <a:ext cx="457200" cy="457200"/>
          </a:xfrm>
          <a:prstGeom prst="ellipse">
            <a:avLst/>
          </a:prstGeom>
          <a:solidFill>
            <a:srgbClr val="D99A16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0" y="4215384"/>
            <a:ext cx="256032" cy="25603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038344" y="4169664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最適な形での提示</a:t>
            </a: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4471416" y="4700016"/>
            <a:ext cx="3246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依頼の内容に応じて、表・チャート・フォーム・文書など最適な形式で結果を提示。利用者は形式を指定しない。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8028432" y="3950208"/>
            <a:ext cx="3611880" cy="2066544"/>
          </a:xfrm>
          <a:prstGeom prst="roundRect">
            <a:avLst>
              <a:gd name="adj" fmla="val 3982"/>
            </a:avLst>
          </a:prstGeom>
          <a:solidFill>
            <a:srgbClr val="FFF6E3"/>
          </a:solidFill>
          <a:ln w="13970">
            <a:solidFill>
              <a:srgbClr val="F0DFAE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8211312" y="4114800"/>
            <a:ext cx="457200" cy="457200"/>
          </a:xfrm>
          <a:prstGeom prst="ellipse">
            <a:avLst/>
          </a:prstGeom>
          <a:solidFill>
            <a:srgbClr val="D99A16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11896" y="4215384"/>
            <a:ext cx="256032" cy="256032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8778240" y="4169664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どこからでも対話</a:t>
            </a:r>
            <a:endParaRPr lang="en-US" sz="1200" dirty="0"/>
          </a:p>
        </p:txBody>
      </p:sp>
      <p:sp>
        <p:nvSpPr>
          <p:cNvPr id="34" name="Text 26"/>
          <p:cNvSpPr/>
          <p:nvPr/>
        </p:nvSpPr>
        <p:spPr>
          <a:xfrm>
            <a:off x="8211312" y="4700016"/>
            <a:ext cx="3246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Web UIや社内メッセージング（Teams等）を窓口に追加し、同一のアシスタントにどこからでも頼める。</a:t>
            </a:r>
            <a:endParaRPr lang="en-US" sz="1000" dirty="0"/>
          </a:p>
        </p:txBody>
      </p:sp>
      <p:sp>
        <p:nvSpPr>
          <p:cNvPr id="35" name="Text 27"/>
          <p:cNvSpPr/>
          <p:nvPr/>
        </p:nvSpPr>
        <p:spPr>
          <a:xfrm>
            <a:off x="548640" y="6355080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2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拡張3機能はロードマップ「ハーネスの進化」の中身 ― 追加される機能も、床（統制）と昇格審査の下に置かれる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E3A8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08  ARCHITECTURE ― 仕様・アーキテクチャ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アーキテクチャは6層 ― 機能はプラグイン、統制は床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11556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2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入口（UI）から床（統制・観測）まで一体の単一アーキテクチャ ― 展開の順序はロードマップが示す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7452360" cy="658368"/>
          </a:xfrm>
          <a:prstGeom prst="roundRect">
            <a:avLst>
              <a:gd name="adj" fmla="val 12500"/>
            </a:avLst>
          </a:prstGeom>
          <a:solidFill>
            <a:srgbClr val="FFF6E3"/>
          </a:solidFill>
          <a:ln w="9525">
            <a:solidFill>
              <a:srgbClr val="F0DFA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" y="1691640"/>
            <a:ext cx="420624" cy="420624"/>
          </a:xfrm>
          <a:prstGeom prst="ellipse">
            <a:avLst/>
          </a:prstGeom>
          <a:solidFill>
            <a:srgbClr val="D99A16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5769" y="1784177"/>
            <a:ext cx="235549" cy="23554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80160" y="1572768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対話・ブリッジ層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2880360" y="1572768"/>
            <a:ext cx="4160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86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本プロジェクトのUI: WebチャットUI + サーバ + ブリッジ。PoCは依頼・受入の最小構成で取り込み、P2で拡充</a:t>
            </a:r>
            <a:endParaRPr lang="en-US" sz="860" dirty="0"/>
          </a:p>
        </p:txBody>
      </p:sp>
      <p:sp>
        <p:nvSpPr>
          <p:cNvPr id="10" name="Shape 7"/>
          <p:cNvSpPr/>
          <p:nvPr/>
        </p:nvSpPr>
        <p:spPr>
          <a:xfrm>
            <a:off x="548640" y="2322576"/>
            <a:ext cx="7452360" cy="658368"/>
          </a:xfrm>
          <a:prstGeom prst="roundRect">
            <a:avLst>
              <a:gd name="adj" fmla="val 12500"/>
            </a:avLst>
          </a:prstGeom>
          <a:solidFill>
            <a:srgbClr val="FFF6E3"/>
          </a:solidFill>
          <a:ln w="9525">
            <a:solidFill>
              <a:srgbClr val="F0DFA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13232" y="2441448"/>
            <a:ext cx="420624" cy="420624"/>
          </a:xfrm>
          <a:prstGeom prst="ellipse">
            <a:avLst/>
          </a:prstGeom>
          <a:solidFill>
            <a:srgbClr val="D99A16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5769" y="2533985"/>
            <a:ext cx="235549" cy="23554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280160" y="2322576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コントローラー層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2880360" y="2322576"/>
            <a:ext cx="4160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86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対話エージェントの中枢: ロール切替で必要ツールのみ装着し、結果を最適なGUIで提示（エンジンはClaude Code）</a:t>
            </a:r>
            <a:endParaRPr lang="en-US" sz="860" dirty="0"/>
          </a:p>
        </p:txBody>
      </p:sp>
      <p:sp>
        <p:nvSpPr>
          <p:cNvPr id="15" name="Shape 11"/>
          <p:cNvSpPr/>
          <p:nvPr/>
        </p:nvSpPr>
        <p:spPr>
          <a:xfrm>
            <a:off x="548640" y="3072384"/>
            <a:ext cx="7452360" cy="658368"/>
          </a:xfrm>
          <a:prstGeom prst="roundRect">
            <a:avLst>
              <a:gd name="adj" fmla="val 12500"/>
            </a:avLst>
          </a:prstGeom>
          <a:solidFill>
            <a:srgbClr val="FFF6E3"/>
          </a:solidFill>
          <a:ln w="9525">
            <a:solidFill>
              <a:srgbClr val="F0DFAE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13232" y="3191256"/>
            <a:ext cx="420624" cy="420624"/>
          </a:xfrm>
          <a:prstGeom prst="ellipse">
            <a:avLst/>
          </a:prstGeom>
          <a:solidFill>
            <a:srgbClr val="D99A16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5769" y="3283793"/>
            <a:ext cx="235549" cy="235549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280160" y="3072384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プラグイン層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2880360" y="3072384"/>
            <a:ext cx="4160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86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業務機能を単一レジストリで管理。採用はスキルと同一の昇格審査（候補→検証→昇格）</a:t>
            </a:r>
            <a:endParaRPr lang="en-US" sz="860" dirty="0"/>
          </a:p>
        </p:txBody>
      </p:sp>
      <p:sp>
        <p:nvSpPr>
          <p:cNvPr id="20" name="Shape 15"/>
          <p:cNvSpPr/>
          <p:nvPr/>
        </p:nvSpPr>
        <p:spPr>
          <a:xfrm>
            <a:off x="548640" y="3822192"/>
            <a:ext cx="7452360" cy="658368"/>
          </a:xfrm>
          <a:prstGeom prst="roundRect">
            <a:avLst>
              <a:gd name="adj" fmla="val 12500"/>
            </a:avLst>
          </a:prstGeom>
          <a:solidFill>
            <a:srgbClr val="EFF4FC"/>
          </a:solidFill>
          <a:ln w="9525">
            <a:solidFill>
              <a:srgbClr val="DCE4F2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713232" y="3941064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5769" y="4033601"/>
            <a:ext cx="235549" cy="235549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280160" y="3822192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実行・統制層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2880360" y="3822192"/>
            <a:ext cx="4160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86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Flue + Pi: 許可制（fail-closed）・データガード・閉鎖ゲート・外部AI経路（ゲートウェイ）・サンドボックス</a:t>
            </a:r>
            <a:endParaRPr lang="en-US" sz="860" dirty="0"/>
          </a:p>
        </p:txBody>
      </p:sp>
      <p:sp>
        <p:nvSpPr>
          <p:cNvPr id="25" name="Shape 19"/>
          <p:cNvSpPr/>
          <p:nvPr/>
        </p:nvSpPr>
        <p:spPr>
          <a:xfrm>
            <a:off x="548640" y="4572000"/>
            <a:ext cx="7452360" cy="658368"/>
          </a:xfrm>
          <a:prstGeom prst="roundRect">
            <a:avLst>
              <a:gd name="adj" fmla="val 12500"/>
            </a:avLst>
          </a:prstGeom>
          <a:solidFill>
            <a:srgbClr val="FFF6E3"/>
          </a:solidFill>
          <a:ln w="9525">
            <a:solidFill>
              <a:srgbClr val="F0DFAE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713232" y="4690872"/>
            <a:ext cx="420624" cy="420624"/>
          </a:xfrm>
          <a:prstGeom prst="ellipse">
            <a:avLst/>
          </a:prstGeom>
          <a:solidFill>
            <a:srgbClr val="D99A16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5769" y="4783409"/>
            <a:ext cx="235549" cy="235549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280160" y="4572000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ワークスペース層</a:t>
            </a:r>
            <a:endParaRPr lang="en-US" sz="1100" dirty="0"/>
          </a:p>
        </p:txBody>
      </p:sp>
      <p:sp>
        <p:nvSpPr>
          <p:cNvPr id="29" name="Text 22"/>
          <p:cNvSpPr/>
          <p:nvPr/>
        </p:nvSpPr>
        <p:spPr>
          <a:xfrm>
            <a:off x="2880360" y="4572000"/>
            <a:ext cx="4160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86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台帳・監査・成果物に加え、記憶（メモ・Wiki・日誌）もプレーンファイルで保持 ― git履歴で追跡、ロックインなし</a:t>
            </a:r>
            <a:endParaRPr lang="en-US" sz="860" dirty="0"/>
          </a:p>
        </p:txBody>
      </p:sp>
      <p:sp>
        <p:nvSpPr>
          <p:cNvPr id="30" name="Shape 23"/>
          <p:cNvSpPr/>
          <p:nvPr/>
        </p:nvSpPr>
        <p:spPr>
          <a:xfrm>
            <a:off x="548640" y="5321808"/>
            <a:ext cx="7452360" cy="658368"/>
          </a:xfrm>
          <a:prstGeom prst="roundRect">
            <a:avLst>
              <a:gd name="adj" fmla="val 12500"/>
            </a:avLst>
          </a:prstGeom>
          <a:solidFill>
            <a:srgbClr val="EFF4FC"/>
          </a:solidFill>
          <a:ln w="9525">
            <a:solidFill>
              <a:srgbClr val="DCE4F2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713232" y="5440680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5769" y="5533217"/>
            <a:ext cx="235549" cy="235549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1280160" y="5321808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観測層</a:t>
            </a:r>
            <a:endParaRPr lang="en-US" sz="1100" dirty="0"/>
          </a:p>
        </p:txBody>
      </p:sp>
      <p:sp>
        <p:nvSpPr>
          <p:cNvPr id="34" name="Text 26"/>
          <p:cNvSpPr/>
          <p:nvPr/>
        </p:nvSpPr>
        <p:spPr>
          <a:xfrm>
            <a:off x="2880360" y="5321808"/>
            <a:ext cx="4160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86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OpenTelemetryトレース / 監査JSONL ― 全層の動作がここに集約される</a:t>
            </a:r>
            <a:endParaRPr lang="en-US" sz="860" dirty="0"/>
          </a:p>
        </p:txBody>
      </p:sp>
      <p:sp>
        <p:nvSpPr>
          <p:cNvPr id="35" name="Text 27"/>
          <p:cNvSpPr/>
          <p:nvPr/>
        </p:nvSpPr>
        <p:spPr>
          <a:xfrm>
            <a:off x="8229600" y="1572768"/>
            <a:ext cx="3429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外部OSS取り込みの流儀（AutoSkillで実績のある流儀）</a:t>
            </a:r>
            <a:endParaRPr lang="en-US" sz="1150" dirty="0"/>
          </a:p>
        </p:txBody>
      </p:sp>
      <p:sp>
        <p:nvSpPr>
          <p:cNvPr id="36" name="Shape 28"/>
          <p:cNvSpPr/>
          <p:nvPr/>
        </p:nvSpPr>
        <p:spPr>
          <a:xfrm>
            <a:off x="8229600" y="1938528"/>
            <a:ext cx="3410712" cy="2578608"/>
          </a:xfrm>
          <a:prstGeom prst="roundRect">
            <a:avLst>
              <a:gd name="adj" fmla="val 3191"/>
            </a:avLst>
          </a:prstGeom>
          <a:solidFill>
            <a:srgbClr val="EFF4FC"/>
          </a:solidFill>
          <a:ln w="9525">
            <a:solidFill>
              <a:srgbClr val="DCE4F2"/>
            </a:solidFill>
            <a:prstDash val="solid"/>
          </a:ln>
        </p:spPr>
      </p:sp>
      <p:sp>
        <p:nvSpPr>
          <p:cNvPr id="37" name="Text 29"/>
          <p:cNvSpPr/>
          <p:nvPr/>
        </p:nvSpPr>
        <p:spPr>
          <a:xfrm>
            <a:off x="8412480" y="2084832"/>
            <a:ext cx="306324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93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再実装せず、固定commit/tagでコードを取り込む</a:t>
            </a:r>
            <a:endParaRPr lang="en-US" sz="930" dirty="0"/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93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取込前にライセンス・脆弱性・SBOMを審査</a:t>
            </a:r>
            <a:endParaRPr lang="en-US" sz="930" dirty="0"/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93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実行はサンドボックス内に限定</a:t>
            </a:r>
            <a:endParaRPr lang="en-US" sz="930" dirty="0"/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93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プラグイン・スキルの採用は昇格審査のみ ― 直接採用の経路はない</a:t>
            </a:r>
            <a:endParaRPr lang="en-US" sz="930" dirty="0"/>
          </a:p>
        </p:txBody>
      </p:sp>
      <p:sp>
        <p:nvSpPr>
          <p:cNvPr id="38" name="Shape 30"/>
          <p:cNvSpPr/>
          <p:nvPr/>
        </p:nvSpPr>
        <p:spPr>
          <a:xfrm>
            <a:off x="8229600" y="4681728"/>
            <a:ext cx="3410712" cy="1463040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 w="15875">
            <a:solidFill>
              <a:srgbClr val="CADCFC"/>
            </a:solidFill>
            <a:prstDash val="solid"/>
          </a:ln>
        </p:spPr>
      </p:sp>
      <p:sp>
        <p:nvSpPr>
          <p:cNvPr id="39" name="Text 31"/>
          <p:cNvSpPr/>
          <p:nvPr/>
        </p:nvSpPr>
        <p:spPr>
          <a:xfrm>
            <a:off x="8412480" y="479145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技術スタック</a:t>
            </a:r>
            <a:endParaRPr lang="en-US" sz="1050" dirty="0"/>
          </a:p>
        </p:txBody>
      </p:sp>
      <p:sp>
        <p:nvSpPr>
          <p:cNvPr id="40" name="Text 32"/>
          <p:cNvSpPr/>
          <p:nvPr/>
        </p:nvSpPr>
        <p:spPr>
          <a:xfrm>
            <a:off x="8412480" y="5084064"/>
            <a:ext cx="31089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60" dirty="0">
                <a:solidFill>
                  <a:srgbClr val="5A62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Flue / Pi / TypeScript / OPA・Rego / SQLGlot・DuckDB・Presidio / LiteLLM / OpenTelemetry / Docker・OpenSandbox / UI・ブリッジ・プラグイン基盤（固定版OSS取込）</a:t>
            </a:r>
            <a:endParaRPr lang="en-US" sz="860" dirty="0"/>
          </a:p>
        </p:txBody>
      </p:sp>
      <p:sp>
        <p:nvSpPr>
          <p:cNvPr id="41" name="Text 33"/>
          <p:cNvSpPr/>
          <p:nvPr/>
        </p:nvSpPr>
        <p:spPr>
          <a:xfrm>
            <a:off x="548640" y="6355080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床（実行・統制層と観測層）は変えずに、上の層だけが育つ ― 拡充の順序はロードマップ「ハーネスの進化」が示す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E3A8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09  ROADMAP ― 目指す姿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「アプリを作る」から「業務を任せる」へ ― 今回はPoCから始める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11556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2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利用者に見えるのは「頼める仕事が増えること」だけ ― スキルもハーネスも意識させないことがこの基盤のコンセプト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利用者に見える世界 ― 変わるのは「頼める範囲」だけ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3566160" cy="1572768"/>
          </a:xfrm>
          <a:prstGeom prst="roundRect">
            <a:avLst>
              <a:gd name="adj" fmla="val 5233"/>
            </a:avLst>
          </a:prstGeom>
          <a:solidFill>
            <a:srgbClr val="FFFFFF"/>
          </a:solidFill>
          <a:ln w="22225">
            <a:solidFill>
              <a:srgbClr val="1E276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1993392"/>
            <a:ext cx="1828800" cy="347472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" y="199339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Phase 1 ― 今回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697480" y="199339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PoC（実証）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49808" y="2487168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エンジニアが、基盤UIから既存アプリへの機能追加を頼める（対象はこれのみに限定）</a:t>
            </a:r>
            <a:endParaRPr lang="en-US" sz="105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42232" y="2487168"/>
            <a:ext cx="237744" cy="237744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4407408" y="1828800"/>
            <a:ext cx="3566160" cy="1572768"/>
          </a:xfrm>
          <a:prstGeom prst="roundRect">
            <a:avLst>
              <a:gd name="adj" fmla="val 5233"/>
            </a:avLst>
          </a:prstGeom>
          <a:solidFill>
            <a:srgbClr val="EFF4FC"/>
          </a:solidFill>
          <a:ln w="9525">
            <a:solidFill>
              <a:srgbClr val="DCE4F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608576" y="1993392"/>
            <a:ext cx="1828800" cy="347472"/>
          </a:xfrm>
          <a:prstGeom prst="roundRect">
            <a:avLst>
              <a:gd name="adj" fmla="val 50000"/>
            </a:avLst>
          </a:prstGeom>
          <a:solidFill>
            <a:srgbClr val="2E3A8C"/>
          </a:solidFill>
          <a:ln/>
        </p:spPr>
      </p:sp>
      <p:sp>
        <p:nvSpPr>
          <p:cNvPr id="14" name="Text 11"/>
          <p:cNvSpPr/>
          <p:nvPr/>
        </p:nvSpPr>
        <p:spPr>
          <a:xfrm>
            <a:off x="4608576" y="199339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Phase 2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556248" y="199339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業務展開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4608576" y="2487168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改修全般・データ分析・一般業務へ拡大。業務担当者が基盤UI・社内メッセージングから頼める</a:t>
            </a:r>
            <a:endParaRPr lang="en-US" sz="105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2487168"/>
            <a:ext cx="237744" cy="237744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8266176" y="1828800"/>
            <a:ext cx="3566160" cy="1572768"/>
          </a:xfrm>
          <a:prstGeom prst="roundRect">
            <a:avLst>
              <a:gd name="adj" fmla="val 5233"/>
            </a:avLst>
          </a:prstGeom>
          <a:solidFill>
            <a:srgbClr val="EAF5EE"/>
          </a:solidFill>
          <a:ln w="15875">
            <a:solidFill>
              <a:srgbClr val="BFDFCC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8467344" y="1993392"/>
            <a:ext cx="1828800" cy="34747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/>
        </p:spPr>
      </p:sp>
      <p:sp>
        <p:nvSpPr>
          <p:cNvPr id="20" name="Text 16"/>
          <p:cNvSpPr/>
          <p:nvPr/>
        </p:nvSpPr>
        <p:spPr>
          <a:xfrm>
            <a:off x="8467344" y="199339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Phase 3 ― 目指す姿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10415016" y="199339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業務の直接実行</a:t>
            </a:r>
            <a:endParaRPr lang="en-US" sz="1250" dirty="0"/>
          </a:p>
        </p:txBody>
      </p:sp>
      <p:sp>
        <p:nvSpPr>
          <p:cNvPr id="22" name="Text 18"/>
          <p:cNvSpPr/>
          <p:nvPr/>
        </p:nvSpPr>
        <p:spPr>
          <a:xfrm>
            <a:off x="8467344" y="2487168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アプリを作らずに、業務をそのまま任せられる</a:t>
            </a:r>
            <a:endParaRPr lang="en-US" sz="1050" dirty="0"/>
          </a:p>
        </p:txBody>
      </p:sp>
      <p:sp>
        <p:nvSpPr>
          <p:cNvPr id="23" name="Shape 19"/>
          <p:cNvSpPr/>
          <p:nvPr/>
        </p:nvSpPr>
        <p:spPr>
          <a:xfrm>
            <a:off x="548640" y="3703320"/>
            <a:ext cx="11091672" cy="0"/>
          </a:xfrm>
          <a:prstGeom prst="line">
            <a:avLst/>
          </a:prstGeom>
          <a:noFill/>
          <a:ln w="15875">
            <a:solidFill>
              <a:srgbClr val="2E3A8C"/>
            </a:solidFill>
            <a:prstDash val="dash"/>
          </a:ln>
        </p:spPr>
      </p:sp>
      <p:sp>
        <p:nvSpPr>
          <p:cNvPr id="24" name="Shape 20"/>
          <p:cNvSpPr/>
          <p:nvPr/>
        </p:nvSpPr>
        <p:spPr>
          <a:xfrm>
            <a:off x="3291840" y="3547872"/>
            <a:ext cx="557784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1430">
            <a:solidFill>
              <a:srgbClr val="2E3A8C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3291840" y="3547872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E3A8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ここから下は、利用者には見せない（基盤側＝AI CoEの責務）</a:t>
            </a:r>
            <a:endParaRPr lang="en-US" sz="950" dirty="0"/>
          </a:p>
        </p:txBody>
      </p:sp>
      <p:sp>
        <p:nvSpPr>
          <p:cNvPr id="26" name="Shape 22"/>
          <p:cNvSpPr/>
          <p:nvPr/>
        </p:nvSpPr>
        <p:spPr>
          <a:xfrm>
            <a:off x="548640" y="4123944"/>
            <a:ext cx="384048" cy="384048"/>
          </a:xfrm>
          <a:prstGeom prst="ellipse">
            <a:avLst/>
          </a:prstGeom>
          <a:solidFill>
            <a:srgbClr val="B8C0CE"/>
          </a:solidFill>
          <a:ln/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131" y="4208435"/>
            <a:ext cx="215067" cy="215067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1005840" y="3977640"/>
            <a:ext cx="12801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5A62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スキルの進化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5A62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（業務の知恵）</a:t>
            </a:r>
            <a:endParaRPr lang="en-US" sz="900" dirty="0"/>
          </a:p>
        </p:txBody>
      </p:sp>
      <p:sp>
        <p:nvSpPr>
          <p:cNvPr id="29" name="Shape 24"/>
          <p:cNvSpPr/>
          <p:nvPr/>
        </p:nvSpPr>
        <p:spPr>
          <a:xfrm>
            <a:off x="2331720" y="3977640"/>
            <a:ext cx="2999232" cy="694944"/>
          </a:xfrm>
          <a:prstGeom prst="roundRect">
            <a:avLst>
              <a:gd name="adj" fmla="val 11842"/>
            </a:avLst>
          </a:prstGeom>
          <a:solidFill>
            <a:srgbClr val="F7F8FB"/>
          </a:solidFill>
          <a:ln w="9525">
            <a:solidFill>
              <a:srgbClr val="E3E7EF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2441448" y="3977640"/>
            <a:ext cx="277977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860" dirty="0">
                <a:solidFill>
                  <a:srgbClr val="5A62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中核業務で昇格サイクル（候補→検証→昇格）を確立</a:t>
            </a:r>
            <a:endParaRPr lang="en-US" sz="860" dirty="0"/>
          </a:p>
        </p:txBody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0096" y="4251960"/>
            <a:ext cx="137160" cy="137160"/>
          </a:xfrm>
          <a:prstGeom prst="rect">
            <a:avLst/>
          </a:prstGeom>
        </p:spPr>
      </p:pic>
      <p:sp>
        <p:nvSpPr>
          <p:cNvPr id="32" name="Shape 26"/>
          <p:cNvSpPr/>
          <p:nvPr/>
        </p:nvSpPr>
        <p:spPr>
          <a:xfrm>
            <a:off x="5458968" y="3977640"/>
            <a:ext cx="2999232" cy="694944"/>
          </a:xfrm>
          <a:prstGeom prst="roundRect">
            <a:avLst>
              <a:gd name="adj" fmla="val 11842"/>
            </a:avLst>
          </a:prstGeom>
          <a:solidFill>
            <a:srgbClr val="F7F8FB"/>
          </a:solidFill>
          <a:ln w="9525">
            <a:solidFill>
              <a:srgbClr val="E3E7EF"/>
            </a:solidFill>
            <a:prstDash val="solid"/>
          </a:ln>
        </p:spPr>
      </p:sp>
      <p:sp>
        <p:nvSpPr>
          <p:cNvPr id="33" name="Text 27"/>
          <p:cNvSpPr/>
          <p:nvPr/>
        </p:nvSpPr>
        <p:spPr>
          <a:xfrm>
            <a:off x="5568696" y="3977640"/>
            <a:ext cx="277977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860" dirty="0">
                <a:solidFill>
                  <a:srgbClr val="5A62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業務別スキルを審査付きで量産し、部門間で再利用</a:t>
            </a:r>
            <a:endParaRPr lang="en-US" sz="860" dirty="0"/>
          </a:p>
        </p:txBody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67344" y="4251960"/>
            <a:ext cx="137160" cy="137160"/>
          </a:xfrm>
          <a:prstGeom prst="rect">
            <a:avLst/>
          </a:prstGeom>
        </p:spPr>
      </p:pic>
      <p:sp>
        <p:nvSpPr>
          <p:cNvPr id="35" name="Shape 28"/>
          <p:cNvSpPr/>
          <p:nvPr/>
        </p:nvSpPr>
        <p:spPr>
          <a:xfrm>
            <a:off x="8586216" y="3977640"/>
            <a:ext cx="2999232" cy="694944"/>
          </a:xfrm>
          <a:prstGeom prst="roundRect">
            <a:avLst>
              <a:gd name="adj" fmla="val 11842"/>
            </a:avLst>
          </a:prstGeom>
          <a:solidFill>
            <a:srgbClr val="F7F8FB"/>
          </a:solidFill>
          <a:ln w="9525">
            <a:solidFill>
              <a:srgbClr val="E3E7EF"/>
            </a:solidFill>
            <a:prstDash val="solid"/>
          </a:ln>
        </p:spPr>
      </p:sp>
      <p:sp>
        <p:nvSpPr>
          <p:cNvPr id="36" name="Text 29"/>
          <p:cNvSpPr/>
          <p:nvPr/>
        </p:nvSpPr>
        <p:spPr>
          <a:xfrm>
            <a:off x="8695944" y="3977640"/>
            <a:ext cx="277977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860" dirty="0">
                <a:solidFill>
                  <a:srgbClr val="5A62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業務カタログ化 ― 依頼の言葉から自動で選ばれる</a:t>
            </a:r>
            <a:endParaRPr lang="en-US" sz="860" dirty="0"/>
          </a:p>
        </p:txBody>
      </p:sp>
      <p:sp>
        <p:nvSpPr>
          <p:cNvPr id="37" name="Shape 30"/>
          <p:cNvSpPr/>
          <p:nvPr/>
        </p:nvSpPr>
        <p:spPr>
          <a:xfrm>
            <a:off x="548640" y="4965192"/>
            <a:ext cx="384048" cy="384048"/>
          </a:xfrm>
          <a:prstGeom prst="ellipse">
            <a:avLst/>
          </a:prstGeom>
          <a:solidFill>
            <a:srgbClr val="B8C0CE"/>
          </a:solidFill>
          <a:ln/>
        </p:spPr>
      </p:sp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3131" y="5049683"/>
            <a:ext cx="215067" cy="215067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1005840" y="4818888"/>
            <a:ext cx="12801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5A62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ハーネスの進化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5A62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（実行機構）</a:t>
            </a:r>
            <a:endParaRPr lang="en-US" sz="900" dirty="0"/>
          </a:p>
        </p:txBody>
      </p:sp>
      <p:sp>
        <p:nvSpPr>
          <p:cNvPr id="40" name="Shape 32"/>
          <p:cNvSpPr/>
          <p:nvPr/>
        </p:nvSpPr>
        <p:spPr>
          <a:xfrm>
            <a:off x="2331720" y="4818888"/>
            <a:ext cx="2999232" cy="694944"/>
          </a:xfrm>
          <a:prstGeom prst="roundRect">
            <a:avLst>
              <a:gd name="adj" fmla="val 11842"/>
            </a:avLst>
          </a:prstGeom>
          <a:solidFill>
            <a:srgbClr val="F7F8FB"/>
          </a:solidFill>
          <a:ln w="9525">
            <a:solidFill>
              <a:srgbClr val="E3E7EF"/>
            </a:solidFill>
            <a:prstDash val="solid"/>
          </a:ln>
        </p:spPr>
      </p:sp>
      <p:sp>
        <p:nvSpPr>
          <p:cNvPr id="41" name="Text 33"/>
          <p:cNvSpPr/>
          <p:nvPr/>
        </p:nvSpPr>
        <p:spPr>
          <a:xfrm>
            <a:off x="2441448" y="4818888"/>
            <a:ext cx="277977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860" dirty="0">
                <a:solidFill>
                  <a:srgbClr val="5A62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チャットUIを最小構成で取り込み、固定ループで基礎能力を実証</a:t>
            </a:r>
            <a:endParaRPr lang="en-US" sz="860" dirty="0"/>
          </a:p>
        </p:txBody>
      </p:sp>
      <p:pic>
        <p:nvPicPr>
          <p:cNvPr id="4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40096" y="5093208"/>
            <a:ext cx="137160" cy="137160"/>
          </a:xfrm>
          <a:prstGeom prst="rect">
            <a:avLst/>
          </a:prstGeom>
        </p:spPr>
      </p:pic>
      <p:sp>
        <p:nvSpPr>
          <p:cNvPr id="43" name="Shape 34"/>
          <p:cNvSpPr/>
          <p:nvPr/>
        </p:nvSpPr>
        <p:spPr>
          <a:xfrm>
            <a:off x="5458968" y="4818888"/>
            <a:ext cx="2999232" cy="694944"/>
          </a:xfrm>
          <a:prstGeom prst="roundRect">
            <a:avLst>
              <a:gd name="adj" fmla="val 11842"/>
            </a:avLst>
          </a:prstGeom>
          <a:solidFill>
            <a:srgbClr val="F7F8FB"/>
          </a:solidFill>
          <a:ln w="9525">
            <a:solidFill>
              <a:srgbClr val="E3E7EF"/>
            </a:solidFill>
            <a:prstDash val="solid"/>
          </a:ln>
        </p:spPr>
      </p:sp>
      <p:sp>
        <p:nvSpPr>
          <p:cNvPr id="44" name="Text 35"/>
          <p:cNvSpPr/>
          <p:nvPr/>
        </p:nvSpPr>
        <p:spPr>
          <a:xfrm>
            <a:off x="5568696" y="4818888"/>
            <a:ext cx="277977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860" dirty="0">
                <a:solidFill>
                  <a:srgbClr val="5A62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GUI提示・ブリッジ・プラグインの拡充に加え、分散実行基盤（Hatchet）を固定版で取り込む（実行環境はコンテナ・K8sへ）</a:t>
            </a:r>
            <a:endParaRPr lang="en-US" sz="860" dirty="0"/>
          </a:p>
        </p:txBody>
      </p:sp>
      <p:pic>
        <p:nvPicPr>
          <p:cNvPr id="4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67344" y="5093208"/>
            <a:ext cx="137160" cy="137160"/>
          </a:xfrm>
          <a:prstGeom prst="rect">
            <a:avLst/>
          </a:prstGeom>
        </p:spPr>
      </p:pic>
      <p:sp>
        <p:nvSpPr>
          <p:cNvPr id="46" name="Shape 36"/>
          <p:cNvSpPr/>
          <p:nvPr/>
        </p:nvSpPr>
        <p:spPr>
          <a:xfrm>
            <a:off x="8586216" y="4818888"/>
            <a:ext cx="2999232" cy="694944"/>
          </a:xfrm>
          <a:prstGeom prst="roundRect">
            <a:avLst>
              <a:gd name="adj" fmla="val 11842"/>
            </a:avLst>
          </a:prstGeom>
          <a:solidFill>
            <a:srgbClr val="F7F8FB"/>
          </a:solidFill>
          <a:ln w="9525">
            <a:solidFill>
              <a:srgbClr val="E3E7EF"/>
            </a:solidFill>
            <a:prstDash val="solid"/>
          </a:ln>
        </p:spPr>
      </p:sp>
      <p:sp>
        <p:nvSpPr>
          <p:cNvPr id="47" name="Text 37"/>
          <p:cNvSpPr/>
          <p:nvPr/>
        </p:nvSpPr>
        <p:spPr>
          <a:xfrm>
            <a:off x="8695944" y="4818888"/>
            <a:ext cx="277977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860" dirty="0">
                <a:solidFill>
                  <a:srgbClr val="5A62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取り込んだ分散実行基盤でエージェントをスケール化 ― 多数の業務を並列に受け、計画・分解・実行まで担う</a:t>
            </a:r>
            <a:endParaRPr lang="en-US" sz="860" dirty="0"/>
          </a:p>
        </p:txBody>
      </p:sp>
      <p:sp>
        <p:nvSpPr>
          <p:cNvPr id="48" name="Text 38"/>
          <p:cNvSpPr/>
          <p:nvPr/>
        </p:nvSpPr>
        <p:spPr>
          <a:xfrm>
            <a:off x="548640" y="58064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成功条件は「利用者が裏側を意識せずに済むこと」 ― 2軸の進化が止まればPhase 3に届かないが、それを利用者に感じさせない</a:t>
            </a:r>
            <a:endParaRPr lang="en-US" sz="1100" dirty="0"/>
          </a:p>
        </p:txBody>
      </p:sp>
      <p:sp>
        <p:nvSpPr>
          <p:cNvPr id="49" name="Text 39"/>
          <p:cNvSpPr/>
          <p:nvPr/>
        </p:nvSpPr>
        <p:spPr>
          <a:xfrm>
            <a:off x="548640" y="6355080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2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PoCでは効果（速度・品質）・統制（監査・防御）・運用負荷を実測し、Phase 2への移行と両軸の投資配分を判断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371600"/>
            <a:ext cx="4023360" cy="4023360"/>
          </a:xfrm>
          <a:prstGeom prst="ellipse">
            <a:avLst/>
          </a:prstGeom>
          <a:solidFill>
            <a:srgbClr val="2E3A8C">
              <a:alpha val="5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9202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ADCF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FOUNDATION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228600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基盤に織り込まれた統制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822960" y="320040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CADCF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ここから先は、利用者が日常的に意識する必要のない「床」の中身。</a:t>
            </a:r>
            <a:endParaRPr lang="en-US" sz="14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CADCF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監査・セキュリティ・ガバナンスの観点から確認したい場合の参照章。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822960" y="4434840"/>
            <a:ext cx="3429000" cy="438912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 w="11430">
            <a:solidFill>
              <a:srgbClr val="CADCF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4434840"/>
            <a:ext cx="3429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F1 完了の定義（証拠）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434840" y="4434840"/>
            <a:ext cx="3429000" cy="438912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 w="11430">
            <a:solidFill>
              <a:srgbClr val="CADC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34840" y="4434840"/>
            <a:ext cx="3429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F2 修復の統制ループ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046720" y="4434840"/>
            <a:ext cx="3429000" cy="438912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 w="11430">
            <a:solidFill>
              <a:srgbClr val="CADCF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46720" y="4434840"/>
            <a:ext cx="3429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F3 許可制（フェイルクローズ）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22960" y="5001768"/>
            <a:ext cx="3429000" cy="438912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 w="11430">
            <a:solidFill>
              <a:srgbClr val="CADCF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5001768"/>
            <a:ext cx="3429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F4 データ防御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434840" y="5001768"/>
            <a:ext cx="3429000" cy="438912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 w="11430">
            <a:solidFill>
              <a:srgbClr val="CADCF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34840" y="5001768"/>
            <a:ext cx="3429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F5 外部AIへの経路と分類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046720" y="5001768"/>
            <a:ext cx="3429000" cy="438912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 w="11430">
            <a:solidFill>
              <a:srgbClr val="CADCF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46720" y="5001768"/>
            <a:ext cx="3429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F6 学習とリリースの審査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E3A8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F1  FOUNDATION ― 完了の定義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「できました」ではなく、証拠が完了を決める ― だから任せられる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11556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2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AIの作業記録（トランスクリプト）は完了証明として扱わない ― 製品要求に明記された土台の原則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627632"/>
            <a:ext cx="2121408" cy="1417320"/>
          </a:xfrm>
          <a:prstGeom prst="roundRect">
            <a:avLst>
              <a:gd name="adj" fmla="val 5806"/>
            </a:avLst>
          </a:prstGeom>
          <a:solidFill>
            <a:srgbClr val="EFF4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94944" y="1773936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3458" y="1862450"/>
            <a:ext cx="225308" cy="2253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88720" y="1828800"/>
            <a:ext cx="1389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ゲート1  証拠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94944" y="2267712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3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仮説・修正・検証が台帳に揃う</a:t>
            </a:r>
            <a:endParaRPr lang="en-US" sz="930" dirty="0"/>
          </a:p>
        </p:txBody>
      </p:sp>
      <p:sp>
        <p:nvSpPr>
          <p:cNvPr id="10" name="Shape 7"/>
          <p:cNvSpPr/>
          <p:nvPr/>
        </p:nvSpPr>
        <p:spPr>
          <a:xfrm>
            <a:off x="2788920" y="1627632"/>
            <a:ext cx="2121408" cy="1417320"/>
          </a:xfrm>
          <a:prstGeom prst="roundRect">
            <a:avLst>
              <a:gd name="adj" fmla="val 5806"/>
            </a:avLst>
          </a:prstGeom>
          <a:solidFill>
            <a:srgbClr val="EFF4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935224" y="1773936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3738" y="1862450"/>
            <a:ext cx="225308" cy="2253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429000" y="1828800"/>
            <a:ext cx="1389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ゲート2  許可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2935224" y="2267712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3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副作用は事前許可を得ている</a:t>
            </a:r>
            <a:endParaRPr lang="en-US" sz="930" dirty="0"/>
          </a:p>
        </p:txBody>
      </p:sp>
      <p:sp>
        <p:nvSpPr>
          <p:cNvPr id="15" name="Shape 11"/>
          <p:cNvSpPr/>
          <p:nvPr/>
        </p:nvSpPr>
        <p:spPr>
          <a:xfrm>
            <a:off x="5029200" y="1627632"/>
            <a:ext cx="2121408" cy="1417320"/>
          </a:xfrm>
          <a:prstGeom prst="roundRect">
            <a:avLst>
              <a:gd name="adj" fmla="val 5806"/>
            </a:avLst>
          </a:prstGeom>
          <a:solidFill>
            <a:srgbClr val="EFF4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5175504" y="1773936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4018" y="1862450"/>
            <a:ext cx="225308" cy="2253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669280" y="1828800"/>
            <a:ext cx="1389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ゲート3  検証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5175504" y="2267712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3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テスト合格+再スキャンで裏付け</a:t>
            </a:r>
            <a:endParaRPr lang="en-US" sz="930" dirty="0"/>
          </a:p>
        </p:txBody>
      </p:sp>
      <p:sp>
        <p:nvSpPr>
          <p:cNvPr id="20" name="Shape 15"/>
          <p:cNvSpPr/>
          <p:nvPr/>
        </p:nvSpPr>
        <p:spPr>
          <a:xfrm>
            <a:off x="7269480" y="1627632"/>
            <a:ext cx="2121408" cy="1417320"/>
          </a:xfrm>
          <a:prstGeom prst="roundRect">
            <a:avLst>
              <a:gd name="adj" fmla="val 5806"/>
            </a:avLst>
          </a:prstGeom>
          <a:solidFill>
            <a:srgbClr val="EFF4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7415784" y="1773936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4298" y="1862450"/>
            <a:ext cx="225308" cy="2253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909560" y="1828800"/>
            <a:ext cx="1389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ゲート4  データ防御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7415784" y="2267712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3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SQL・PIIの関門を通過</a:t>
            </a:r>
            <a:endParaRPr lang="en-US" sz="930" dirty="0"/>
          </a:p>
        </p:txBody>
      </p:sp>
      <p:sp>
        <p:nvSpPr>
          <p:cNvPr id="25" name="Shape 19"/>
          <p:cNvSpPr/>
          <p:nvPr/>
        </p:nvSpPr>
        <p:spPr>
          <a:xfrm>
            <a:off x="9509760" y="1627632"/>
            <a:ext cx="2121408" cy="1417320"/>
          </a:xfrm>
          <a:prstGeom prst="roundRect">
            <a:avLst>
              <a:gd name="adj" fmla="val 5806"/>
            </a:avLst>
          </a:prstGeom>
          <a:solidFill>
            <a:srgbClr val="EFF4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9656064" y="1773936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44578" y="1862450"/>
            <a:ext cx="225308" cy="225308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0149840" y="1828800"/>
            <a:ext cx="1389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ゲート5  監査</a:t>
            </a:r>
            <a:endParaRPr lang="en-US" sz="1100" dirty="0"/>
          </a:p>
        </p:txBody>
      </p:sp>
      <p:sp>
        <p:nvSpPr>
          <p:cNvPr id="29" name="Text 22"/>
          <p:cNvSpPr/>
          <p:nvPr/>
        </p:nvSpPr>
        <p:spPr>
          <a:xfrm>
            <a:off x="9656064" y="2267712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3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全操作が記録に残っている</a:t>
            </a:r>
            <a:endParaRPr lang="en-US" sz="930" dirty="0"/>
          </a:p>
        </p:txBody>
      </p:sp>
      <p:sp>
        <p:nvSpPr>
          <p:cNvPr id="30" name="Text 23"/>
          <p:cNvSpPr/>
          <p:nvPr/>
        </p:nvSpPr>
        <p:spPr>
          <a:xfrm>
            <a:off x="548640" y="31546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3A8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5つのゲートすべてを通過したときだけ、実行は「完了」として閉じる</a:t>
            </a:r>
            <a:endParaRPr lang="en-US" sz="1200" dirty="0"/>
          </a:p>
        </p:txBody>
      </p:sp>
      <p:sp>
        <p:nvSpPr>
          <p:cNvPr id="31" name="Text 24"/>
          <p:cNvSpPr/>
          <p:nvPr/>
        </p:nvSpPr>
        <p:spPr>
          <a:xfrm>
            <a:off x="548640" y="3657600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完了が拒否される5条件（1つでも該当すれば閉じない）</a:t>
            </a:r>
            <a:endParaRPr lang="en-US" sz="1300" dirty="0"/>
          </a:p>
        </p:txBody>
      </p:sp>
      <p:sp>
        <p:nvSpPr>
          <p:cNvPr id="32" name="Shape 25"/>
          <p:cNvSpPr/>
          <p:nvPr/>
        </p:nvSpPr>
        <p:spPr>
          <a:xfrm>
            <a:off x="548640" y="4041648"/>
            <a:ext cx="11091672" cy="1965960"/>
          </a:xfrm>
          <a:prstGeom prst="roundRect">
            <a:avLst>
              <a:gd name="adj" fmla="val 4186"/>
            </a:avLst>
          </a:prstGeom>
          <a:solidFill>
            <a:srgbClr val="FDF0EE"/>
          </a:solidFill>
          <a:ln w="9525">
            <a:solidFill>
              <a:srgbClr val="F0C9C2"/>
            </a:solidFill>
            <a:prstDash val="solid"/>
          </a:ln>
        </p:spPr>
      </p:sp>
      <p:sp>
        <p:nvSpPr>
          <p:cNvPr id="33" name="Shape 26"/>
          <p:cNvSpPr/>
          <p:nvPr/>
        </p:nvSpPr>
        <p:spPr>
          <a:xfrm>
            <a:off x="822960" y="4261104"/>
            <a:ext cx="347472" cy="347472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34" name="Text 27"/>
          <p:cNvSpPr/>
          <p:nvPr/>
        </p:nvSpPr>
        <p:spPr>
          <a:xfrm>
            <a:off x="822960" y="42611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×</a:t>
            </a:r>
            <a:endParaRPr lang="en-US" sz="1300" dirty="0"/>
          </a:p>
        </p:txBody>
      </p:sp>
      <p:sp>
        <p:nvSpPr>
          <p:cNvPr id="35" name="Text 28"/>
          <p:cNvSpPr/>
          <p:nvPr/>
        </p:nvSpPr>
        <p:spPr>
          <a:xfrm>
            <a:off x="1298448" y="4224528"/>
            <a:ext cx="4846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仮説が1件も登録されていない</a:t>
            </a:r>
            <a:endParaRPr lang="en-US" sz="1100" dirty="0"/>
          </a:p>
        </p:txBody>
      </p:sp>
      <p:sp>
        <p:nvSpPr>
          <p:cNvPr id="36" name="Shape 29"/>
          <p:cNvSpPr/>
          <p:nvPr/>
        </p:nvSpPr>
        <p:spPr>
          <a:xfrm>
            <a:off x="6309360" y="4261104"/>
            <a:ext cx="347472" cy="347472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37" name="Text 30"/>
          <p:cNvSpPr/>
          <p:nvPr/>
        </p:nvSpPr>
        <p:spPr>
          <a:xfrm>
            <a:off x="6309360" y="42611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×</a:t>
            </a:r>
            <a:endParaRPr lang="en-US" sz="1300" dirty="0"/>
          </a:p>
        </p:txBody>
      </p:sp>
      <p:sp>
        <p:nvSpPr>
          <p:cNvPr id="38" name="Text 31"/>
          <p:cNvSpPr/>
          <p:nvPr/>
        </p:nvSpPr>
        <p:spPr>
          <a:xfrm>
            <a:off x="6784848" y="4224528"/>
            <a:ext cx="4846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検証されていない仮説が残っている</a:t>
            </a:r>
            <a:endParaRPr lang="en-US" sz="1100" dirty="0"/>
          </a:p>
        </p:txBody>
      </p:sp>
      <p:sp>
        <p:nvSpPr>
          <p:cNvPr id="39" name="Shape 32"/>
          <p:cNvSpPr/>
          <p:nvPr/>
        </p:nvSpPr>
        <p:spPr>
          <a:xfrm>
            <a:off x="822960" y="4828032"/>
            <a:ext cx="347472" cy="347472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40" name="Text 33"/>
          <p:cNvSpPr/>
          <p:nvPr/>
        </p:nvSpPr>
        <p:spPr>
          <a:xfrm>
            <a:off x="822960" y="48280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×</a:t>
            </a:r>
            <a:endParaRPr lang="en-US" sz="1300" dirty="0"/>
          </a:p>
        </p:txBody>
      </p:sp>
      <p:sp>
        <p:nvSpPr>
          <p:cNvPr id="41" name="Text 34"/>
          <p:cNvSpPr/>
          <p:nvPr/>
        </p:nvSpPr>
        <p:spPr>
          <a:xfrm>
            <a:off x="1298448" y="4791456"/>
            <a:ext cx="4846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合格した検証（テスト）が存在しない</a:t>
            </a:r>
            <a:endParaRPr lang="en-US" sz="1100" dirty="0"/>
          </a:p>
        </p:txBody>
      </p:sp>
      <p:sp>
        <p:nvSpPr>
          <p:cNvPr id="42" name="Shape 35"/>
          <p:cNvSpPr/>
          <p:nvPr/>
        </p:nvSpPr>
        <p:spPr>
          <a:xfrm>
            <a:off x="6309360" y="4828032"/>
            <a:ext cx="347472" cy="347472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43" name="Text 36"/>
          <p:cNvSpPr/>
          <p:nvPr/>
        </p:nvSpPr>
        <p:spPr>
          <a:xfrm>
            <a:off x="6309360" y="48280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×</a:t>
            </a:r>
            <a:endParaRPr lang="en-US" sz="1300" dirty="0"/>
          </a:p>
        </p:txBody>
      </p:sp>
      <p:sp>
        <p:nvSpPr>
          <p:cNvPr id="44" name="Text 37"/>
          <p:cNvSpPr/>
          <p:nvPr/>
        </p:nvSpPr>
        <p:spPr>
          <a:xfrm>
            <a:off x="6784848" y="4791456"/>
            <a:ext cx="4846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根拠・許可・検証・データの証拠に欠落がある</a:t>
            </a:r>
            <a:endParaRPr lang="en-US" sz="1100" dirty="0"/>
          </a:p>
        </p:txBody>
      </p:sp>
      <p:sp>
        <p:nvSpPr>
          <p:cNvPr id="45" name="Shape 38"/>
          <p:cNvSpPr/>
          <p:nvPr/>
        </p:nvSpPr>
        <p:spPr>
          <a:xfrm>
            <a:off x="822960" y="5394960"/>
            <a:ext cx="347472" cy="347472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46" name="Text 39"/>
          <p:cNvSpPr/>
          <p:nvPr/>
        </p:nvSpPr>
        <p:spPr>
          <a:xfrm>
            <a:off x="822960" y="53949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×</a:t>
            </a:r>
            <a:endParaRPr lang="en-US" sz="1300" dirty="0"/>
          </a:p>
        </p:txBody>
      </p:sp>
      <p:sp>
        <p:nvSpPr>
          <p:cNvPr id="47" name="Text 40"/>
          <p:cNvSpPr/>
          <p:nvPr/>
        </p:nvSpPr>
        <p:spPr>
          <a:xfrm>
            <a:off x="1298448" y="5358384"/>
            <a:ext cx="4846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修正候補数が仮説数に満たない</a:t>
            </a:r>
            <a:endParaRPr lang="en-US" sz="1100" dirty="0"/>
          </a:p>
        </p:txBody>
      </p:sp>
      <p:sp>
        <p:nvSpPr>
          <p:cNvPr id="48" name="Text 41"/>
          <p:cNvSpPr/>
          <p:nvPr/>
        </p:nvSpPr>
        <p:spPr>
          <a:xfrm>
            <a:off x="548640" y="6355080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2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「証拠不足のまま終わったことにする」経路がそもそも存在しない ― 任せた結果を信じられる根拠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E3A8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F2  FOUNDATION ― 修復の統制ループ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既存改修（1→10）の内側 ― 10ステップの固定された順序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11556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2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自由なエージェントループではなく、契約で固定された順序。AIの役割は「候補生成」と「要約」の2箇所だけ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2103120" cy="1234440"/>
          </a:xfrm>
          <a:prstGeom prst="roundRect">
            <a:avLst>
              <a:gd name="adj" fmla="val 6667"/>
            </a:avLst>
          </a:prstGeom>
          <a:solidFill>
            <a:srgbClr val="EFF4FC"/>
          </a:solidFill>
          <a:ln w="9525">
            <a:solidFill>
              <a:srgbClr val="DCE4F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76656" y="1755648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① 特定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76656" y="2121408"/>
            <a:ext cx="18470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不具合箇所を仮説として抽出</a:t>
            </a:r>
            <a:endParaRPr lang="en-US" sz="95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24328" y="2171700"/>
            <a:ext cx="182880" cy="18288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2793492" y="1645920"/>
            <a:ext cx="2103120" cy="1234440"/>
          </a:xfrm>
          <a:prstGeom prst="roundRect">
            <a:avLst>
              <a:gd name="adj" fmla="val 6667"/>
            </a:avLst>
          </a:prstGeom>
          <a:solidFill>
            <a:srgbClr val="EFF4FC"/>
          </a:solidFill>
          <a:ln w="9525">
            <a:solidFill>
              <a:srgbClr val="DCE4F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921508" y="1755648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② 記録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2921508" y="2121408"/>
            <a:ext cx="18470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仮説を台帳へ登録</a:t>
            </a:r>
            <a:endParaRPr lang="en-US" sz="95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9180" y="2171700"/>
            <a:ext cx="182880" cy="18288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5038344" y="1645920"/>
            <a:ext cx="2103120" cy="1234440"/>
          </a:xfrm>
          <a:prstGeom prst="roundRect">
            <a:avLst>
              <a:gd name="adj" fmla="val 6667"/>
            </a:avLst>
          </a:prstGeom>
          <a:solidFill>
            <a:srgbClr val="EFF4FC"/>
          </a:solidFill>
          <a:ln w="9525">
            <a:solidFill>
              <a:srgbClr val="DCE4F2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5166360" y="1755648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③ 許可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5166360" y="2121408"/>
            <a:ext cx="18470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副作用の可否を事前判定</a:t>
            </a:r>
            <a:endParaRPr lang="en-US" sz="95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4032" y="2171700"/>
            <a:ext cx="182880" cy="18288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7283196" y="1645920"/>
            <a:ext cx="2103120" cy="1234440"/>
          </a:xfrm>
          <a:prstGeom prst="roundRect">
            <a:avLst>
              <a:gd name="adj" fmla="val 6667"/>
            </a:avLst>
          </a:prstGeom>
          <a:solidFill>
            <a:srgbClr val="FFF6E3"/>
          </a:solidFill>
          <a:ln w="15875">
            <a:solidFill>
              <a:srgbClr val="F0DFAE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7411212" y="1755648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④ 候補生成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7411212" y="2121408"/>
            <a:ext cx="18470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仮説毎に複数の修正案を作成</a:t>
            </a:r>
            <a:endParaRPr lang="en-US" sz="950" dirty="0"/>
          </a:p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58884" y="2171700"/>
            <a:ext cx="182880" cy="182880"/>
          </a:xfrm>
          <a:prstGeom prst="rect">
            <a:avLst/>
          </a:prstGeom>
        </p:spPr>
      </p:pic>
      <p:sp>
        <p:nvSpPr>
          <p:cNvPr id="21" name="Shape 15"/>
          <p:cNvSpPr/>
          <p:nvPr/>
        </p:nvSpPr>
        <p:spPr>
          <a:xfrm>
            <a:off x="9528048" y="1645920"/>
            <a:ext cx="2103120" cy="1234440"/>
          </a:xfrm>
          <a:prstGeom prst="roundRect">
            <a:avLst>
              <a:gd name="adj" fmla="val 6667"/>
            </a:avLst>
          </a:prstGeom>
          <a:solidFill>
            <a:srgbClr val="EFF4FC"/>
          </a:solidFill>
          <a:ln w="9525">
            <a:solidFill>
              <a:srgbClr val="DCE4F2"/>
            </a:solidFill>
            <a:prstDash val="solid"/>
          </a:ln>
        </p:spPr>
      </p:sp>
      <p:sp>
        <p:nvSpPr>
          <p:cNvPr id="22" name="Text 16"/>
          <p:cNvSpPr/>
          <p:nvPr/>
        </p:nvSpPr>
        <p:spPr>
          <a:xfrm>
            <a:off x="9656064" y="1755648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⑤ 適用</a:t>
            </a:r>
            <a:endParaRPr lang="en-US" sz="1150" dirty="0"/>
          </a:p>
        </p:txBody>
      </p:sp>
      <p:sp>
        <p:nvSpPr>
          <p:cNvPr id="23" name="Text 17"/>
          <p:cNvSpPr/>
          <p:nvPr/>
        </p:nvSpPr>
        <p:spPr>
          <a:xfrm>
            <a:off x="9656064" y="2121408"/>
            <a:ext cx="18470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型付きツールが選択案を適用</a:t>
            </a:r>
            <a:endParaRPr lang="en-US" sz="950" dirty="0"/>
          </a:p>
        </p:txBody>
      </p:sp>
      <p:sp>
        <p:nvSpPr>
          <p:cNvPr id="24" name="Shape 18"/>
          <p:cNvSpPr/>
          <p:nvPr/>
        </p:nvSpPr>
        <p:spPr>
          <a:xfrm>
            <a:off x="548640" y="3337560"/>
            <a:ext cx="2103120" cy="1234440"/>
          </a:xfrm>
          <a:prstGeom prst="roundRect">
            <a:avLst>
              <a:gd name="adj" fmla="val 6667"/>
            </a:avLst>
          </a:prstGeom>
          <a:solidFill>
            <a:srgbClr val="EFF4FC"/>
          </a:solidFill>
          <a:ln w="9525">
            <a:solidFill>
              <a:srgbClr val="DCE4F2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676656" y="3447288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⑥ 検証</a:t>
            </a:r>
            <a:endParaRPr lang="en-US" sz="1150" dirty="0"/>
          </a:p>
        </p:txBody>
      </p:sp>
      <p:sp>
        <p:nvSpPr>
          <p:cNvPr id="26" name="Text 20"/>
          <p:cNvSpPr/>
          <p:nvPr/>
        </p:nvSpPr>
        <p:spPr>
          <a:xfrm>
            <a:off x="676656" y="3813048"/>
            <a:ext cx="18470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テスト（pytest）で合格を確認</a:t>
            </a:r>
            <a:endParaRPr lang="en-US" sz="950" dirty="0"/>
          </a:p>
        </p:txBody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24328" y="3863340"/>
            <a:ext cx="182880" cy="182880"/>
          </a:xfrm>
          <a:prstGeom prst="rect">
            <a:avLst/>
          </a:prstGeom>
        </p:spPr>
      </p:pic>
      <p:sp>
        <p:nvSpPr>
          <p:cNvPr id="28" name="Shape 21"/>
          <p:cNvSpPr/>
          <p:nvPr/>
        </p:nvSpPr>
        <p:spPr>
          <a:xfrm>
            <a:off x="2793492" y="3337560"/>
            <a:ext cx="2103120" cy="1234440"/>
          </a:xfrm>
          <a:prstGeom prst="roundRect">
            <a:avLst>
              <a:gd name="adj" fmla="val 6667"/>
            </a:avLst>
          </a:prstGeom>
          <a:solidFill>
            <a:srgbClr val="EFF4FC"/>
          </a:solidFill>
          <a:ln w="9525">
            <a:solidFill>
              <a:srgbClr val="DCE4F2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2921508" y="3447288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⑦ 再スキャン</a:t>
            </a:r>
            <a:endParaRPr lang="en-US" sz="1150" dirty="0"/>
          </a:p>
        </p:txBody>
      </p:sp>
      <p:sp>
        <p:nvSpPr>
          <p:cNvPr id="30" name="Text 23"/>
          <p:cNvSpPr/>
          <p:nvPr/>
        </p:nvSpPr>
        <p:spPr>
          <a:xfrm>
            <a:off x="2921508" y="3813048"/>
            <a:ext cx="18470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修正後の全体を再点検</a:t>
            </a:r>
            <a:endParaRPr lang="en-US" sz="950" dirty="0"/>
          </a:p>
        </p:txBody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69180" y="3863340"/>
            <a:ext cx="182880" cy="182880"/>
          </a:xfrm>
          <a:prstGeom prst="rect">
            <a:avLst/>
          </a:prstGeom>
        </p:spPr>
      </p:pic>
      <p:sp>
        <p:nvSpPr>
          <p:cNvPr id="32" name="Shape 24"/>
          <p:cNvSpPr/>
          <p:nvPr/>
        </p:nvSpPr>
        <p:spPr>
          <a:xfrm>
            <a:off x="5038344" y="3337560"/>
            <a:ext cx="2103120" cy="1234440"/>
          </a:xfrm>
          <a:prstGeom prst="roundRect">
            <a:avLst>
              <a:gd name="adj" fmla="val 6667"/>
            </a:avLst>
          </a:prstGeom>
          <a:solidFill>
            <a:srgbClr val="EFF4FC"/>
          </a:solidFill>
          <a:ln w="9525">
            <a:solidFill>
              <a:srgbClr val="DCE4F2"/>
            </a:solidFill>
            <a:prstDash val="solid"/>
          </a:ln>
        </p:spPr>
      </p:sp>
      <p:sp>
        <p:nvSpPr>
          <p:cNvPr id="33" name="Text 25"/>
          <p:cNvSpPr/>
          <p:nvPr/>
        </p:nvSpPr>
        <p:spPr>
          <a:xfrm>
            <a:off x="5166360" y="3447288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⑧ データ防御</a:t>
            </a:r>
            <a:endParaRPr lang="en-US" sz="1150" dirty="0"/>
          </a:p>
        </p:txBody>
      </p:sp>
      <p:sp>
        <p:nvSpPr>
          <p:cNvPr id="34" name="Text 26"/>
          <p:cNvSpPr/>
          <p:nvPr/>
        </p:nvSpPr>
        <p:spPr>
          <a:xfrm>
            <a:off x="5166360" y="3813048"/>
            <a:ext cx="18470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SQL・PIIの関門を実行</a:t>
            </a:r>
            <a:endParaRPr lang="en-US" sz="950" dirty="0"/>
          </a:p>
        </p:txBody>
      </p:sp>
      <p:pic>
        <p:nvPicPr>
          <p:cNvPr id="3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14032" y="3863340"/>
            <a:ext cx="182880" cy="182880"/>
          </a:xfrm>
          <a:prstGeom prst="rect">
            <a:avLst/>
          </a:prstGeom>
        </p:spPr>
      </p:pic>
      <p:sp>
        <p:nvSpPr>
          <p:cNvPr id="36" name="Shape 27"/>
          <p:cNvSpPr/>
          <p:nvPr/>
        </p:nvSpPr>
        <p:spPr>
          <a:xfrm>
            <a:off x="7283196" y="3337560"/>
            <a:ext cx="2103120" cy="1234440"/>
          </a:xfrm>
          <a:prstGeom prst="roundRect">
            <a:avLst>
              <a:gd name="adj" fmla="val 6667"/>
            </a:avLst>
          </a:prstGeom>
          <a:solidFill>
            <a:srgbClr val="EFF4FC"/>
          </a:solidFill>
          <a:ln w="9525">
            <a:solidFill>
              <a:srgbClr val="DCE4F2"/>
            </a:solidFill>
            <a:prstDash val="solid"/>
          </a:ln>
        </p:spPr>
      </p:sp>
      <p:sp>
        <p:nvSpPr>
          <p:cNvPr id="37" name="Text 28"/>
          <p:cNvSpPr/>
          <p:nvPr/>
        </p:nvSpPr>
        <p:spPr>
          <a:xfrm>
            <a:off x="7411212" y="3447288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⑨ 閉鎖判定</a:t>
            </a:r>
            <a:endParaRPr lang="en-US" sz="1150" dirty="0"/>
          </a:p>
        </p:txBody>
      </p:sp>
      <p:sp>
        <p:nvSpPr>
          <p:cNvPr id="38" name="Text 29"/>
          <p:cNvSpPr/>
          <p:nvPr/>
        </p:nvSpPr>
        <p:spPr>
          <a:xfrm>
            <a:off x="7411212" y="3813048"/>
            <a:ext cx="18470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閉鎖ゲートが完了可否を裁定</a:t>
            </a:r>
            <a:endParaRPr lang="en-US" sz="950" dirty="0"/>
          </a:p>
        </p:txBody>
      </p:sp>
      <p:pic>
        <p:nvPicPr>
          <p:cNvPr id="3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58884" y="3863340"/>
            <a:ext cx="182880" cy="182880"/>
          </a:xfrm>
          <a:prstGeom prst="rect">
            <a:avLst/>
          </a:prstGeom>
        </p:spPr>
      </p:pic>
      <p:sp>
        <p:nvSpPr>
          <p:cNvPr id="40" name="Shape 30"/>
          <p:cNvSpPr/>
          <p:nvPr/>
        </p:nvSpPr>
        <p:spPr>
          <a:xfrm>
            <a:off x="9528048" y="3337560"/>
            <a:ext cx="2103120" cy="1234440"/>
          </a:xfrm>
          <a:prstGeom prst="roundRect">
            <a:avLst>
              <a:gd name="adj" fmla="val 6667"/>
            </a:avLst>
          </a:prstGeom>
          <a:solidFill>
            <a:srgbClr val="FFF6E3"/>
          </a:solidFill>
          <a:ln w="15875">
            <a:solidFill>
              <a:srgbClr val="F0DFAE"/>
            </a:solidFill>
            <a:prstDash val="solid"/>
          </a:ln>
        </p:spPr>
      </p:sp>
      <p:sp>
        <p:nvSpPr>
          <p:cNvPr id="41" name="Text 31"/>
          <p:cNvSpPr/>
          <p:nvPr/>
        </p:nvSpPr>
        <p:spPr>
          <a:xfrm>
            <a:off x="9656064" y="3447288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⑩ 要約</a:t>
            </a:r>
            <a:endParaRPr lang="en-US" sz="1150" dirty="0"/>
          </a:p>
        </p:txBody>
      </p:sp>
      <p:sp>
        <p:nvSpPr>
          <p:cNvPr id="42" name="Text 32"/>
          <p:cNvSpPr/>
          <p:nvPr/>
        </p:nvSpPr>
        <p:spPr>
          <a:xfrm>
            <a:off x="9656064" y="3813048"/>
            <a:ext cx="18470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検証済み証拠のみをAIが要約</a:t>
            </a:r>
            <a:endParaRPr lang="en-US" sz="950" dirty="0"/>
          </a:p>
        </p:txBody>
      </p:sp>
      <p:sp>
        <p:nvSpPr>
          <p:cNvPr id="43" name="Shape 33"/>
          <p:cNvSpPr/>
          <p:nvPr/>
        </p:nvSpPr>
        <p:spPr>
          <a:xfrm>
            <a:off x="11292840" y="2880360"/>
            <a:ext cx="0" cy="32004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44" name="Shape 34"/>
          <p:cNvSpPr/>
          <p:nvPr/>
        </p:nvSpPr>
        <p:spPr>
          <a:xfrm>
            <a:off x="548640" y="4892040"/>
            <a:ext cx="6949440" cy="329184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 w="11430">
            <a:solidFill>
              <a:srgbClr val="2E3A8C"/>
            </a:solidFill>
            <a:prstDash val="solid"/>
          </a:ln>
        </p:spPr>
      </p:sp>
      <p:sp>
        <p:nvSpPr>
          <p:cNvPr id="45" name="Text 35"/>
          <p:cNvSpPr/>
          <p:nvPr/>
        </p:nvSpPr>
        <p:spPr>
          <a:xfrm>
            <a:off x="548640" y="4892040"/>
            <a:ext cx="6949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E3A8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黄色 = AIが関与する2ステップ（それ以外はすべて決定的なコードと許可判定）</a:t>
            </a:r>
            <a:endParaRPr lang="en-US" sz="1050" dirty="0"/>
          </a:p>
        </p:txBody>
      </p:sp>
      <p:sp>
        <p:nvSpPr>
          <p:cNvPr id="46" name="Shape 36"/>
          <p:cNvSpPr/>
          <p:nvPr/>
        </p:nvSpPr>
        <p:spPr>
          <a:xfrm>
            <a:off x="548640" y="5440680"/>
            <a:ext cx="11091672" cy="777240"/>
          </a:xfrm>
          <a:prstGeom prst="roundRect">
            <a:avLst>
              <a:gd name="adj" fmla="val 10588"/>
            </a:avLst>
          </a:prstGeom>
          <a:solidFill>
            <a:srgbClr val="EFF4FC"/>
          </a:solidFill>
          <a:ln w="9525">
            <a:solidFill>
              <a:srgbClr val="DCE4F2"/>
            </a:solidFill>
            <a:prstDash val="solid"/>
          </a:ln>
        </p:spPr>
      </p:sp>
      <p:sp>
        <p:nvSpPr>
          <p:cNvPr id="47" name="Text 37"/>
          <p:cNvSpPr/>
          <p:nvPr/>
        </p:nvSpPr>
        <p:spPr>
          <a:xfrm>
            <a:off x="868680" y="5440680"/>
            <a:ext cx="10469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権限の設計: </a:t>
            </a:r>
            <a:pPr indent="0" marL="0">
              <a:buNone/>
            </a:pPr>
            <a:r>
              <a:rPr lang="en-US" sz="120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AI（Flue/Pi）が持つツールは副作用のない「説明」だけ。パッチ適用・ファイル操作は、許可判定後に型付きワークフローコードが実行する。高リスク操作は自動実行されず人間の承認に回る。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E3A8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F3  FOUNDATION ― 許可制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危険な操作は、頼んでも実行されない ― 判定機構が落ちても答えは「拒否」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11556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2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OPA（Open Policy Agent）が唯一の許可権限。ポリシーはコードとしてテスト・版管理される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5440680" cy="2103120"/>
          </a:xfrm>
          <a:prstGeom prst="roundRect">
            <a:avLst>
              <a:gd name="adj" fmla="val 3913"/>
            </a:avLst>
          </a:prstGeom>
          <a:solidFill>
            <a:srgbClr val="EFF4FC"/>
          </a:solidFill>
          <a:ln w="9525">
            <a:solidFill>
              <a:srgbClr val="DCE4F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81051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フェイルクローズの原則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22960" y="2286000"/>
            <a:ext cx="1554480" cy="402336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286000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ツール実行要求</a:t>
            </a:r>
            <a:endParaRPr lang="en-US" sz="105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50592" y="2395728"/>
            <a:ext cx="182880" cy="18288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2697480" y="2286000"/>
            <a:ext cx="1143000" cy="402336"/>
          </a:xfrm>
          <a:prstGeom prst="roundRect">
            <a:avLst>
              <a:gd name="adj" fmla="val 50000"/>
            </a:avLst>
          </a:prstGeom>
          <a:solidFill>
            <a:srgbClr val="2E3A8C"/>
          </a:solidFill>
          <a:ln/>
        </p:spPr>
      </p:sp>
      <p:sp>
        <p:nvSpPr>
          <p:cNvPr id="11" name="Text 8"/>
          <p:cNvSpPr/>
          <p:nvPr/>
        </p:nvSpPr>
        <p:spPr>
          <a:xfrm>
            <a:off x="2697480" y="2286000"/>
            <a:ext cx="1143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許可判定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4023360" y="221284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E8B5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許可 → 実行（型付きコードが実施）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4023360" y="2505456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99A1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拒否 / 高リスク → 人間承認へ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822960" y="2926080"/>
            <a:ext cx="4892040" cy="658368"/>
          </a:xfrm>
          <a:prstGeom prst="roundRect">
            <a:avLst>
              <a:gd name="adj" fmla="val 12500"/>
            </a:avLst>
          </a:prstGeom>
          <a:solidFill>
            <a:srgbClr val="FDF0EE"/>
          </a:solidFill>
          <a:ln w="9525">
            <a:solidFill>
              <a:srgbClr val="F0C9C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60120" y="2926080"/>
            <a:ext cx="4617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判定機構自体が停止・失敗した場合も「許可しない・承認必須」に倒れる（fail-closed）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6263640" y="164592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ポリシーが保証する6つの禁止・統制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6263640" y="2103120"/>
            <a:ext cx="365760" cy="365760"/>
          </a:xfrm>
          <a:prstGeom prst="ellipse">
            <a:avLst/>
          </a:prstGeom>
          <a:solidFill>
            <a:srgbClr val="2E8B57"/>
          </a:solidFill>
          <a:ln/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4107" y="2183587"/>
            <a:ext cx="204826" cy="204826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6720840" y="210312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3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ゲストユーザーはパッチを適用できない</a:t>
            </a:r>
            <a:endParaRPr lang="en-US" sz="930" dirty="0"/>
          </a:p>
        </p:txBody>
      </p:sp>
      <p:sp>
        <p:nvSpPr>
          <p:cNvPr id="20" name="Shape 16"/>
          <p:cNvSpPr/>
          <p:nvPr/>
        </p:nvSpPr>
        <p:spPr>
          <a:xfrm>
            <a:off x="9006840" y="2103120"/>
            <a:ext cx="365760" cy="365760"/>
          </a:xfrm>
          <a:prstGeom prst="ellipse">
            <a:avLst/>
          </a:prstGeom>
          <a:solidFill>
            <a:srgbClr val="2E8B57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87307" y="2183587"/>
            <a:ext cx="204826" cy="204826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9464040" y="210312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3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テナントをまたぐ要求は拒否される</a:t>
            </a:r>
            <a:endParaRPr lang="en-US" sz="930" dirty="0"/>
          </a:p>
        </p:txBody>
      </p:sp>
      <p:sp>
        <p:nvSpPr>
          <p:cNvPr id="23" name="Shape 18"/>
          <p:cNvSpPr/>
          <p:nvPr/>
        </p:nvSpPr>
        <p:spPr>
          <a:xfrm>
            <a:off x="6263640" y="2706624"/>
            <a:ext cx="365760" cy="365760"/>
          </a:xfrm>
          <a:prstGeom prst="ellipse">
            <a:avLst/>
          </a:prstGeom>
          <a:solidFill>
            <a:srgbClr val="2E8B57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4107" y="2787091"/>
            <a:ext cx="204826" cy="204826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720840" y="2706624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3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シェル実行ツールは拒否される</a:t>
            </a:r>
            <a:endParaRPr lang="en-US" sz="930" dirty="0"/>
          </a:p>
        </p:txBody>
      </p:sp>
      <p:sp>
        <p:nvSpPr>
          <p:cNvPr id="26" name="Shape 20"/>
          <p:cNvSpPr/>
          <p:nvPr/>
        </p:nvSpPr>
        <p:spPr>
          <a:xfrm>
            <a:off x="9006840" y="2706624"/>
            <a:ext cx="365760" cy="365760"/>
          </a:xfrm>
          <a:prstGeom prst="ellipse">
            <a:avLst/>
          </a:prstGeom>
          <a:solidFill>
            <a:srgbClr val="2E8B57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7307" y="2787091"/>
            <a:ext cx="204826" cy="204826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9464040" y="2706624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3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未知のツールは拒否される</a:t>
            </a:r>
            <a:endParaRPr lang="en-US" sz="930" dirty="0"/>
          </a:p>
        </p:txBody>
      </p:sp>
      <p:sp>
        <p:nvSpPr>
          <p:cNvPr id="29" name="Shape 22"/>
          <p:cNvSpPr/>
          <p:nvPr/>
        </p:nvSpPr>
        <p:spPr>
          <a:xfrm>
            <a:off x="6263640" y="3310128"/>
            <a:ext cx="365760" cy="365760"/>
          </a:xfrm>
          <a:prstGeom prst="ellipse">
            <a:avLst/>
          </a:prstGeom>
          <a:solidFill>
            <a:srgbClr val="2E8B57"/>
          </a:solidFill>
          <a:ln/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44107" y="3390595"/>
            <a:ext cx="204826" cy="204826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6720840" y="3310128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3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生SQLツールは拒否される</a:t>
            </a:r>
            <a:endParaRPr lang="en-US" sz="930" dirty="0"/>
          </a:p>
        </p:txBody>
      </p:sp>
      <p:sp>
        <p:nvSpPr>
          <p:cNvPr id="32" name="Shape 24"/>
          <p:cNvSpPr/>
          <p:nvPr/>
        </p:nvSpPr>
        <p:spPr>
          <a:xfrm>
            <a:off x="9006840" y="3310128"/>
            <a:ext cx="365760" cy="365760"/>
          </a:xfrm>
          <a:prstGeom prst="ellipse">
            <a:avLst/>
          </a:prstGeom>
          <a:solidFill>
            <a:srgbClr val="2E8B57"/>
          </a:solidFill>
          <a:ln/>
        </p:spPr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87307" y="3390595"/>
            <a:ext cx="204826" cy="204826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9464040" y="3310128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3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高リスク操作は自動実行されず承認に回る</a:t>
            </a:r>
            <a:endParaRPr lang="en-US" sz="930" dirty="0"/>
          </a:p>
        </p:txBody>
      </p:sp>
      <p:sp>
        <p:nvSpPr>
          <p:cNvPr id="35" name="Shape 26"/>
          <p:cNvSpPr/>
          <p:nvPr/>
        </p:nvSpPr>
        <p:spPr>
          <a:xfrm>
            <a:off x="548640" y="4160520"/>
            <a:ext cx="11091672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5875">
            <a:solidFill>
              <a:srgbClr val="CADCFC"/>
            </a:solidFill>
            <a:prstDash val="solid"/>
          </a:ln>
        </p:spPr>
      </p:sp>
      <p:sp>
        <p:nvSpPr>
          <p:cNvPr id="36" name="Text 27"/>
          <p:cNvSpPr/>
          <p:nvPr/>
        </p:nvSpPr>
        <p:spPr>
          <a:xfrm>
            <a:off x="822960" y="4315968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ポリシーもソフトウェアとして管理される</a:t>
            </a:r>
            <a:endParaRPr lang="en-US" sz="1300" dirty="0"/>
          </a:p>
        </p:txBody>
      </p:sp>
      <p:sp>
        <p:nvSpPr>
          <p:cNvPr id="37" name="Text 28"/>
          <p:cNvSpPr/>
          <p:nvPr/>
        </p:nvSpPr>
        <p:spPr>
          <a:xfrm>
            <a:off x="822960" y="4709160"/>
            <a:ext cx="10515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ポリシー本体（Rego）にはネイティブテストが付属し、リリースゲートで毎回検証される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許可テナント一覧はデータ文書として管理 ― 一覧が空・欠落なら認可は成立しない（フェイルクローズ）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ポリシー束はバージョン付きバンドルとして構築され、どの版が有効だったかを追跡できる</a:t>
            </a:r>
            <a:endParaRPr lang="en-US" sz="1150" dirty="0"/>
          </a:p>
        </p:txBody>
      </p:sp>
      <p:sp>
        <p:nvSpPr>
          <p:cNvPr id="38" name="Text 29"/>
          <p:cNvSpPr/>
          <p:nvPr/>
        </p:nvSpPr>
        <p:spPr>
          <a:xfrm>
            <a:off x="548640" y="6355080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2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「担当者の注意」ではなく「機械的な判定」が禁止事項を守る ― ポリシー変更自体も統制ゾーンの管理対象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E3A8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F4  FOUNDATION ― データ防御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生データとPIIは、構造的に外へ出ない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11556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2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データ分析ユースケースの裏側 ― SQLは実行前に検査され、PIIは全構文位置で拒否される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6949440" cy="1024128"/>
          </a:xfrm>
          <a:prstGeom prst="roundRect">
            <a:avLst>
              <a:gd name="adj" fmla="val 8036"/>
            </a:avLst>
          </a:prstGeom>
          <a:solidFill>
            <a:srgbClr val="EFF4FC"/>
          </a:solidFill>
          <a:ln w="9525">
            <a:solidFill>
              <a:srgbClr val="DCE4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901952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9894" y="2014606"/>
            <a:ext cx="286756" cy="28675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63040" y="1764792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第1関門  SQLGlot（構文検査）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1463040" y="2103120"/>
            <a:ext cx="5897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8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実行前にSQLを解析。単一のSELECT文だけを許可し、集計関数（COUNT/SUM/AVG等）以外の生カラム参照を拒否</a:t>
            </a:r>
            <a:endParaRPr lang="en-US" sz="980" dirty="0"/>
          </a:p>
        </p:txBody>
      </p:sp>
      <p:sp>
        <p:nvSpPr>
          <p:cNvPr id="10" name="Shape 7"/>
          <p:cNvSpPr/>
          <p:nvPr/>
        </p:nvSpPr>
        <p:spPr>
          <a:xfrm>
            <a:off x="4023360" y="2670048"/>
            <a:ext cx="0" cy="146304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548640" y="2816352"/>
            <a:ext cx="6949440" cy="1024128"/>
          </a:xfrm>
          <a:prstGeom prst="roundRect">
            <a:avLst>
              <a:gd name="adj" fmla="val 8036"/>
            </a:avLst>
          </a:prstGeom>
          <a:solidFill>
            <a:srgbClr val="EFF4FC"/>
          </a:solidFill>
          <a:ln w="9525">
            <a:solidFill>
              <a:srgbClr val="DCE4F2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77240" y="3072384"/>
            <a:ext cx="512064" cy="512064"/>
          </a:xfrm>
          <a:prstGeom prst="ellipse">
            <a:avLst/>
          </a:prstGeom>
          <a:solidFill>
            <a:srgbClr val="2E3A8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894" y="3185038"/>
            <a:ext cx="286756" cy="28675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463040" y="2935224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第2関門  DuckDB（実行）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1463040" y="3273552"/>
            <a:ext cx="5897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8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検査を通過した集計クエリのみを実行。許可リストにあるメトリクス表以外は参照できない</a:t>
            </a:r>
            <a:endParaRPr lang="en-US" sz="980" dirty="0"/>
          </a:p>
        </p:txBody>
      </p:sp>
      <p:sp>
        <p:nvSpPr>
          <p:cNvPr id="16" name="Shape 12"/>
          <p:cNvSpPr/>
          <p:nvPr/>
        </p:nvSpPr>
        <p:spPr>
          <a:xfrm>
            <a:off x="4023360" y="3840480"/>
            <a:ext cx="0" cy="146304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7" name="Shape 13"/>
          <p:cNvSpPr/>
          <p:nvPr/>
        </p:nvSpPr>
        <p:spPr>
          <a:xfrm>
            <a:off x="548640" y="3986784"/>
            <a:ext cx="6949440" cy="1024128"/>
          </a:xfrm>
          <a:prstGeom prst="roundRect">
            <a:avLst>
              <a:gd name="adj" fmla="val 8036"/>
            </a:avLst>
          </a:prstGeom>
          <a:solidFill>
            <a:srgbClr val="EFF4FC"/>
          </a:solidFill>
          <a:ln w="9525">
            <a:solidFill>
              <a:srgbClr val="DCE4F2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777240" y="4242816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894" y="4355470"/>
            <a:ext cx="286756" cy="286756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463040" y="4105656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第3関門  Presidio（匿名化）</a:t>
            </a:r>
            <a:endParaRPr lang="en-US" sz="1250" dirty="0"/>
          </a:p>
        </p:txBody>
      </p:sp>
      <p:sp>
        <p:nvSpPr>
          <p:cNvPr id="21" name="Text 16"/>
          <p:cNvSpPr/>
          <p:nvPr/>
        </p:nvSpPr>
        <p:spPr>
          <a:xfrm>
            <a:off x="1463040" y="4443984"/>
            <a:ext cx="5897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8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結果に含まれるPII（メール・電話・カード・IP等）を検出し匿名化してから返却</a:t>
            </a:r>
            <a:endParaRPr lang="en-US" sz="980" dirty="0"/>
          </a:p>
        </p:txBody>
      </p:sp>
      <p:sp>
        <p:nvSpPr>
          <p:cNvPr id="22" name="Text 17"/>
          <p:cNvSpPr/>
          <p:nvPr/>
        </p:nvSpPr>
        <p:spPr>
          <a:xfrm>
            <a:off x="7818120" y="1645920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実行前に拒否されるもの（一例）</a:t>
            </a:r>
            <a:endParaRPr lang="en-US" sz="1300" dirty="0"/>
          </a:p>
        </p:txBody>
      </p:sp>
      <p:sp>
        <p:nvSpPr>
          <p:cNvPr id="23" name="Shape 18"/>
          <p:cNvSpPr/>
          <p:nvPr/>
        </p:nvSpPr>
        <p:spPr>
          <a:xfrm>
            <a:off x="7818120" y="2057400"/>
            <a:ext cx="3822192" cy="420624"/>
          </a:xfrm>
          <a:prstGeom prst="roundRect">
            <a:avLst>
              <a:gd name="adj" fmla="val 19565"/>
            </a:avLst>
          </a:prstGeom>
          <a:solidFill>
            <a:srgbClr val="FDF0EE"/>
          </a:solidFill>
          <a:ln w="9525">
            <a:solidFill>
              <a:srgbClr val="F0C9C2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8001000" y="2057400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×  SELECT *（全列取得）</a:t>
            </a:r>
            <a:endParaRPr lang="en-US" sz="1050" dirty="0"/>
          </a:p>
        </p:txBody>
      </p:sp>
      <p:sp>
        <p:nvSpPr>
          <p:cNvPr id="25" name="Shape 20"/>
          <p:cNvSpPr/>
          <p:nvPr/>
        </p:nvSpPr>
        <p:spPr>
          <a:xfrm>
            <a:off x="7818120" y="2569464"/>
            <a:ext cx="3822192" cy="420624"/>
          </a:xfrm>
          <a:prstGeom prst="roundRect">
            <a:avLst>
              <a:gd name="adj" fmla="val 19565"/>
            </a:avLst>
          </a:prstGeom>
          <a:solidFill>
            <a:srgbClr val="FDF0EE"/>
          </a:solidFill>
          <a:ln w="9525">
            <a:solidFill>
              <a:srgbClr val="F0C9C2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8001000" y="2569464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×  複数文・UNION等の結合</a:t>
            </a:r>
            <a:endParaRPr lang="en-US" sz="1050" dirty="0"/>
          </a:p>
        </p:txBody>
      </p:sp>
      <p:sp>
        <p:nvSpPr>
          <p:cNvPr id="27" name="Shape 22"/>
          <p:cNvSpPr/>
          <p:nvPr/>
        </p:nvSpPr>
        <p:spPr>
          <a:xfrm>
            <a:off x="7818120" y="3081528"/>
            <a:ext cx="3822192" cy="420624"/>
          </a:xfrm>
          <a:prstGeom prst="roundRect">
            <a:avLst>
              <a:gd name="adj" fmla="val 19565"/>
            </a:avLst>
          </a:prstGeom>
          <a:solidFill>
            <a:srgbClr val="FDF0EE"/>
          </a:solidFill>
          <a:ln w="9525">
            <a:solidFill>
              <a:srgbClr val="F0C9C2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8001000" y="3081528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×  UPDATE / DELETE / DDL</a:t>
            </a:r>
            <a:endParaRPr lang="en-US" sz="1050" dirty="0"/>
          </a:p>
        </p:txBody>
      </p:sp>
      <p:sp>
        <p:nvSpPr>
          <p:cNvPr id="29" name="Shape 24"/>
          <p:cNvSpPr/>
          <p:nvPr/>
        </p:nvSpPr>
        <p:spPr>
          <a:xfrm>
            <a:off x="7818120" y="3593592"/>
            <a:ext cx="3822192" cy="420624"/>
          </a:xfrm>
          <a:prstGeom prst="roundRect">
            <a:avLst>
              <a:gd name="adj" fmla="val 19565"/>
            </a:avLst>
          </a:prstGeom>
          <a:solidFill>
            <a:srgbClr val="FDF0EE"/>
          </a:solidFill>
          <a:ln w="9525">
            <a:solidFill>
              <a:srgbClr val="F0C9C2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8001000" y="3593592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×  PII列の参照（全構文位置）</a:t>
            </a:r>
            <a:endParaRPr lang="en-US" sz="1050" dirty="0"/>
          </a:p>
        </p:txBody>
      </p:sp>
      <p:sp>
        <p:nvSpPr>
          <p:cNvPr id="31" name="Shape 26"/>
          <p:cNvSpPr/>
          <p:nvPr/>
        </p:nvSpPr>
        <p:spPr>
          <a:xfrm>
            <a:off x="7818120" y="4105656"/>
            <a:ext cx="3822192" cy="420624"/>
          </a:xfrm>
          <a:prstGeom prst="roundRect">
            <a:avLst>
              <a:gd name="adj" fmla="val 19565"/>
            </a:avLst>
          </a:prstGeom>
          <a:solidFill>
            <a:srgbClr val="FDF0EE"/>
          </a:solidFill>
          <a:ln w="9525">
            <a:solidFill>
              <a:srgbClr val="F0C9C2"/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8001000" y="4105656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×  許可リスト外の表</a:t>
            </a:r>
            <a:endParaRPr lang="en-US" sz="1050" dirty="0"/>
          </a:p>
        </p:txBody>
      </p:sp>
      <p:sp>
        <p:nvSpPr>
          <p:cNvPr id="33" name="Shape 28"/>
          <p:cNvSpPr/>
          <p:nvPr/>
        </p:nvSpPr>
        <p:spPr>
          <a:xfrm>
            <a:off x="548640" y="5257800"/>
            <a:ext cx="11091672" cy="868680"/>
          </a:xfrm>
          <a:prstGeom prst="roundRect">
            <a:avLst>
              <a:gd name="adj" fmla="val 9474"/>
            </a:avLst>
          </a:prstGeom>
          <a:solidFill>
            <a:srgbClr val="EFF4FC"/>
          </a:solidFill>
          <a:ln w="9525">
            <a:solidFill>
              <a:srgbClr val="DCE4F2"/>
            </a:solidFill>
            <a:prstDash val="solid"/>
          </a:ln>
        </p:spPr>
      </p:sp>
      <p:sp>
        <p:nvSpPr>
          <p:cNvPr id="34" name="Text 29"/>
          <p:cNvSpPr/>
          <p:nvPr/>
        </p:nvSpPr>
        <p:spPr>
          <a:xfrm>
            <a:off x="868680" y="5257800"/>
            <a:ext cx="10469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拒否も証拠になる: </a:t>
            </a:r>
            <a:pPr indent="0" marL="0">
              <a:buNone/>
            </a:pPr>
            <a:r>
              <a:rPr lang="en-US" sz="125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分析結果には「危険なクエリ類型が拒否されたこと」を示す証明フラグが同梱され、監査時に防御が機能していたことを事後検証できる。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E3A8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F5  FOUNDATION ― 外部AIへの経路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外部AIへは一本道 ― 何を送ってよいかはデータ分類が決める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11556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2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アプリが個別にAIを呼ぶ構成を禁止。全呼び出しに赤入れと監査、生の機密は構造的に出られない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5349240" cy="914400"/>
          </a:xfrm>
          <a:prstGeom prst="roundRect">
            <a:avLst>
              <a:gd name="adj" fmla="val 9000"/>
            </a:avLst>
          </a:prstGeom>
          <a:solidFill>
            <a:srgbClr val="EFF4FC"/>
          </a:solidFill>
          <a:ln w="9525">
            <a:solidFill>
              <a:srgbClr val="DCE4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87452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" y="1975104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53312" y="1737360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① プラットフォームゲートウェイ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1353312" y="2066544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3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データ分類 / 送信前の赤入れ / 許可判定（fail-closed） / 監査メタ付与</a:t>
            </a:r>
            <a:endParaRPr lang="en-US" sz="930" dirty="0"/>
          </a:p>
        </p:txBody>
      </p:sp>
      <p:sp>
        <p:nvSpPr>
          <p:cNvPr id="10" name="Shape 7"/>
          <p:cNvSpPr/>
          <p:nvPr/>
        </p:nvSpPr>
        <p:spPr>
          <a:xfrm>
            <a:off x="3200400" y="2560320"/>
            <a:ext cx="0" cy="164592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548640" y="2724912"/>
            <a:ext cx="5349240" cy="914400"/>
          </a:xfrm>
          <a:prstGeom prst="roundRect">
            <a:avLst>
              <a:gd name="adj" fmla="val 9000"/>
            </a:avLst>
          </a:prstGeom>
          <a:solidFill>
            <a:srgbClr val="EFF4FC"/>
          </a:solidFill>
          <a:ln w="9525">
            <a:solidFill>
              <a:srgbClr val="DCE4F2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31520" y="2953512"/>
            <a:ext cx="457200" cy="457200"/>
          </a:xfrm>
          <a:prstGeom prst="ellipse">
            <a:avLst/>
          </a:prstGeom>
          <a:solidFill>
            <a:srgbClr val="2E3A8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" y="3054096"/>
            <a:ext cx="256032" cy="25603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353312" y="2816352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② LiteLLM Proxy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1353312" y="3145536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3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承認済みモデル別名のみ解決 / フォールバック / コスト記録</a:t>
            </a:r>
            <a:endParaRPr lang="en-US" sz="930" dirty="0"/>
          </a:p>
        </p:txBody>
      </p:sp>
      <p:sp>
        <p:nvSpPr>
          <p:cNvPr id="16" name="Shape 12"/>
          <p:cNvSpPr/>
          <p:nvPr/>
        </p:nvSpPr>
        <p:spPr>
          <a:xfrm>
            <a:off x="3200400" y="3639312"/>
            <a:ext cx="0" cy="164592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7" name="Shape 13"/>
          <p:cNvSpPr/>
          <p:nvPr/>
        </p:nvSpPr>
        <p:spPr>
          <a:xfrm>
            <a:off x="548640" y="3803904"/>
            <a:ext cx="5349240" cy="914400"/>
          </a:xfrm>
          <a:prstGeom prst="roundRect">
            <a:avLst>
              <a:gd name="adj" fmla="val 9000"/>
            </a:avLst>
          </a:prstGeom>
          <a:solidFill>
            <a:srgbClr val="FFF6E3"/>
          </a:solidFill>
          <a:ln w="9525">
            <a:solidFill>
              <a:srgbClr val="F0DFAE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731520" y="4032504"/>
            <a:ext cx="457200" cy="457200"/>
          </a:xfrm>
          <a:prstGeom prst="ellipse">
            <a:avLst/>
          </a:prstGeom>
          <a:solidFill>
            <a:srgbClr val="D99A16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" y="4133088"/>
            <a:ext cx="256032" cy="25603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353312" y="3895344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③ Anthropic 承認モデル</a:t>
            </a:r>
            <a:endParaRPr lang="en-US" sz="1150" dirty="0"/>
          </a:p>
        </p:txBody>
      </p:sp>
      <p:sp>
        <p:nvSpPr>
          <p:cNvPr id="21" name="Text 16"/>
          <p:cNvSpPr/>
          <p:nvPr/>
        </p:nvSpPr>
        <p:spPr>
          <a:xfrm>
            <a:off x="1353312" y="422452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3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承認済みモデル以外への到達経路が存在しない</a:t>
            </a:r>
            <a:endParaRPr lang="en-US" sz="930" dirty="0"/>
          </a:p>
        </p:txBody>
      </p:sp>
      <p:sp>
        <p:nvSpPr>
          <p:cNvPr id="22" name="Text 17"/>
          <p:cNvSpPr/>
          <p:nvPr/>
        </p:nvSpPr>
        <p:spPr>
          <a:xfrm>
            <a:off x="548640" y="4937760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80" dirty="0">
                <a:solidFill>
                  <a:srgbClr val="5A62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障害時は 一次 → 二次 → 決定的ローカル の順で切替え、使用時は監査に専用マーカーが残る</a:t>
            </a:r>
            <a:endParaRPr lang="en-US" sz="980" dirty="0"/>
          </a:p>
        </p:txBody>
      </p:sp>
      <p:sp>
        <p:nvSpPr>
          <p:cNvPr id="23" name="Text 18"/>
          <p:cNvSpPr/>
          <p:nvPr/>
        </p:nvSpPr>
        <p:spPr>
          <a:xfrm>
            <a:off x="6263640" y="1645920"/>
            <a:ext cx="5394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データ分類 × 外部送信の可否</a:t>
            </a:r>
            <a:endParaRPr lang="en-US" sz="13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63640" y="2029968"/>
          <a:ext cx="5376672" cy="914400"/>
        </p:xfrm>
        <a:graphic>
          <a:graphicData uri="http://schemas.openxmlformats.org/drawingml/2006/table">
            <a:tbl>
              <a:tblPr/>
              <a:tblGrid>
                <a:gridCol w="1691640"/>
                <a:gridCol w="2496312"/>
                <a:gridCol w="118872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分類</a:t>
                      </a:r>
                      <a:endParaRPr lang="en-US" sz="10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外部送信（Anthropic）</a:t>
                      </a:r>
                      <a:endParaRPr lang="en-US" sz="10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人間承認</a:t>
                      </a:r>
                      <a:endParaRPr lang="en-US" sz="10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public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035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可（赤入れ後）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035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不要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internal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035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可（赤入れ後）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035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原則不要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confidential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035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赤入れ+人間確認の後のみ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035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必要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restricted（生PII・秘密）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0392B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不可 ― 集計・赤入れ済み派生物のみ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審査必須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EE"/>
                    </a:solidFill>
                  </a:tcPr>
                </a:tc>
              </a:tr>
            </a:tbl>
          </a:graphicData>
        </a:graphic>
      </p:graphicFrame>
      <p:sp>
        <p:nvSpPr>
          <p:cNvPr id="25" name="Shape 19"/>
          <p:cNvSpPr/>
          <p:nvPr/>
        </p:nvSpPr>
        <p:spPr>
          <a:xfrm>
            <a:off x="548640" y="5532120"/>
            <a:ext cx="11091672" cy="731520"/>
          </a:xfrm>
          <a:prstGeom prst="roundRect">
            <a:avLst>
              <a:gd name="adj" fmla="val 11250"/>
            </a:avLst>
          </a:prstGeom>
          <a:solidFill>
            <a:srgbClr val="EFF4FC"/>
          </a:solidFill>
          <a:ln w="9525">
            <a:solidFill>
              <a:srgbClr val="DCE4F2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868680" y="5532120"/>
            <a:ext cx="10469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この経路のAIの権限は「検証済み証拠の要約」まで: </a:t>
            </a:r>
            <a:pPr indent="0" marL="0">
              <a:buNone/>
            </a:pPr>
            <a:r>
              <a:rPr lang="en-US" sz="120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ツール実行の権限はこの経路上に存在しない。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E3A8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F6  FOUNDATION ― 学習と出荷の審査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AIの学習も、リリースも、審査を通ったものだけが残る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11556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2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指示・プラグインの追加は昇格審査制、出荷は23ゲート全通過制 ― どちらも「なんとなく反映」の経路がない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572768"/>
            <a:ext cx="7315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スキル・プラグイン（指示・業務機能）の昇格フロー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2011680" cy="530352"/>
          </a:xfrm>
          <a:prstGeom prst="roundRect">
            <a:avLst>
              <a:gd name="adj" fmla="val 15517"/>
            </a:avLst>
          </a:prstGeom>
          <a:solidFill>
            <a:srgbClr val="B8C0CE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148840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候補（candidate）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0" y="2148840"/>
            <a:ext cx="2011680" cy="530352"/>
          </a:xfrm>
          <a:prstGeom prst="roundRect">
            <a:avLst>
              <a:gd name="adj" fmla="val 15517"/>
            </a:avLst>
          </a:prstGeom>
          <a:solidFill>
            <a:srgbClr val="2E3A8C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0" y="2148840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検証済（validated）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766560" y="2148840"/>
            <a:ext cx="2011680" cy="530352"/>
          </a:xfrm>
          <a:prstGeom prst="roundRect">
            <a:avLst>
              <a:gd name="adj" fmla="val 15517"/>
            </a:avLst>
          </a:prstGeom>
          <a:solidFill>
            <a:srgbClr val="2E8B57"/>
          </a:solidFill>
          <a:ln/>
        </p:spPr>
      </p:sp>
      <p:sp>
        <p:nvSpPr>
          <p:cNvPr id="11" name="Text 9"/>
          <p:cNvSpPr/>
          <p:nvPr/>
        </p:nvSpPr>
        <p:spPr>
          <a:xfrm>
            <a:off x="6766560" y="2148840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昇格（promoted）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560320" y="2414016"/>
            <a:ext cx="1097280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2395728" y="1883664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2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検証+リリース検証合格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5669280" y="2414016"/>
            <a:ext cx="1097280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5486400" y="1883664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2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承認のみ（自己昇格不可）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9235440" y="2011680"/>
            <a:ext cx="2404872" cy="822960"/>
          </a:xfrm>
          <a:prstGeom prst="roundRect">
            <a:avLst>
              <a:gd name="adj" fmla="val 10000"/>
            </a:avLst>
          </a:prstGeom>
          <a:solidFill>
            <a:srgbClr val="FDF0EE"/>
          </a:solidFill>
          <a:ln w="9525">
            <a:solidFill>
              <a:srgbClr val="F0C9C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72600" y="208483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失敗 → 却下・記録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9372600" y="2359152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同じ失敗案の再提出をブロック</a:t>
            </a:r>
            <a:endParaRPr lang="en-US" sz="860" dirty="0"/>
          </a:p>
        </p:txBody>
      </p:sp>
      <p:sp>
        <p:nvSpPr>
          <p:cNvPr id="19" name="Text 17"/>
          <p:cNvSpPr/>
          <p:nvPr/>
        </p:nvSpPr>
        <p:spPr>
          <a:xfrm>
            <a:off x="548640" y="28803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3A8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改善への入力は赤入れ済みの証拠に限定 ― 生の顧客データが「学習材料」に混入する経路を遮断。巻き戻しはgit履歴で常に可能。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48640" y="3429000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リリース ― 23ゲート全通過だけが唯一の合格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3822192"/>
            <a:ext cx="2121408" cy="1417320"/>
          </a:xfrm>
          <a:prstGeom prst="roundRect">
            <a:avLst>
              <a:gd name="adj" fmla="val 5806"/>
            </a:avLst>
          </a:prstGeom>
          <a:solidFill>
            <a:srgbClr val="EFF4FC"/>
          </a:solidFill>
          <a:ln w="9525">
            <a:solidFill>
              <a:srgbClr val="DCE4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" y="3822192"/>
            <a:ext cx="2121408" cy="457200"/>
          </a:xfrm>
          <a:prstGeom prst="roundRect">
            <a:avLst>
              <a:gd name="adj" fmla="val 18000"/>
            </a:avLst>
          </a:prstGeom>
          <a:solidFill>
            <a:srgbClr val="1E2761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3822192"/>
            <a:ext cx="212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コード品質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76656" y="438912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整形 / 静的検査 / 型 / テスト一式</a:t>
            </a:r>
            <a:endParaRPr lang="en-US" sz="930" dirty="0"/>
          </a:p>
        </p:txBody>
      </p:sp>
      <p:sp>
        <p:nvSpPr>
          <p:cNvPr id="25" name="Shape 23"/>
          <p:cNvSpPr/>
          <p:nvPr/>
        </p:nvSpPr>
        <p:spPr>
          <a:xfrm>
            <a:off x="2816352" y="3822192"/>
            <a:ext cx="2121408" cy="1417320"/>
          </a:xfrm>
          <a:prstGeom prst="roundRect">
            <a:avLst>
              <a:gd name="adj" fmla="val 5806"/>
            </a:avLst>
          </a:prstGeom>
          <a:solidFill>
            <a:srgbClr val="EFF4FC"/>
          </a:solidFill>
          <a:ln w="9525">
            <a:solidFill>
              <a:srgbClr val="DCE4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816352" y="3822192"/>
            <a:ext cx="2121408" cy="457200"/>
          </a:xfrm>
          <a:prstGeom prst="roundRect">
            <a:avLst>
              <a:gd name="adj" fmla="val 18000"/>
            </a:avLst>
          </a:prstGeom>
          <a:solidFill>
            <a:srgbClr val="1E2761"/>
          </a:solidFill>
          <a:ln/>
        </p:spPr>
      </p:sp>
      <p:sp>
        <p:nvSpPr>
          <p:cNvPr id="27" name="Text 25"/>
          <p:cNvSpPr/>
          <p:nvPr/>
        </p:nvSpPr>
        <p:spPr>
          <a:xfrm>
            <a:off x="2816352" y="3822192"/>
            <a:ext cx="212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ポリシー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944368" y="438912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実機判定 / Regoテスト / 版付き束</a:t>
            </a:r>
            <a:endParaRPr lang="en-US" sz="930" dirty="0"/>
          </a:p>
        </p:txBody>
      </p:sp>
      <p:sp>
        <p:nvSpPr>
          <p:cNvPr id="29" name="Shape 27"/>
          <p:cNvSpPr/>
          <p:nvPr/>
        </p:nvSpPr>
        <p:spPr>
          <a:xfrm>
            <a:off x="5084064" y="3822192"/>
            <a:ext cx="2121408" cy="1417320"/>
          </a:xfrm>
          <a:prstGeom prst="roundRect">
            <a:avLst>
              <a:gd name="adj" fmla="val 5806"/>
            </a:avLst>
          </a:prstGeom>
          <a:solidFill>
            <a:srgbClr val="EFF4FC"/>
          </a:solidFill>
          <a:ln w="9525">
            <a:solidFill>
              <a:srgbClr val="DCE4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084064" y="3822192"/>
            <a:ext cx="2121408" cy="457200"/>
          </a:xfrm>
          <a:prstGeom prst="roundRect">
            <a:avLst>
              <a:gd name="adj" fmla="val 18000"/>
            </a:avLst>
          </a:prstGeom>
          <a:solidFill>
            <a:srgbClr val="1E2761"/>
          </a:solidFill>
          <a:ln/>
        </p:spPr>
      </p:sp>
      <p:sp>
        <p:nvSpPr>
          <p:cNvPr id="31" name="Text 29"/>
          <p:cNvSpPr/>
          <p:nvPr/>
        </p:nvSpPr>
        <p:spPr>
          <a:xfrm>
            <a:off x="5084064" y="3822192"/>
            <a:ext cx="212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データ防御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212080" y="438912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SQL・PII防御 / セキュリティ検査</a:t>
            </a:r>
            <a:endParaRPr lang="en-US" sz="930" dirty="0"/>
          </a:p>
        </p:txBody>
      </p:sp>
      <p:sp>
        <p:nvSpPr>
          <p:cNvPr id="33" name="Shape 31"/>
          <p:cNvSpPr/>
          <p:nvPr/>
        </p:nvSpPr>
        <p:spPr>
          <a:xfrm>
            <a:off x="7351776" y="3822192"/>
            <a:ext cx="2121408" cy="1417320"/>
          </a:xfrm>
          <a:prstGeom prst="roundRect">
            <a:avLst>
              <a:gd name="adj" fmla="val 5806"/>
            </a:avLst>
          </a:prstGeom>
          <a:solidFill>
            <a:srgbClr val="EFF4FC"/>
          </a:solidFill>
          <a:ln w="9525">
            <a:solidFill>
              <a:srgbClr val="DCE4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351776" y="3822192"/>
            <a:ext cx="2121408" cy="457200"/>
          </a:xfrm>
          <a:prstGeom prst="roundRect">
            <a:avLst>
              <a:gd name="adj" fmla="val 18000"/>
            </a:avLst>
          </a:prstGeom>
          <a:solidFill>
            <a:srgbClr val="1E2761"/>
          </a:solidFill>
          <a:ln/>
        </p:spPr>
      </p:sp>
      <p:sp>
        <p:nvSpPr>
          <p:cNvPr id="35" name="Text 33"/>
          <p:cNvSpPr/>
          <p:nvPr/>
        </p:nvSpPr>
        <p:spPr>
          <a:xfrm>
            <a:off x="7351776" y="3822192"/>
            <a:ext cx="212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サプライチェーン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479792" y="438912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脆弱性監査 / SBOM / 取得元検証</a:t>
            </a:r>
            <a:endParaRPr lang="en-US" sz="930" dirty="0"/>
          </a:p>
        </p:txBody>
      </p:sp>
      <p:sp>
        <p:nvSpPr>
          <p:cNvPr id="37" name="Shape 35"/>
          <p:cNvSpPr/>
          <p:nvPr/>
        </p:nvSpPr>
        <p:spPr>
          <a:xfrm>
            <a:off x="9619488" y="3822192"/>
            <a:ext cx="2121408" cy="1417320"/>
          </a:xfrm>
          <a:prstGeom prst="roundRect">
            <a:avLst>
              <a:gd name="adj" fmla="val 5806"/>
            </a:avLst>
          </a:prstGeom>
          <a:solidFill>
            <a:srgbClr val="EFF4FC"/>
          </a:solidFill>
          <a:ln w="9525">
            <a:solidFill>
              <a:srgbClr val="DCE4F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619488" y="3822192"/>
            <a:ext cx="2121408" cy="457200"/>
          </a:xfrm>
          <a:prstGeom prst="roundRect">
            <a:avLst>
              <a:gd name="adj" fmla="val 18000"/>
            </a:avLst>
          </a:prstGeom>
          <a:solidFill>
            <a:srgbClr val="1E2761"/>
          </a:solidFill>
          <a:ln/>
        </p:spPr>
      </p:sp>
      <p:sp>
        <p:nvSpPr>
          <p:cNvPr id="39" name="Text 37"/>
          <p:cNvSpPr/>
          <p:nvPr/>
        </p:nvSpPr>
        <p:spPr>
          <a:xfrm>
            <a:off x="9619488" y="3822192"/>
            <a:ext cx="212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実行証拠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9747504" y="438912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E2E / 成果物実在 / 仕様追跡</a:t>
            </a:r>
            <a:endParaRPr lang="en-US" sz="930" dirty="0"/>
          </a:p>
        </p:txBody>
      </p:sp>
      <p:sp>
        <p:nvSpPr>
          <p:cNvPr id="41" name="Shape 39"/>
          <p:cNvSpPr/>
          <p:nvPr/>
        </p:nvSpPr>
        <p:spPr>
          <a:xfrm>
            <a:off x="548640" y="5486400"/>
            <a:ext cx="11091672" cy="777240"/>
          </a:xfrm>
          <a:prstGeom prst="roundRect">
            <a:avLst>
              <a:gd name="adj" fmla="val 10588"/>
            </a:avLst>
          </a:prstGeom>
          <a:solidFill>
            <a:srgbClr val="EFF4FC"/>
          </a:solidFill>
          <a:ln w="9525">
            <a:solidFill>
              <a:srgbClr val="DCE4F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68680" y="5486400"/>
            <a:ext cx="10469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CIでも同じゲートが再現: </a:t>
            </a:r>
            <a:pPr indent="0" marL="0">
              <a:buNone/>
            </a:pPr>
            <a:r>
              <a:rPr lang="en-US" sz="120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23ゲートはローカルとCIの双方で実行され、コンテナ内検証・起動スモーク・サンドボックス隔離テストがCIで追加される。証拠はすべて成果物として保全。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0" y="4754880"/>
            <a:ext cx="3840480" cy="3840480"/>
          </a:xfrm>
          <a:prstGeom prst="ellipse">
            <a:avLst/>
          </a:prstGeom>
          <a:solidFill>
            <a:srgbClr val="2E3A8C">
              <a:alpha val="5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ADCF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SUMMARY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開発も、業務も、任せられる。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3520440" cy="3520440"/>
          </a:xfrm>
          <a:prstGeom prst="roundRect">
            <a:avLst>
              <a:gd name="adj" fmla="val 2338"/>
            </a:avLst>
          </a:prstGeom>
          <a:solidFill>
            <a:srgbClr val="2E3A8C">
              <a:alpha val="75000"/>
            </a:srgbClr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2057400"/>
            <a:ext cx="658368" cy="658368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9241" y="2202241"/>
            <a:ext cx="368686" cy="36868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37360" y="2157984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任せられる仕事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914400" y="3017520"/>
            <a:ext cx="297180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開発は0→1の立ち上げから1→10の改修まで、一般業務はデータ分析・報告・集計・チェックまで ― どちらも業務の言葉で頼める。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389120" y="1783080"/>
            <a:ext cx="3520440" cy="3520440"/>
          </a:xfrm>
          <a:prstGeom prst="roundRect">
            <a:avLst>
              <a:gd name="adj" fmla="val 2338"/>
            </a:avLst>
          </a:prstGeom>
          <a:solidFill>
            <a:srgbClr val="2E3A8C">
              <a:alpha val="75000"/>
            </a:srgbClr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663440" y="2057400"/>
            <a:ext cx="658368" cy="658368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8281" y="2202241"/>
            <a:ext cx="368686" cy="36868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486400" y="2157984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信じられる結果</a:t>
            </a:r>
            <a:endParaRPr lang="en-US" sz="1650" dirty="0"/>
          </a:p>
        </p:txBody>
      </p:sp>
      <p:sp>
        <p:nvSpPr>
          <p:cNvPr id="14" name="Text 10"/>
          <p:cNvSpPr/>
          <p:nvPr/>
        </p:nvSpPr>
        <p:spPr>
          <a:xfrm>
            <a:off x="4663440" y="3017520"/>
            <a:ext cx="297180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完了はAIの申告ではなく証拠が決める。テストと再点検で裏付けられた変更、匿名化済みの集計だけが成果として返る。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8138160" y="1783080"/>
            <a:ext cx="3520440" cy="3520440"/>
          </a:xfrm>
          <a:prstGeom prst="roundRect">
            <a:avLst>
              <a:gd name="adj" fmla="val 2338"/>
            </a:avLst>
          </a:prstGeom>
          <a:solidFill>
            <a:srgbClr val="2E3A8C">
              <a:alpha val="75000"/>
            </a:srgbClr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412480" y="2057400"/>
            <a:ext cx="658368" cy="658368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7321" y="2202241"/>
            <a:ext cx="368686" cy="36868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235440" y="2157984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統制は標準装備</a:t>
            </a:r>
            <a:endParaRPr lang="en-US" sz="1650" dirty="0"/>
          </a:p>
        </p:txBody>
      </p:sp>
      <p:sp>
        <p:nvSpPr>
          <p:cNvPr id="19" name="Text 14"/>
          <p:cNvSpPr/>
          <p:nvPr/>
        </p:nvSpPr>
        <p:spPr>
          <a:xfrm>
            <a:off x="8412480" y="3017520"/>
            <a:ext cx="297180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許可制・データ防御・監査・審査は基盤の床に織り込み済み。利用者が統制を意識しなくても、逸脱の経路がそもそも存在しない。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640080" y="58064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詳細仕様: リポジトリ docs/（アーキテクチャ・統合境界・脅威モデル・運用手順 等31文書）を参照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2026-07-13T05:53:39Z</dcterms:created>
  <dcterms:modified xsi:type="dcterms:W3CDTF">2026-07-13T05:53:39Z</dcterms:modified>
</cp:coreProperties>
</file>