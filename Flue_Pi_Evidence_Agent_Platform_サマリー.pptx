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flue-pi-evidence-agent-platformリポジトリを精査して作成。主役はユースケース（アプリ開発・データ分析）、統制は基盤に組み込み済みの土台として後半に配置。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389120" cy="4389120"/>
          </a:xfrm>
          <a:prstGeom prst="ellipse">
            <a:avLst/>
          </a:prstGeom>
          <a:solidFill>
            <a:srgbClr val="2E3A8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657600" cy="3657600"/>
          </a:xfrm>
          <a:prstGeom prst="ellipse">
            <a:avLst/>
          </a:prstGeom>
          <a:solidFill>
            <a:srgbClr val="2E3A8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10954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8745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Flue + Pi Evidence Agent Platform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22960" y="28346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開発も、分析も、任せられる。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統制・証拠・監査を標準装備したAIエージェント実行基盤 ― プラットフォーム概要（部門長・上長向け）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22960" y="5440680"/>
            <a:ext cx="47548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59612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 CoE　2026年7月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今回の位置づけ: PoC（既存アプリへの機能追加に限定した実証）から開始 ― 目指す姿はロードマップ章を参照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  OVERVIEW ― 概要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AIエージェントに任せる仕事は2つ ― アプリ開発と、データ分析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Codeを対話の窓口に、Flue/Piエージェントが実行を担う。統制は選ぶ機能ではなく標準装備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2880360"/>
          </a:xfrm>
          <a:prstGeom prst="roundRect">
            <a:avLst>
              <a:gd name="adj" fmla="val 285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8366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アプリ開発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77240" y="254203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新規サービスの立ち上げから、既存システムの改修・不具合修正まで。変更はテストと再点検で裏付けてから反映する。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" y="388620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3886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新規開発（0→1）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37560" y="388620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37560" y="3886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既存改修（1→10）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99632" y="1600200"/>
            <a:ext cx="5440680" cy="2880360"/>
          </a:xfrm>
          <a:prstGeom prst="roundRect">
            <a:avLst>
              <a:gd name="adj" fmla="val 285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28232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3" y="1949501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59752" y="188366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データ分析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6428232" y="254203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顧客データへの問いに、集計済み・匿名化済みの答えを返す。分析者はSQLの安全性を意識する必要がない。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428232" y="388620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28232" y="3886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集計メトリクス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988552" y="388620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988552" y="3886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アドホックな問い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22960" y="48920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標準装備の土台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2514600" y="522122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161" y="5317785"/>
            <a:ext cx="245791" cy="24579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017520" y="522122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完了は証拠で判定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818888" y="522122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449" y="5317785"/>
            <a:ext cx="245791" cy="24579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321808" y="522122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危険な操作は許可制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123176" y="522122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737" y="5317785"/>
            <a:ext cx="245791" cy="245791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626096" y="522122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PII・秘密は外に出ない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9427464" y="522122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4025" y="5317785"/>
            <a:ext cx="245791" cy="245791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930384" y="522122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全操作が監査に残る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土台の中身（証拠・許可制・防御・監査）は後半のFOUNDATION章で解説 ― 利用者が日常的に意識する必要はない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  USE CASE ― アプリ開発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新規の0→1も、既存の1→10も ― 検証済みの変更だけが残る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開発のスピードはClaude Codeとの対話で、変更の確からしさはエージェントの実行ループで担保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 →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57400" y="160020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新規開発 ― 対話で素早く立ち上げ、ゲートで出荷を判定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12264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2037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設計・構築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Codeと対話しながら設計・雛形・実装を高速に進める</a:t>
            </a:r>
            <a:endParaRPr lang="en-US" sz="93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2968" y="2542032"/>
            <a:ext cx="164592" cy="16459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346704" y="2112264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0" y="22037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品質・統制の組込み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74720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テスト・ポリシー・監査を初日から標準装備で構築</a:t>
            </a:r>
            <a:endParaRPr lang="en-US" sz="93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2542032"/>
            <a:ext cx="164592" cy="16459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144768" y="2112264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72784" y="22037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出荷判定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272784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リリースゲート全通過が唯一の合格条件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9098280" y="2112264"/>
            <a:ext cx="2542032" cy="1051560"/>
          </a:xfrm>
          <a:prstGeom prst="roundRect">
            <a:avLst>
              <a:gd name="adj" fmla="val 7826"/>
            </a:avLst>
          </a:prstGeom>
          <a:solidFill>
            <a:srgbClr val="EAF5EE"/>
          </a:solidFill>
          <a:ln w="9525">
            <a:solidFill>
              <a:srgbClr val="BFDFC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281160" y="22037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B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9281160" y="24871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初日から監査可能な形でサービスが立ち上がる</a:t>
            </a:r>
            <a:endParaRPr lang="en-US" sz="930" dirty="0"/>
          </a:p>
        </p:txBody>
      </p:sp>
      <p:sp>
        <p:nvSpPr>
          <p:cNvPr id="22" name="Shape 18"/>
          <p:cNvSpPr/>
          <p:nvPr/>
        </p:nvSpPr>
        <p:spPr>
          <a:xfrm>
            <a:off x="548640" y="352044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548640" y="35204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→ 10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2057400" y="35204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既存改修 ― 不具合・変更要求を証拠駆動ループで処理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548640" y="4032504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6656" y="41239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依頼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76656" y="4434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「このモジュールの不具合を直して」と投入</a:t>
            </a:r>
            <a:endParaRPr lang="en-US" sz="93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4462272"/>
            <a:ext cx="164592" cy="164592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3346704" y="4032504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474720" y="41239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修正・検証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3474720" y="4434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仮説登録→修正案→テスト→全体再点検を自動実行</a:t>
            </a:r>
            <a:endParaRPr lang="en-US" sz="93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4462272"/>
            <a:ext cx="164592" cy="164592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6144768" y="4032504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272784" y="41239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反映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6272784" y="4434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証拠が揃った変更だけが完了として残る</a:t>
            </a:r>
            <a:endParaRPr lang="en-US" sz="930" dirty="0"/>
          </a:p>
        </p:txBody>
      </p:sp>
      <p:sp>
        <p:nvSpPr>
          <p:cNvPr id="36" name="Shape 30"/>
          <p:cNvSpPr/>
          <p:nvPr/>
        </p:nvSpPr>
        <p:spPr>
          <a:xfrm>
            <a:off x="9098280" y="4032504"/>
            <a:ext cx="2542032" cy="1051560"/>
          </a:xfrm>
          <a:prstGeom prst="roundRect">
            <a:avLst>
              <a:gd name="adj" fmla="val 7826"/>
            </a:avLst>
          </a:prstGeom>
          <a:solidFill>
            <a:srgbClr val="EAF5EE"/>
          </a:solidFill>
          <a:ln w="9525">
            <a:solidFill>
              <a:srgbClr val="BFDFCC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9281160" y="41239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B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9281160" y="44074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改修スピードと回帰安全（デグレ防止）の両立</a:t>
            </a:r>
            <a:endParaRPr lang="en-US" sz="930" dirty="0"/>
          </a:p>
        </p:txBody>
      </p:sp>
      <p:sp>
        <p:nvSpPr>
          <p:cNvPr id="39" name="Shape 33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868680" y="5440680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人間の関与: </a:t>
            </a:r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高リスクな操作と最終受入だけが人間の判断ポイントとして残り、その窓口はClaude Code。それ以外の定型作業はエージェントが担う。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  EXAMPLE ― 動きの実例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1行の依頼から完了まで ― 部品は基盤が自動で組み立てる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実装コードそのままの経路。スキル・ワークフロー・Hooks・サブエージェントを利用者が選ぶ場面は一度もない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9095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5875">
            <a:solidFill>
              <a:srgbClr val="F0DF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69164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188720" y="169164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6916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1554480"/>
            <a:ext cx="5870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自然言語で依頼する ― </a:t>
            </a:r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Codeに「◯◯モジュールに機能を追加して」と1行伝えるだけ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48640" y="2249424"/>
            <a:ext cx="7909560" cy="621792"/>
          </a:xfrm>
          <a:prstGeom prst="roundRect">
            <a:avLst>
              <a:gd name="adj" fmla="val 13235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386584"/>
            <a:ext cx="347472" cy="347472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188720" y="2386584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238658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委譲IF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68880" y="2249424"/>
            <a:ext cx="5870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型付きタスクへ自動変換 ― </a:t>
            </a:r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変更してよいファイル・禁止事項・期待成果物・試行上限・排他リース（1時間）を付けた構造化タスクを発行し、やり取りを記録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48640" y="2944368"/>
            <a:ext cx="7909560" cy="621792"/>
          </a:xfrm>
          <a:prstGeom prst="roundRect">
            <a:avLst>
              <a:gd name="adj" fmla="val 13235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3081528"/>
            <a:ext cx="347472" cy="347472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188720" y="3081528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308152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Hooks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68880" y="2944368"/>
            <a:ext cx="5870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常時ガードが自動で効く ― </a:t>
            </a:r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編集・実行ツールの呼び出し毎にガードポリシーを照会。統制資産（ポリシー・監査・秘密設定）への操作は既定拒否で遮断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548640" y="3639312"/>
            <a:ext cx="7909560" cy="621792"/>
          </a:xfrm>
          <a:prstGeom prst="roundRect">
            <a:avLst>
              <a:gd name="adj" fmla="val 13235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3776472"/>
            <a:ext cx="347472" cy="347472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188720" y="3776472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37764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スキル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68880" y="3639312"/>
            <a:ext cx="5870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昇格済みスキルを自動装着 ― </a:t>
            </a:r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エージェント指示に、審査を通過した昇格済みスキル（出所・巻き戻し情報付き）が自動注入される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48640" y="4334256"/>
            <a:ext cx="7909560" cy="621792"/>
          </a:xfrm>
          <a:prstGeom prst="roundRect">
            <a:avLst>
              <a:gd name="adj" fmla="val 13235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4471416"/>
            <a:ext cx="347472" cy="347472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4471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188720" y="4471416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0" y="447141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ワークフロー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68880" y="4334256"/>
            <a:ext cx="5870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統制ループを自動実行 ― </a:t>
            </a:r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実行ワークフローが起動し、ワーカー（サブエージェント）がサンドボックス上で変更→テスト→再点検。副作用は許可判定後に型付きコードが実施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548640" y="5029200"/>
            <a:ext cx="79095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5875">
            <a:solidFill>
              <a:srgbClr val="F0DFA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" y="516636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713232" y="5166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188720" y="51663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0" y="51663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468880" y="5029200"/>
            <a:ext cx="5870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受け入れる ― </a:t>
            </a:r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閉鎖ゲート（証拠の裁定）を通過した結果だけがClaude Codeに提示され、利用者は受入するだけ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548640" y="5705856"/>
            <a:ext cx="790956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5875">
            <a:solidFill>
              <a:srgbClr val="2E3A8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3232" y="5824728"/>
            <a:ext cx="347472" cy="347472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43" name="Text 41"/>
          <p:cNvSpPr/>
          <p:nvPr/>
        </p:nvSpPr>
        <p:spPr>
          <a:xfrm>
            <a:off x="713232" y="5824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1188720" y="5824728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2E3A8C"/>
          </a:solidFill>
          <a:ln/>
        </p:spPr>
      </p:sp>
      <p:sp>
        <p:nvSpPr>
          <p:cNvPr id="45" name="Text 43"/>
          <p:cNvSpPr/>
          <p:nvPr/>
        </p:nvSpPr>
        <p:spPr>
          <a:xfrm>
            <a:off x="1188720" y="582472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学習ループ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468880" y="5705856"/>
            <a:ext cx="5870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繰り返される依頼は、自動でスキル候補になる ―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繰り返し依頼・プロンプトのパターンを赤入れ済みの実行記録から自動で候補スキル化（AutoSkill）。検証・昇格審査を経て④へ還流 ― 同じ依頼は次から速く・確実に。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84048" y="3931920"/>
            <a:ext cx="0" cy="2066544"/>
          </a:xfrm>
          <a:prstGeom prst="line">
            <a:avLst/>
          </a:prstGeom>
          <a:noFill/>
          <a:ln w="15875">
            <a:solidFill>
              <a:srgbClr val="2E3A8C"/>
            </a:solidFill>
            <a:prstDash val="dash"/>
            <a:headEnd type="triangle"/>
          </a:ln>
        </p:spPr>
      </p:sp>
      <p:sp>
        <p:nvSpPr>
          <p:cNvPr id="48" name="Shape 46"/>
          <p:cNvSpPr/>
          <p:nvPr/>
        </p:nvSpPr>
        <p:spPr>
          <a:xfrm>
            <a:off x="8641080" y="1572768"/>
            <a:ext cx="2999232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23960" y="17556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利用者の操作は2回だけ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869680" y="2240280"/>
            <a:ext cx="2560320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1" name="Text 49"/>
          <p:cNvSpPr/>
          <p:nvPr/>
        </p:nvSpPr>
        <p:spPr>
          <a:xfrm>
            <a:off x="8869680" y="22402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依頼（1行）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69680" y="2788920"/>
            <a:ext cx="2560320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3" name="Text 51"/>
          <p:cNvSpPr/>
          <p:nvPr/>
        </p:nvSpPr>
        <p:spPr>
          <a:xfrm>
            <a:off x="8869680" y="27889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受入（確認）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869680" y="336499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その間のタスク化・ガード・スキル装着・実行・検証は、すべて基盤が自動で組み立てる。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641080" y="4617720"/>
            <a:ext cx="2999232" cy="1627632"/>
          </a:xfrm>
          <a:prstGeom prst="roundRect">
            <a:avLst>
              <a:gd name="adj" fmla="val 505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823960" y="4718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実装上の裏付け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823960" y="5010912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4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delegate.mjs（委譲）</a:t>
            </a:r>
            <a:endParaRPr lang="en-US" sz="8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4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settings.json + cc_guard.rego</a:t>
            </a:r>
            <a:endParaRPr lang="en-US" sz="8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4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remediator.ts + 昇格スキルv1.1.0</a:t>
            </a:r>
            <a:endParaRPr lang="en-US" sz="8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4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remediate.ts（ワークフロー）</a:t>
            </a:r>
            <a:endParaRPr lang="en-US" sz="8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4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⑦ AutoSkill（固定版OSS）+ 候補レジストリ</a:t>
            </a:r>
            <a:endParaRPr lang="en-US" sz="840" dirty="0"/>
          </a:p>
        </p:txBody>
      </p:sp>
      <p:sp>
        <p:nvSpPr>
          <p:cNvPr id="58" name="Text 56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利用者がスキルやハーネスを意識しないコンセプトは、この自動組み立てと自動スキル化の還流で実現される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  USE CASE ― データ分析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訊けば、安全な答えが返る ― 防御は意識しなくても効いている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分析者は業務の言葉で問うだけ。SQLの安全性・PIIの扱いは基盤が引き受ける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10512"/>
            <a:ext cx="457200" cy="457200"/>
          </a:xfrm>
          <a:prstGeom prst="ellipse">
            <a:avLst/>
          </a:prstGeom>
          <a:solidFill>
            <a:srgbClr val="D99A1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91109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874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問い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3232" y="2395728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「地域別の顧客数と平均取引額は？」と業務の言葉で依頼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468880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55848" y="164592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520440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191109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87368" y="1874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変換・検査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520440" y="2395728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基盤が集計SQLに変換し、実行前に構文レベルで安全性を検査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468880"/>
            <a:ext cx="182880" cy="18288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63056" y="164592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327648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1911096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94576" y="1874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集計実行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327648" y="2395728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許可された表に対する集計クエリだけを実行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6528" y="2468880"/>
            <a:ext cx="182880" cy="18288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970264" y="164592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9134856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1911096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701784" y="1874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回答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9134856" y="2395728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匿名化済みの集計結果を返却 ― 生データは含まれない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54864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分析者が意識しなくても、裏で効いている防御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548640" y="4187952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731520" y="4352544"/>
            <a:ext cx="402336" cy="402336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034" y="4441058"/>
            <a:ext cx="225308" cy="22530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243584" y="43982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集計だけが通る</a:t>
            </a:r>
            <a:endParaRPr lang="en-US" sz="1150" dirty="0"/>
          </a:p>
        </p:txBody>
      </p:sp>
      <p:sp>
        <p:nvSpPr>
          <p:cNvPr id="33" name="Text 23"/>
          <p:cNvSpPr/>
          <p:nvPr/>
        </p:nvSpPr>
        <p:spPr>
          <a:xfrm>
            <a:off x="731520" y="482803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COUNT/SUM/AVG等の集計クエリのみ。SELECT * や生の行データ取得は実行前に止まる</a:t>
            </a:r>
            <a:endParaRPr lang="en-US" sz="980" dirty="0"/>
          </a:p>
        </p:txBody>
      </p:sp>
      <p:sp>
        <p:nvSpPr>
          <p:cNvPr id="34" name="Shape 24"/>
          <p:cNvSpPr/>
          <p:nvPr/>
        </p:nvSpPr>
        <p:spPr>
          <a:xfrm>
            <a:off x="4343400" y="4187952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4526280" y="4352544"/>
            <a:ext cx="402336" cy="402336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4794" y="4441058"/>
            <a:ext cx="225308" cy="22530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038344" y="43982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PIIは全面遮断</a:t>
            </a:r>
            <a:endParaRPr lang="en-US" sz="1150" dirty="0"/>
          </a:p>
        </p:txBody>
      </p:sp>
      <p:sp>
        <p:nvSpPr>
          <p:cNvPr id="38" name="Text 27"/>
          <p:cNvSpPr/>
          <p:nvPr/>
        </p:nvSpPr>
        <p:spPr>
          <a:xfrm>
            <a:off x="4526280" y="482803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メール・電話・カード等のPII列は、抽出・条件・並べ替えのどこに書いても拒否</a:t>
            </a:r>
            <a:endParaRPr lang="en-US" sz="980" dirty="0"/>
          </a:p>
        </p:txBody>
      </p:sp>
      <p:sp>
        <p:nvSpPr>
          <p:cNvPr id="39" name="Shape 28"/>
          <p:cNvSpPr/>
          <p:nvPr/>
        </p:nvSpPr>
        <p:spPr>
          <a:xfrm>
            <a:off x="8138160" y="4187952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8321040" y="4352544"/>
            <a:ext cx="402336" cy="402336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9554" y="4441058"/>
            <a:ext cx="225308" cy="225308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8833104" y="43982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答えにも証明が付く</a:t>
            </a:r>
            <a:endParaRPr lang="en-US" sz="1150" dirty="0"/>
          </a:p>
        </p:txBody>
      </p:sp>
      <p:sp>
        <p:nvSpPr>
          <p:cNvPr id="43" name="Text 31"/>
          <p:cNvSpPr/>
          <p:nvPr/>
        </p:nvSpPr>
        <p:spPr>
          <a:xfrm>
            <a:off x="8321040" y="482803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結果には「危険なクエリ類型が拒否されたこと」の証明フラグが同梱され、事後監査が可能</a:t>
            </a:r>
            <a:endParaRPr lang="en-US" sz="980" dirty="0"/>
          </a:p>
        </p:txBody>
      </p:sp>
      <p:sp>
        <p:nvSpPr>
          <p:cNvPr id="44" name="Text 32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分析の体験は「訊く→答えが返る」だけ ― なおデータ分析の展開はPhase 2から（PoCの対象は機能追加のみ、ロードマップ参照）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  DIVISION OF ROLES ― 棲み分け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対話はClaude Code、統制された実行はAIエージェント ― 役割は重ならない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速さが要る仕事と、確からしさが要る仕事を、別々の実行者に割り当てる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37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3794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739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Code ― 対話の係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25880" y="2121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対話開発ゾーン（人と話し、人に見せる）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2514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設計議論・探索コーディング・デバッグ / リポジトリ読解と改善提案 / 結果の提示と、人間の承認の受付窓口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99632" y="1572768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0" y="1737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183794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76872" y="17739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AIエージェント（Flue/Pi） ― 実行の係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976872" y="2121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統制ゾーン（証拠を作り、監査に残す）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428232" y="2514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証拠駆動の修復・変更 / 統制データ分析 / リリース判定・スキル昇格・ポリシー変更などの統制業務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108960"/>
                <a:gridCol w="3776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タスク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補足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探索コーディング・設計議論・デバッグ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Claude Code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高速な人間協働。統制資産に触れない範囲で自由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リポジトリ読解・リファクタ提案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Claude Code（提案まで）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実施は触れる資産に応じてルーティング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証拠駆動の修復・統制データ分析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AIエージェント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ワークフロー・検証・監査を必ず経由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リリース判定・スキル昇格・ポリシー変更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AIエージェント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統制ゾーン専属の業務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監査レポート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エージェントが生成 / Claude Codeが表示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表示側は完了の解釈を変えられない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高リスク操作の最終承認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人間（Claude Code経由）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自動受諾は禁止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3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どちらの係か曖昧なタスクは、実行前にエージェント側へ委譲する（フェイルクローズ）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  ECOSYSTEMS ― 2つの生態系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2つのエコシステムは混ざらない ― つながるのは3つの窓口だけ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Codeの拡張機構と、エージェント基盤の資産管理を、明確に分離したまま連携させる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4937760" cy="3063240"/>
          </a:xfrm>
          <a:prstGeom prst="roundRect">
            <a:avLst>
              <a:gd name="adj" fmla="val 268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373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Code側 ― 対話の知恵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04672" y="2176272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762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Skills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24912" y="21762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手順・ノウハウの再利用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804672" y="2660904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66090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Rules（CLAUDE.md）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24912" y="26609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リポジトリ毎の作法・規約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04672" y="3145536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1455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Sub-agents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24912" y="31455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対話の中での分業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04672" y="3630168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6301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Hooks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24912" y="36301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ツール実行の関所（下記③）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04672" y="411480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1148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Plugins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24912" y="4114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機能拡張の配布単位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702552" y="1572768"/>
            <a:ext cx="493776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58584" y="17373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エージェント基盤側 ― 実行の知恵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958584" y="2176272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2E3A8C"/>
          </a:solidFill>
          <a:ln/>
        </p:spPr>
      </p:sp>
      <p:sp>
        <p:nvSpPr>
          <p:cNvPr id="25" name="Text 23"/>
          <p:cNvSpPr/>
          <p:nvPr/>
        </p:nvSpPr>
        <p:spPr>
          <a:xfrm>
            <a:off x="6958584" y="21762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スキルレジストリ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78824" y="21762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本番指示は昇格審査制（候補→検証→昇格）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6958584" y="2660904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2E3A8C"/>
          </a:solidFill>
          <a:ln/>
        </p:spPr>
      </p:sp>
      <p:sp>
        <p:nvSpPr>
          <p:cNvPr id="28" name="Text 26"/>
          <p:cNvSpPr/>
          <p:nvPr/>
        </p:nvSpPr>
        <p:spPr>
          <a:xfrm>
            <a:off x="6958584" y="266090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ポリシー（Rego）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878824" y="26609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許可・拒否のルール。テスト付きで版管理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6958584" y="3145536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2E3A8C"/>
          </a:solidFill>
          <a:ln/>
        </p:spPr>
      </p:sp>
      <p:sp>
        <p:nvSpPr>
          <p:cNvPr id="31" name="Text 29"/>
          <p:cNvSpPr/>
          <p:nvPr/>
        </p:nvSpPr>
        <p:spPr>
          <a:xfrm>
            <a:off x="6958584" y="31455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ワークフロー（Flue）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878824" y="31455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修復・分析の統制された実行手順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6958584" y="3630168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2E3A8C"/>
          </a:solidFill>
          <a:ln/>
        </p:spPr>
      </p:sp>
      <p:sp>
        <p:nvSpPr>
          <p:cNvPr id="34" name="Text 32"/>
          <p:cNvSpPr/>
          <p:nvPr/>
        </p:nvSpPr>
        <p:spPr>
          <a:xfrm>
            <a:off x="6958584" y="36301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監査・テレメトリ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878824" y="36301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全実行の証拠が自動で残る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6958584" y="411480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2E3A8C"/>
          </a:solidFill>
          <a:ln/>
        </p:spPr>
      </p:sp>
      <p:sp>
        <p:nvSpPr>
          <p:cNvPr id="37" name="Text 35"/>
          <p:cNvSpPr/>
          <p:nvPr/>
        </p:nvSpPr>
        <p:spPr>
          <a:xfrm>
            <a:off x="6958584" y="41148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委譲メッセージ基盤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878824" y="4114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係間のやり取りを記録に残す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548640" y="477316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3つの窓口（これ以外に両者をつなぐ経路はない）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5120640"/>
            <a:ext cx="3566160" cy="1143000"/>
          </a:xfrm>
          <a:prstGeom prst="roundRect">
            <a:avLst>
              <a:gd name="adj" fmla="val 7200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52120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委譲インターフェース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13232" y="5513832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実行依頼・状況確認・受入は型付きの窓口（delegate / status / accept）経由。自由チャットは受入記録として扱われない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4343400" y="5120640"/>
            <a:ext cx="3566160" cy="1143000"/>
          </a:xfrm>
          <a:prstGeom prst="roundRect">
            <a:avLst>
              <a:gd name="adj" fmla="val 7200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07992" y="52120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Hooks × ガードポリシー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07992" y="5513832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CodeのHooksに基盤のガード（cc_guard）が組み込まれ、ポリシー・監査・秘密設定への直接操作を既定拒否で遮断</a:t>
            </a:r>
            <a:endParaRPr lang="en-US" sz="860" dirty="0"/>
          </a:p>
        </p:txBody>
      </p:sp>
      <p:sp>
        <p:nvSpPr>
          <p:cNvPr id="46" name="Shape 44"/>
          <p:cNvSpPr/>
          <p:nvPr/>
        </p:nvSpPr>
        <p:spPr>
          <a:xfrm>
            <a:off x="8138160" y="5120640"/>
            <a:ext cx="3566160" cy="1143000"/>
          </a:xfrm>
          <a:prstGeom prst="roundRect">
            <a:avLst>
              <a:gd name="adj" fmla="val 7200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02752" y="52120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スキルの昇格審査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302752" y="5513832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エージェントへの指示改善は候補として提出し、検証とオーケストレーター承認を経て初めて反映</a:t>
            </a:r>
            <a:endParaRPr lang="en-US" sz="860" dirty="0"/>
          </a:p>
        </p:txBody>
      </p:sp>
      <p:sp>
        <p:nvSpPr>
          <p:cNvPr id="49" name="Text 47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対話の知恵はClaude Codeに、実行の知恵は基盤に ― 二重管理を避け、越境は必ず審査か遮断を通る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07  FUNCTIONS ― 機能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2つのユースケースを支える6つの機能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個別の詳細はFOUNDATION章で解説。全機能の操作が監査記録とテレメトリに自動で残る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647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86537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819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証拠駆動コード修復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2350008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不具合を仮説として登録し、修正候補の生成・適用・テスト・再スキャンを統制ループで実行。証拠が揃うまで完了しない。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88536" y="160020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71416" y="17647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6537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38344" y="1819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統制データ分析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471416" y="2350008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顧客データへの問いに集計結果だけを返す。SQLは実行前検査、PIIは全構文位置で拒否、結果は匿名化して返却。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28432" y="160020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11312" y="17647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96" y="186537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78240" y="1819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ポリシー許可制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11312" y="2350008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副作用のあるツール実行は事前許可制。判定機構の障害時は自動的に「拒否」へ倒れ、高リスクは人間承認に回る。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904488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16966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98448" y="41239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本番LLMゲートウェイ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31520" y="4654296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外部AIへの唯一の経路。赤入れ・データ分類・承認済みモデル別名・フォールバック・全呼び出しの監査を一元化。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288536" y="3904488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471416" y="4069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16966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38344" y="41239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サンドボックス実行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471416" y="4654296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実行環境をローカル/コンテナ隔離から選択。コンテナ側は環境分離・外部通信遮断・容量上限を強制。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028432" y="3904488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211312" y="4069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896" y="4169664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78240" y="41239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スキル最適化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211312" y="4654296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エージェント指示の改善を候補→検証→昇格審査で管理。自己昇格は不可能で、git履歴により常に巻き戻せる。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6機能は独立の道具ではなく、アプリ開発とデータ分析を支える一体の仕組みとして連結している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08  ARCHITECTURE ― 仕様・アーキテクチャ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5層構造 ― AIは実行層に閉じ、統制層を素通りできない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ワークフロー実行系（Flue）とAIハーネス（Pi）を核に、統制・実行環境・観測をOSSで構成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7132320" cy="768096"/>
          </a:xfrm>
          <a:prstGeom prst="roundRect">
            <a:avLst>
              <a:gd name="adj" fmla="val 10714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836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276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経路層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834640" y="1627632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本番ゲートウェイ / 決定的ルーター / 送信前赤入れ ― 外部AI呼び出しの一本道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523744"/>
            <a:ext cx="7132320" cy="768096"/>
          </a:xfrm>
          <a:prstGeom prst="roundRect">
            <a:avLst>
              <a:gd name="adj" fmla="val 10714"/>
            </a:avLst>
          </a:prstGeom>
          <a:solidFill>
            <a:srgbClr val="FFF6E3"/>
          </a:solidFill>
          <a:ln w="15875">
            <a:solidFill>
              <a:srgbClr val="F0DFA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2679192"/>
            <a:ext cx="457200" cy="457200"/>
          </a:xfrm>
          <a:prstGeom prst="ellipse">
            <a:avLst/>
          </a:prstGeom>
          <a:solidFill>
            <a:srgbClr val="D99A1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77977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523744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実行層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834640" y="2523744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Flueワークフロー + Piエージェント ― AIが持つツールは副作用のない「説明」のみ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3419856"/>
            <a:ext cx="7132320" cy="768096"/>
          </a:xfrm>
          <a:prstGeom prst="roundRect">
            <a:avLst>
              <a:gd name="adj" fmla="val 10714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5753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67588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419856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統制層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834640" y="3419856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許可判定アダプタ（障害時は拒否） / 仮説台帳・閉鎖ゲート / データガード（Python）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315968"/>
            <a:ext cx="7132320" cy="768096"/>
          </a:xfrm>
          <a:prstGeom prst="roundRect">
            <a:avLst>
              <a:gd name="adj" fmla="val 10714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49808" y="4471416"/>
            <a:ext cx="457200" cy="457200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57200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4315968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実行環境層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2834640" y="4315968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SandboxExecutor契約 ― ローカル実行と隔離コンテナ（OpenSandbox）を同一契約で切替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5212080"/>
            <a:ext cx="7132320" cy="768096"/>
          </a:xfrm>
          <a:prstGeom prst="roundRect">
            <a:avLst>
              <a:gd name="adj" fmla="val 10714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49808" y="53675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5468112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71600" y="5212080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観測層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2834640" y="5212080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OpenTelemetryトレース / 監査JSONL ― 全層の動作がここに集約される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8001000" y="162763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技術スタック（すべて実績あるOSS）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8001000" y="2011680"/>
            <a:ext cx="114300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32" name="Text 25"/>
          <p:cNvSpPr/>
          <p:nvPr/>
        </p:nvSpPr>
        <p:spPr>
          <a:xfrm>
            <a:off x="8001000" y="201168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9253728" y="201168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Flue / Pi / TypeScript（strict）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8001000" y="2523744"/>
            <a:ext cx="114300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35" name="Text 28"/>
          <p:cNvSpPr/>
          <p:nvPr/>
        </p:nvSpPr>
        <p:spPr>
          <a:xfrm>
            <a:off x="8001000" y="252374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9253728" y="252374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OPA / Rego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8001000" y="3035808"/>
            <a:ext cx="114300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38" name="Text 31"/>
          <p:cNvSpPr/>
          <p:nvPr/>
        </p:nvSpPr>
        <p:spPr>
          <a:xfrm>
            <a:off x="8001000" y="303580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9253728" y="303580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SQLGlot / DuckDB / Presidio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8001000" y="3547872"/>
            <a:ext cx="114300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41" name="Text 34"/>
          <p:cNvSpPr/>
          <p:nvPr/>
        </p:nvSpPr>
        <p:spPr>
          <a:xfrm>
            <a:off x="8001000" y="354787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経路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9253728" y="354787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LiteLLM Proxy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8001000" y="4059936"/>
            <a:ext cx="114300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44" name="Text 37"/>
          <p:cNvSpPr/>
          <p:nvPr/>
        </p:nvSpPr>
        <p:spPr>
          <a:xfrm>
            <a:off x="8001000" y="4059936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観測</a:t>
            </a:r>
            <a:endParaRPr lang="en-US" sz="950" dirty="0"/>
          </a:p>
        </p:txBody>
      </p:sp>
      <p:sp>
        <p:nvSpPr>
          <p:cNvPr id="45" name="Text 38"/>
          <p:cNvSpPr/>
          <p:nvPr/>
        </p:nvSpPr>
        <p:spPr>
          <a:xfrm>
            <a:off x="9253728" y="405993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OpenTelemetry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8001000" y="4572000"/>
            <a:ext cx="114300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47" name="Text 40"/>
          <p:cNvSpPr/>
          <p:nvPr/>
        </p:nvSpPr>
        <p:spPr>
          <a:xfrm>
            <a:off x="8001000" y="457200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実行環境</a:t>
            </a:r>
            <a:endParaRPr lang="en-US" sz="950" dirty="0"/>
          </a:p>
        </p:txBody>
      </p:sp>
      <p:sp>
        <p:nvSpPr>
          <p:cNvPr id="48" name="Text 41"/>
          <p:cNvSpPr/>
          <p:nvPr/>
        </p:nvSpPr>
        <p:spPr>
          <a:xfrm>
            <a:off x="9253728" y="45720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Docker / OpenSandbox</a:t>
            </a:r>
            <a:endParaRPr lang="en-US" sz="950" dirty="0"/>
          </a:p>
        </p:txBody>
      </p:sp>
      <p:sp>
        <p:nvSpPr>
          <p:cNvPr id="49" name="Shape 42"/>
          <p:cNvSpPr/>
          <p:nvPr/>
        </p:nvSpPr>
        <p:spPr>
          <a:xfrm>
            <a:off x="8001000" y="5230368"/>
            <a:ext cx="3639312" cy="868680"/>
          </a:xfrm>
          <a:prstGeom prst="roundRect">
            <a:avLst>
              <a:gd name="adj" fmla="val 9474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8156448" y="5230368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既定は単一ホスト構成。コンテナ検証・CI実行に対応済み。Kubernetes等への拡張は同一の型付き契約の背後に位置づけ。</a:t>
            </a:r>
            <a:endParaRPr lang="en-US" sz="930" dirty="0"/>
          </a:p>
        </p:txBody>
      </p:sp>
      <p:sp>
        <p:nvSpPr>
          <p:cNvPr id="51" name="Text 44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実行層（AI）から統制層を迂回する呼び出し経路は存在しない ― 層の順序こそが仕様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09  ROADMAP ― 目指す姿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「アプリを作る」から「業務を任せる」へ ― 今回はPoCから始める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利用者に見えるのは「頼める仕事が増えること」だけ ― スキルもハーネスも意識させないことがこの基盤のコンセプト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利用者に見える世界 ― 変わるのは「頼める範囲」だけ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6616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93392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1 ― 今回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97480" y="19933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PoC（実証）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9808" y="24871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エンジニアが、既存アプリへの機能追加を頼める（対象はこれのみに限定）</a:t>
            </a:r>
            <a:endParaRPr lang="en-US" sz="10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2232" y="2487168"/>
            <a:ext cx="237744" cy="23774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407408" y="1828800"/>
            <a:ext cx="3566160" cy="1572768"/>
          </a:xfrm>
          <a:prstGeom prst="roundRect">
            <a:avLst>
              <a:gd name="adj" fmla="val 523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08576" y="1993392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3A8C"/>
          </a:solidFill>
          <a:ln/>
        </p:spPr>
      </p:sp>
      <p:sp>
        <p:nvSpPr>
          <p:cNvPr id="14" name="Text 11"/>
          <p:cNvSpPr/>
          <p:nvPr/>
        </p:nvSpPr>
        <p:spPr>
          <a:xfrm>
            <a:off x="4608576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56248" y="19933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業務展開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608576" y="24871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改修全般とデータ分析へ拡大。業務担当者がClaude Coworkから業務の言葉で頼める</a:t>
            </a:r>
            <a:endParaRPr lang="en-US" sz="10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487168"/>
            <a:ext cx="237744" cy="2377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266176" y="1828800"/>
            <a:ext cx="3566160" cy="1572768"/>
          </a:xfrm>
          <a:prstGeom prst="roundRect">
            <a:avLst>
              <a:gd name="adj" fmla="val 5233"/>
            </a:avLst>
          </a:prstGeom>
          <a:solidFill>
            <a:srgbClr val="EAF5EE"/>
          </a:solidFill>
          <a:ln w="15875">
            <a:solidFill>
              <a:srgbClr val="BFDFC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67344" y="1993392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20" name="Text 16"/>
          <p:cNvSpPr/>
          <p:nvPr/>
        </p:nvSpPr>
        <p:spPr>
          <a:xfrm>
            <a:off x="8467344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3 ― 目指す姿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0415016" y="19933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業務の直接実行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8467344" y="24871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アプリを作らずに、業務をそのまま任せられる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48640" y="3703320"/>
            <a:ext cx="11091672" cy="0"/>
          </a:xfrm>
          <a:prstGeom prst="line">
            <a:avLst/>
          </a:prstGeom>
          <a:noFill/>
          <a:ln w="15875">
            <a:solidFill>
              <a:srgbClr val="2E3A8C"/>
            </a:solidFill>
            <a:prstDash val="dash"/>
          </a:ln>
        </p:spPr>
      </p:sp>
      <p:sp>
        <p:nvSpPr>
          <p:cNvPr id="24" name="Shape 20"/>
          <p:cNvSpPr/>
          <p:nvPr/>
        </p:nvSpPr>
        <p:spPr>
          <a:xfrm>
            <a:off x="3291840" y="3547872"/>
            <a:ext cx="5577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291840" y="354787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ここから下は、利用者には見せない（基盤側＝AI CoEの責務）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548640" y="4123944"/>
            <a:ext cx="384048" cy="384048"/>
          </a:xfrm>
          <a:prstGeom prst="ellipse">
            <a:avLst/>
          </a:prstGeom>
          <a:solidFill>
            <a:srgbClr val="B8C0CE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31" y="4208435"/>
            <a:ext cx="215067" cy="215067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05840" y="3977640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スキルの進化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（業務の知恵）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2331720" y="3977640"/>
            <a:ext cx="2999232" cy="694944"/>
          </a:xfrm>
          <a:prstGeom prst="roundRect">
            <a:avLst>
              <a:gd name="adj" fmla="val 11842"/>
            </a:avLst>
          </a:prstGeom>
          <a:solidFill>
            <a:srgbClr val="F7F8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441448" y="3977640"/>
            <a:ext cx="2779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中核業務で昇格サイクル（候補→検証→昇格）を確立</a:t>
            </a:r>
            <a:endParaRPr lang="en-US" sz="86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4251960"/>
            <a:ext cx="137160" cy="13716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5458968" y="3977640"/>
            <a:ext cx="2999232" cy="694944"/>
          </a:xfrm>
          <a:prstGeom prst="roundRect">
            <a:avLst>
              <a:gd name="adj" fmla="val 11842"/>
            </a:avLst>
          </a:prstGeom>
          <a:solidFill>
            <a:srgbClr val="F7F8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568696" y="3977640"/>
            <a:ext cx="2779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業務別スキルを審査付きで量産し、部門間で再利用</a:t>
            </a:r>
            <a:endParaRPr lang="en-US" sz="86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4251960"/>
            <a:ext cx="137160" cy="13716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8586216" y="3977640"/>
            <a:ext cx="2999232" cy="694944"/>
          </a:xfrm>
          <a:prstGeom prst="roundRect">
            <a:avLst>
              <a:gd name="adj" fmla="val 11842"/>
            </a:avLst>
          </a:prstGeom>
          <a:solidFill>
            <a:srgbClr val="F7F8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8695944" y="3977640"/>
            <a:ext cx="2779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業務カタログ化 ― 依頼の言葉から自動で選ばれる</a:t>
            </a:r>
            <a:endParaRPr lang="en-US" sz="860" dirty="0"/>
          </a:p>
        </p:txBody>
      </p:sp>
      <p:sp>
        <p:nvSpPr>
          <p:cNvPr id="37" name="Shape 30"/>
          <p:cNvSpPr/>
          <p:nvPr/>
        </p:nvSpPr>
        <p:spPr>
          <a:xfrm>
            <a:off x="548640" y="4965192"/>
            <a:ext cx="384048" cy="384048"/>
          </a:xfrm>
          <a:prstGeom prst="ellipse">
            <a:avLst/>
          </a:prstGeom>
          <a:solidFill>
            <a:srgbClr val="B8C0CE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131" y="5049683"/>
            <a:ext cx="215067" cy="215067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005840" y="4818888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ハーネスの進化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（実行機構）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2331720" y="4818888"/>
            <a:ext cx="2999232" cy="694944"/>
          </a:xfrm>
          <a:prstGeom prst="roundRect">
            <a:avLst>
              <a:gd name="adj" fmla="val 11842"/>
            </a:avLst>
          </a:prstGeom>
          <a:solidFill>
            <a:srgbClr val="F7F8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2441448" y="4818888"/>
            <a:ext cx="2779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単一ホスト+固定ループで基礎能力を実証</a:t>
            </a:r>
            <a:endParaRPr lang="en-US" sz="86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0096" y="5093208"/>
            <a:ext cx="137160" cy="137160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5458968" y="4818888"/>
            <a:ext cx="2999232" cy="694944"/>
          </a:xfrm>
          <a:prstGeom prst="roundRect">
            <a:avLst>
              <a:gd name="adj" fmla="val 11842"/>
            </a:avLst>
          </a:prstGeom>
          <a:solidFill>
            <a:srgbClr val="F7F8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5568696" y="4818888"/>
            <a:ext cx="2779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ツール契約・ルーティング・実行環境を拡張（Cowork接続 / コンテナ・K8s / 並列実行）</a:t>
            </a:r>
            <a:endParaRPr lang="en-US" sz="860" dirty="0"/>
          </a:p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5093208"/>
            <a:ext cx="137160" cy="137160"/>
          </a:xfrm>
          <a:prstGeom prst="rect">
            <a:avLst/>
          </a:prstGeom>
        </p:spPr>
      </p:pic>
      <p:sp>
        <p:nvSpPr>
          <p:cNvPr id="46" name="Shape 36"/>
          <p:cNvSpPr/>
          <p:nvPr/>
        </p:nvSpPr>
        <p:spPr>
          <a:xfrm>
            <a:off x="8586216" y="4818888"/>
            <a:ext cx="2999232" cy="694944"/>
          </a:xfrm>
          <a:prstGeom prst="roundRect">
            <a:avLst>
              <a:gd name="adj" fmla="val 11842"/>
            </a:avLst>
          </a:prstGeom>
          <a:solidFill>
            <a:srgbClr val="F7F8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8695944" y="4818888"/>
            <a:ext cx="2779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業務要求を直接受け、計画・分解・実行まで担う</a:t>
            </a:r>
            <a:endParaRPr lang="en-US" sz="860" dirty="0"/>
          </a:p>
        </p:txBody>
      </p:sp>
      <p:sp>
        <p:nvSpPr>
          <p:cNvPr id="48" name="Text 38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成功条件は「利用者が裏側を意識せずに済むこと」 ― 2軸の進化が止まればPhase 3に届かないが、それを利用者に感じさせない</a:t>
            </a:r>
            <a:endParaRPr lang="en-US" sz="1100" dirty="0"/>
          </a:p>
        </p:txBody>
      </p:sp>
      <p:sp>
        <p:nvSpPr>
          <p:cNvPr id="49" name="Text 39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PoCでは効果（速度・品質）・統制（監査・防御）・運用負荷を実測し、Phase 2への移行と両軸の投資配分を判断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023360" cy="4023360"/>
          </a:xfrm>
          <a:prstGeom prst="ellipse">
            <a:avLst/>
          </a:prstGeom>
          <a:solidFill>
            <a:srgbClr val="2E3A8C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基盤に織り込まれた統制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ここから先は、利用者が日常的に意識する必要のない「床」の中身。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監査・セキュリティ・ガバナンスの観点から確認したい場合の参照章。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348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F1 完了の定義（証拠）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443484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44348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F2 修復の統制ループ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443484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44348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F3 許可制（フェイルクローズ）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5001768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00176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F4 データ防御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5001768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500176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F5 外部AIへの経路と分類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5001768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500176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F6 学習とリリースの審査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F1  FOUNDATION ― 完了の定義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「できました」ではなく、証拠が完了を決める ― だから任せられる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AIの作業記録（トランスクリプト）は完了証明として扱わない ― 製品要求に明記された土台の原則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773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458" y="1862450"/>
            <a:ext cx="225308" cy="2253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8288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ゲート1  証拠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4944" y="22677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仮説・修正・検証が台帳に揃う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2788920" y="162763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35224" y="1773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738" y="1862450"/>
            <a:ext cx="225308" cy="2253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18288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ゲート2  許可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935224" y="22677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副作用は事前許可を得ている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5029200" y="162763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175504" y="1773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018" y="1862450"/>
            <a:ext cx="225308" cy="2253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69280" y="18288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ゲート3  検証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175504" y="22677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テスト合格+再スキャンで裏付け</a:t>
            </a:r>
            <a:endParaRPr lang="en-US" sz="930" dirty="0"/>
          </a:p>
        </p:txBody>
      </p:sp>
      <p:sp>
        <p:nvSpPr>
          <p:cNvPr id="20" name="Shape 15"/>
          <p:cNvSpPr/>
          <p:nvPr/>
        </p:nvSpPr>
        <p:spPr>
          <a:xfrm>
            <a:off x="7269480" y="162763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415784" y="1773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4298" y="1862450"/>
            <a:ext cx="225308" cy="2253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909560" y="18288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ゲート4  データ防御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415784" y="22677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SQL・PIIの関門を通過</a:t>
            </a:r>
            <a:endParaRPr lang="en-US" sz="930" dirty="0"/>
          </a:p>
        </p:txBody>
      </p:sp>
      <p:sp>
        <p:nvSpPr>
          <p:cNvPr id="25" name="Shape 19"/>
          <p:cNvSpPr/>
          <p:nvPr/>
        </p:nvSpPr>
        <p:spPr>
          <a:xfrm>
            <a:off x="9509760" y="162763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656064" y="1773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4578" y="1862450"/>
            <a:ext cx="225308" cy="2253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149840" y="18288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ゲート5  監査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9656064" y="22677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全操作が記録に残っている</a:t>
            </a:r>
            <a:endParaRPr lang="en-US" sz="930" dirty="0"/>
          </a:p>
        </p:txBody>
      </p:sp>
      <p:sp>
        <p:nvSpPr>
          <p:cNvPr id="30" name="Text 23"/>
          <p:cNvSpPr/>
          <p:nvPr/>
        </p:nvSpPr>
        <p:spPr>
          <a:xfrm>
            <a:off x="548640" y="3154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5つすべてを通過したときだけ、実行は「完了」として閉じる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48640" y="36576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完了が拒否される5条件（1つでも該当すれば閉じない）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548640" y="4041648"/>
            <a:ext cx="11091672" cy="1965960"/>
          </a:xfrm>
          <a:prstGeom prst="roundRect">
            <a:avLst>
              <a:gd name="adj" fmla="val 4186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22960" y="4261104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ext 27"/>
          <p:cNvSpPr/>
          <p:nvPr/>
        </p:nvSpPr>
        <p:spPr>
          <a:xfrm>
            <a:off x="822960" y="4261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1298448" y="422452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仮説が1件も登録されていない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309360" y="4261104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7" name="Text 30"/>
          <p:cNvSpPr/>
          <p:nvPr/>
        </p:nvSpPr>
        <p:spPr>
          <a:xfrm>
            <a:off x="6309360" y="4261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6784848" y="422452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検証されていない仮説が残っている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822960" y="4828032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0" name="Text 33"/>
          <p:cNvSpPr/>
          <p:nvPr/>
        </p:nvSpPr>
        <p:spPr>
          <a:xfrm>
            <a:off x="822960" y="4828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1298448" y="479145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合格した検証（テスト）が存在しない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6309360" y="4828032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3" name="Text 36"/>
          <p:cNvSpPr/>
          <p:nvPr/>
        </p:nvSpPr>
        <p:spPr>
          <a:xfrm>
            <a:off x="6309360" y="4828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6784848" y="479145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根拠・許可・検証・データの証拠に欠落がある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822960" y="5394960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6" name="Text 39"/>
          <p:cNvSpPr/>
          <p:nvPr/>
        </p:nvSpPr>
        <p:spPr>
          <a:xfrm>
            <a:off x="822960" y="5394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</a:t>
            </a:r>
            <a:endParaRPr lang="en-US" sz="1300" dirty="0"/>
          </a:p>
        </p:txBody>
      </p:sp>
      <p:sp>
        <p:nvSpPr>
          <p:cNvPr id="47" name="Text 40"/>
          <p:cNvSpPr/>
          <p:nvPr/>
        </p:nvSpPr>
        <p:spPr>
          <a:xfrm>
            <a:off x="1298448" y="535838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修正候補数が仮説数に満たない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「証拠不足のまま終わったことにする」経路がそもそも存在しない ― 任せた結果を信じられる根拠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F2  FOUNDATION ― 修復の統制ループ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既存改修（1→10）の内側 ― 10ステップの固定された順序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自由なエージェントループではなく、契約で固定された順序。AIの役割は「候補生成」と「要約」の2箇所だけ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75564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特定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76656" y="21214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不具合箇所を仮説として抽出</a:t>
            </a:r>
            <a:endParaRPr lang="en-US" sz="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4328" y="2171700"/>
            <a:ext cx="182880" cy="182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93492" y="164592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1508" y="175564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記録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921508" y="21214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仮説を台帳へ登録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2171700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38344" y="164592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66360" y="175564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許可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166360" y="21214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副作用の可否を事前判定</a:t>
            </a:r>
            <a:endParaRPr lang="en-US" sz="9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2171700"/>
            <a:ext cx="182880" cy="1828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283196" y="164592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FFF6E3"/>
          </a:solidFill>
          <a:ln w="15875">
            <a:solidFill>
              <a:srgbClr val="F0DFA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411212" y="175564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候補生成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7411212" y="21214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仮説毎に複数の修正案を作成</a:t>
            </a:r>
            <a:endParaRPr lang="en-US" sz="9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884" y="2171700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528048" y="164592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9656064" y="175564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適用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9656064" y="21214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型付きツールが選択案を適用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33756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76656" y="344728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検証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76656" y="38130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テスト（pytest）で合格を確認</a:t>
            </a:r>
            <a:endParaRPr lang="en-US" sz="9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4328" y="3863340"/>
            <a:ext cx="182880" cy="18288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2793492" y="333756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2921508" y="344728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⑦ 再スキャン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2921508" y="38130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修正後の全体を再点検</a:t>
            </a:r>
            <a:endParaRPr lang="en-US" sz="95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9180" y="3863340"/>
            <a:ext cx="182880" cy="18288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5038344" y="333756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5166360" y="344728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⑧ データ防御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166360" y="38130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SQL・PIIの関門を実行</a:t>
            </a:r>
            <a:endParaRPr lang="en-US" sz="95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4032" y="3863340"/>
            <a:ext cx="182880" cy="182880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7283196" y="333756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7411212" y="344728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⑨ 閉鎖判定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7411212" y="38130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閉鎖ゲートが完了可否を裁定</a:t>
            </a:r>
            <a:endParaRPr lang="en-US" sz="95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8884" y="3863340"/>
            <a:ext cx="182880" cy="182880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9528048" y="333756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FFF6E3"/>
          </a:solidFill>
          <a:ln w="15875">
            <a:solidFill>
              <a:srgbClr val="F0DFAE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9656064" y="344728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⑩ 要約</a:t>
            </a:r>
            <a:endParaRPr lang="en-US" sz="1150" dirty="0"/>
          </a:p>
        </p:txBody>
      </p:sp>
      <p:sp>
        <p:nvSpPr>
          <p:cNvPr id="42" name="Text 32"/>
          <p:cNvSpPr/>
          <p:nvPr/>
        </p:nvSpPr>
        <p:spPr>
          <a:xfrm>
            <a:off x="9656064" y="38130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検証済み証拠のみをAIが要約</a:t>
            </a:r>
            <a:endParaRPr lang="en-US" sz="950" dirty="0"/>
          </a:p>
        </p:txBody>
      </p:sp>
      <p:sp>
        <p:nvSpPr>
          <p:cNvPr id="43" name="Shape 33"/>
          <p:cNvSpPr/>
          <p:nvPr/>
        </p:nvSpPr>
        <p:spPr>
          <a:xfrm>
            <a:off x="11292840" y="2880360"/>
            <a:ext cx="0" cy="3200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4" name="Shape 34"/>
          <p:cNvSpPr/>
          <p:nvPr/>
        </p:nvSpPr>
        <p:spPr>
          <a:xfrm>
            <a:off x="548640" y="4892040"/>
            <a:ext cx="694944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548640" y="489204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黄色 = AIが関与する2ステップ（それ以外はすべて決定的なコードと許可判定）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868680" y="5440680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権限の設計: </a:t>
            </a:r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AI（Flue/Pi）が持つツールは副作用のない「説明」だけ。パッチ適用・ファイル操作は、許可判定後に型付きワークフローコードが実行する。高リスク操作は自動実行されず人間の承認に回る。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F3  FOUNDATION ― 許可制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危険な操作は、頼んでも実行されない ― 判定機構が落ちても答えは「拒否」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OPA（Open Policy Agent）が唯一の許可権限。ポリシーはコードとしてテスト・版管理される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10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フェイルクローズの原則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860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ツール実行要求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0592" y="2395728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97480" y="2286000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2E3A8C"/>
          </a:solidFill>
          <a:ln/>
        </p:spPr>
      </p:sp>
      <p:sp>
        <p:nvSpPr>
          <p:cNvPr id="11" name="Text 8"/>
          <p:cNvSpPr/>
          <p:nvPr/>
        </p:nvSpPr>
        <p:spPr>
          <a:xfrm>
            <a:off x="2697480" y="228600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許可判定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023360" y="22128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 → 実行（型付きコードが実施）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023360" y="25054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9A1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拒否 / 高リスク → 人間承認へ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22960" y="2926080"/>
            <a:ext cx="4892040" cy="658368"/>
          </a:xfrm>
          <a:prstGeom prst="roundRect">
            <a:avLst>
              <a:gd name="adj" fmla="val 12500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292608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判定機構自体が停止・失敗した場合も「許可しない・承認必須」に倒れる（fail-closed）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63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ポリシーが保証する6つの禁止・統制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263640" y="2103120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107" y="2183587"/>
            <a:ext cx="204826" cy="20482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72084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ゲストユーザーはパッチを適用できない</a:t>
            </a:r>
            <a:endParaRPr lang="en-US" sz="930" dirty="0"/>
          </a:p>
        </p:txBody>
      </p:sp>
      <p:sp>
        <p:nvSpPr>
          <p:cNvPr id="20" name="Shape 16"/>
          <p:cNvSpPr/>
          <p:nvPr/>
        </p:nvSpPr>
        <p:spPr>
          <a:xfrm>
            <a:off x="9006840" y="2103120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7307" y="2183587"/>
            <a:ext cx="204826" cy="20482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46404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テナントをまたぐ要求は拒否される</a:t>
            </a:r>
            <a:endParaRPr lang="en-US" sz="930" dirty="0"/>
          </a:p>
        </p:txBody>
      </p:sp>
      <p:sp>
        <p:nvSpPr>
          <p:cNvPr id="23" name="Shape 18"/>
          <p:cNvSpPr/>
          <p:nvPr/>
        </p:nvSpPr>
        <p:spPr>
          <a:xfrm>
            <a:off x="6263640" y="2706624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107" y="2787091"/>
            <a:ext cx="204826" cy="20482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20840" y="270662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シェル実行ツールは拒否される</a:t>
            </a:r>
            <a:endParaRPr lang="en-US" sz="930" dirty="0"/>
          </a:p>
        </p:txBody>
      </p:sp>
      <p:sp>
        <p:nvSpPr>
          <p:cNvPr id="26" name="Shape 20"/>
          <p:cNvSpPr/>
          <p:nvPr/>
        </p:nvSpPr>
        <p:spPr>
          <a:xfrm>
            <a:off x="9006840" y="2706624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7307" y="2787091"/>
            <a:ext cx="204826" cy="20482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464040" y="270662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未知のツールは拒否される</a:t>
            </a:r>
            <a:endParaRPr lang="en-US" sz="930" dirty="0"/>
          </a:p>
        </p:txBody>
      </p:sp>
      <p:sp>
        <p:nvSpPr>
          <p:cNvPr id="29" name="Shape 22"/>
          <p:cNvSpPr/>
          <p:nvPr/>
        </p:nvSpPr>
        <p:spPr>
          <a:xfrm>
            <a:off x="6263640" y="3310128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4107" y="3390595"/>
            <a:ext cx="204826" cy="20482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20840" y="33101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生SQLツールは拒否される</a:t>
            </a:r>
            <a:endParaRPr lang="en-US" sz="930" dirty="0"/>
          </a:p>
        </p:txBody>
      </p:sp>
      <p:sp>
        <p:nvSpPr>
          <p:cNvPr id="32" name="Shape 24"/>
          <p:cNvSpPr/>
          <p:nvPr/>
        </p:nvSpPr>
        <p:spPr>
          <a:xfrm>
            <a:off x="9006840" y="3310128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7307" y="3390595"/>
            <a:ext cx="204826" cy="20482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464040" y="33101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高リスク操作は自動実行されず承認に回る</a:t>
            </a:r>
            <a:endParaRPr lang="en-US" sz="930" dirty="0"/>
          </a:p>
        </p:txBody>
      </p:sp>
      <p:sp>
        <p:nvSpPr>
          <p:cNvPr id="35" name="Shape 26"/>
          <p:cNvSpPr/>
          <p:nvPr/>
        </p:nvSpPr>
        <p:spPr>
          <a:xfrm>
            <a:off x="548640" y="4160520"/>
            <a:ext cx="1109167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822960" y="43159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ポリシーもソフトウェアとして管理される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822960" y="470916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ポリシー本体（Rego）にはネイティブテストが付属し、リリースゲートで毎回検証される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許可テナント一覧はデータ文書として管理 ― 一覧が空・欠落なら認可は成立しない（フェイルクローズ）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ポリシー束はバージョン付きバンドルとして構築され、どの版が有効だったかを追跡できる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「担当者の注意」ではなく「機械的な判定」が禁止事項を守る ― ポリシー変更自体も統制ゾーンの管理対象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F4  FOUNDATION ― データ防御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生データとPIIは、構造的に外へ出ない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データ分析ユースケースの裏側 ― SQLは実行前に検査され、PIIは全構文位置で拒否される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949440" cy="1024128"/>
          </a:xfrm>
          <a:prstGeom prst="roundRect">
            <a:avLst>
              <a:gd name="adj" fmla="val 803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0195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894" y="2014606"/>
            <a:ext cx="286756" cy="2867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76479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第1関門  SQLGlot（構文検査）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463040" y="2103120"/>
            <a:ext cx="5897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実行前にSQLを解析。単一のSELECT文だけを許可し、集計関数（COUNT/SUM/AVG等）以外の生カラム参照を拒否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4023360" y="2670048"/>
            <a:ext cx="0" cy="146304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48640" y="2816352"/>
            <a:ext cx="6949440" cy="1024128"/>
          </a:xfrm>
          <a:prstGeom prst="roundRect">
            <a:avLst>
              <a:gd name="adj" fmla="val 803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072384"/>
            <a:ext cx="512064" cy="512064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94" y="3185038"/>
            <a:ext cx="286756" cy="2867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293522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第2関門  DuckDB（実行）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463040" y="3273552"/>
            <a:ext cx="5897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検査を通過した集計クエリのみを実行。許可リストにあるメトリクス表以外は参照できない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4023360" y="3840480"/>
            <a:ext cx="0" cy="146304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48640" y="3986784"/>
            <a:ext cx="6949440" cy="1024128"/>
          </a:xfrm>
          <a:prstGeom prst="roundRect">
            <a:avLst>
              <a:gd name="adj" fmla="val 803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7240" y="424281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94" y="4355470"/>
            <a:ext cx="286756" cy="2867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410565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第3関門  Presidio（匿名化）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463040" y="4443984"/>
            <a:ext cx="5897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結果に含まれるPII（メール・電話・カード・IP等）を検出し匿名化してから返却</a:t>
            </a:r>
            <a:endParaRPr lang="en-US" sz="980" dirty="0"/>
          </a:p>
        </p:txBody>
      </p:sp>
      <p:sp>
        <p:nvSpPr>
          <p:cNvPr id="22" name="Text 17"/>
          <p:cNvSpPr/>
          <p:nvPr/>
        </p:nvSpPr>
        <p:spPr>
          <a:xfrm>
            <a:off x="7818120" y="164592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実行前に拒否されるもの（一例）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7818120" y="2057400"/>
            <a:ext cx="3822192" cy="420624"/>
          </a:xfrm>
          <a:prstGeom prst="roundRect">
            <a:avLst>
              <a:gd name="adj" fmla="val 19565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001000" y="20574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  SELECT *（全列取得）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818120" y="2569464"/>
            <a:ext cx="3822192" cy="420624"/>
          </a:xfrm>
          <a:prstGeom prst="roundRect">
            <a:avLst>
              <a:gd name="adj" fmla="val 19565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001000" y="256946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  複数文・UNION等の結合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7818120" y="3081528"/>
            <a:ext cx="3822192" cy="420624"/>
          </a:xfrm>
          <a:prstGeom prst="roundRect">
            <a:avLst>
              <a:gd name="adj" fmla="val 19565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001000" y="308152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  UPDATE / DELETE / DDL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7818120" y="3593592"/>
            <a:ext cx="3822192" cy="420624"/>
          </a:xfrm>
          <a:prstGeom prst="roundRect">
            <a:avLst>
              <a:gd name="adj" fmla="val 19565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001000" y="35935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  PII列の参照（全構文位置）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7818120" y="4105656"/>
            <a:ext cx="3822192" cy="420624"/>
          </a:xfrm>
          <a:prstGeom prst="roundRect">
            <a:avLst>
              <a:gd name="adj" fmla="val 19565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001000" y="41056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  許可リスト外の表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68680" y="525780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拒否も証拠になる: </a:t>
            </a:r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分析結果には「危険なクエリ類型が拒否されたこと」を示す証明フラグが同梱され、監査時に防御が機能していたことを事後検証できる。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F5  FOUNDATION ― 外部AIへの経路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外部AIへは一本道 ― 何を送ってよいかはデータ分類が決める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アプリが個別にAIを呼ぶ構成を禁止。全呼び出しに赤入れと監査、生の機密は構造的に出られない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9751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7373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プラットフォームゲートウェイ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353312" y="20665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データ分類 / 送信前の赤入れ / 許可判定（fail-closed） / 監査メタ付与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3200400" y="2560320"/>
            <a:ext cx="0" cy="164592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48640" y="2724912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953512"/>
            <a:ext cx="457200" cy="457200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305409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53312" y="28163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LiteLLM Proxy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353312" y="31455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承認済みモデル別名のみ解決 / フォールバック / コスト記録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3200400" y="3639312"/>
            <a:ext cx="0" cy="164592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48640" y="3803904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1520" y="4032504"/>
            <a:ext cx="457200" cy="457200"/>
          </a:xfrm>
          <a:prstGeom prst="ellipse">
            <a:avLst/>
          </a:prstGeom>
          <a:solidFill>
            <a:srgbClr val="D99A1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13308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53312" y="38953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Anthropic 承認モデル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1353312" y="42245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承認済みモデル以外への到達経路が存在しない</a:t>
            </a:r>
            <a:endParaRPr lang="en-US" sz="930" dirty="0"/>
          </a:p>
        </p:txBody>
      </p:sp>
      <p:sp>
        <p:nvSpPr>
          <p:cNvPr id="22" name="Text 17"/>
          <p:cNvSpPr/>
          <p:nvPr/>
        </p:nvSpPr>
        <p:spPr>
          <a:xfrm>
            <a:off x="548640" y="49377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障害時は 一次 → 二次 → 決定的ローカル の順で切替え、使用時は監査に専用マーカーが残る</a:t>
            </a:r>
            <a:endParaRPr lang="en-US" sz="980" dirty="0"/>
          </a:p>
        </p:txBody>
      </p:sp>
      <p:sp>
        <p:nvSpPr>
          <p:cNvPr id="23" name="Text 18"/>
          <p:cNvSpPr/>
          <p:nvPr/>
        </p:nvSpPr>
        <p:spPr>
          <a:xfrm>
            <a:off x="6263640" y="1645920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データ分類 × 外部送信の可否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029968"/>
          <a:ext cx="5376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496312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分類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外部送信（Anthropic）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人間承認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public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可（赤入れ後）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不要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internal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可（赤入れ後）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原則不要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confidential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赤入れ+人間確認の後のみ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必要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restricted（生PII・秘密）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不可 ― 集計・赤入れ済み派生物のみ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審査必須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</a:tr>
            </a:tbl>
          </a:graphicData>
        </a:graphic>
      </p:graphicFrame>
      <p:sp>
        <p:nvSpPr>
          <p:cNvPr id="25" name="Shape 19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68680" y="553212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この経路のAIの権限は「検証済み証拠の要約」まで: </a:t>
            </a:r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ツール実行の権限はこの経路上に存在しない。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F6  FOUNDATION ― 学習と出荷の審査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AIの学習も、リリースも、審査を通ったものだけが残る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指示の改善は昇格審査制、出荷は23ゲート全通過制 ― どちらも「なんとなく反映」の経路がない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スキル（エージェント指示）の昇格フロー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011680" cy="530352"/>
          </a:xfrm>
          <a:prstGeom prst="roundRect">
            <a:avLst>
              <a:gd name="adj" fmla="val 15517"/>
            </a:avLst>
          </a:prstGeom>
          <a:solidFill>
            <a:srgbClr val="B8C0C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候補（candidate）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2148840"/>
            <a:ext cx="2011680" cy="530352"/>
          </a:xfrm>
          <a:prstGeom prst="roundRect">
            <a:avLst>
              <a:gd name="adj" fmla="val 15517"/>
            </a:avLst>
          </a:prstGeom>
          <a:solidFill>
            <a:srgbClr val="2E3A8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2148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検証済（validated）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2148840"/>
            <a:ext cx="2011680" cy="530352"/>
          </a:xfrm>
          <a:prstGeom prst="roundRect">
            <a:avLst>
              <a:gd name="adj" fmla="val 15517"/>
            </a:avLst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148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昇格（promoted）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2414016"/>
            <a:ext cx="10972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395728" y="18836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検証+リリース検証合格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669280" y="2414016"/>
            <a:ext cx="10972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486400" y="18836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承認のみ（自己昇格不可）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235440" y="2011680"/>
            <a:ext cx="2404872" cy="822960"/>
          </a:xfrm>
          <a:prstGeom prst="roundRect">
            <a:avLst>
              <a:gd name="adj" fmla="val 10000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20848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失敗 → 却下・記録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372600" y="23591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同じ失敗案の再提出をブロック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548640" y="2880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改善への入力は赤入れ済みの証拠に限定 ― 生の顧客データが「学習材料」に混入する経路を遮断。巻き戻しはgit履歴で常に可能。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4290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リリース ― 23ゲート全通過だけが唯一の合格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82219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822192"/>
            <a:ext cx="212140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8221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コード品質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" y="4389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整形 / 静的検査 / 型 / テスト一式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2816352" y="382219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16352" y="3822192"/>
            <a:ext cx="212140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2816352" y="38221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ポリシー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44368" y="4389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実機判定 / Regoテスト / 版付き束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084064" y="382219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84064" y="3822192"/>
            <a:ext cx="212140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5084064" y="38221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データ防御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4389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SQL・PII防御 / セキュリティ検査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7351776" y="382219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51776" y="3822192"/>
            <a:ext cx="212140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7351776" y="38221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サプライチェーン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79792" y="4389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脆弱性監査 / SBOM / 取得元検証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9619488" y="382219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19488" y="3822192"/>
            <a:ext cx="212140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9619488" y="38221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実行証拠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747504" y="4389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E2E / 成果物実在 / 仕様追跡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" y="5486400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CIでも同じゲートが再現: </a:t>
            </a:r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23ゲートはローカルとCIの双方で実行され、コンテナ内検証・起動スモーク・サンドボックス隔離テストがCIで追加される。証拠はすべて成果物として保全。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754880"/>
            <a:ext cx="3840480" cy="3840480"/>
          </a:xfrm>
          <a:prstGeom prst="ellipse">
            <a:avLst/>
          </a:prstGeom>
          <a:solidFill>
            <a:srgbClr val="2E3A8C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SUMMARY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開発も、分析も、任せられる。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20440" cy="3520440"/>
          </a:xfrm>
          <a:prstGeom prst="roundRect">
            <a:avLst>
              <a:gd name="adj" fmla="val 2338"/>
            </a:avLst>
          </a:prstGeom>
          <a:solidFill>
            <a:srgbClr val="2E3A8C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5740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241" y="2202241"/>
            <a:ext cx="368686" cy="3686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15798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任せられる仕事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アプリ開発は0→1の立ち上げから1→10の改修まで、データ分析は業務の言葉での問いから。Claude Codeが対話を、エージェントが実行を担う。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783080"/>
            <a:ext cx="3520440" cy="3520440"/>
          </a:xfrm>
          <a:prstGeom prst="roundRect">
            <a:avLst>
              <a:gd name="adj" fmla="val 2338"/>
            </a:avLst>
          </a:prstGeom>
          <a:solidFill>
            <a:srgbClr val="2E3A8C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205740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281" y="2202241"/>
            <a:ext cx="368686" cy="368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15798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信じられる結果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663440" y="301752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完了はAIの申告ではなく証拠が決める。テストと再点検で裏付けられた変更、匿名化済みの集計だけが成果として返る。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1783080"/>
            <a:ext cx="3520440" cy="3520440"/>
          </a:xfrm>
          <a:prstGeom prst="roundRect">
            <a:avLst>
              <a:gd name="adj" fmla="val 2338"/>
            </a:avLst>
          </a:prstGeom>
          <a:solidFill>
            <a:srgbClr val="2E3A8C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12480" y="205740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202241"/>
            <a:ext cx="368686" cy="3686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35440" y="215798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統制は標準装備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412480" y="301752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許可制・データ防御・監査・審査は基盤の床に織り込み済み。利用者が統制を意識しなくても、逸脱の経路がそもそも存在しない。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詳細仕様: リポジトリ docs/（アーキテクチャ・統合境界・脅威モデル・運用手順 等31文書）を参照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2026-07-13T02:54:11Z</dcterms:created>
  <dcterms:modified xsi:type="dcterms:W3CDTF">2026-07-13T02:54:11Z</dcterms:modified>
</cp:coreProperties>
</file>